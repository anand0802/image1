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6" r:id="rId7"/>
    <p:sldId id="267" r:id="rId8"/>
    <p:sldId id="268" r:id="rId9"/>
    <p:sldId id="269"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1"/>
    <p:restoredTop sz="94610"/>
  </p:normalViewPr>
  <p:slideViewPr>
    <p:cSldViewPr snapToGrid="0" snapToObjects="1">
      <p:cViewPr varScale="1">
        <p:scale>
          <a:sx n="160" d="100"/>
          <a:sy n="160" d="100"/>
        </p:scale>
        <p:origin x="176" y="3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3071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15FAB-8EFB-7FA1-6E65-E02AE6802F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F894ED-BE97-455B-12B4-67BFE87B45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FE71B5-5D5A-D77D-BF82-AA4A2396B2F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8610866-FA96-7914-EA28-CE5831EBD37B}"/>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3680577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F1745-9509-D2FD-77E9-C9C8D54EA6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3DC5C0-A9E5-BD07-F048-D132210A91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8D0C4D-629F-97A3-AB1B-AFFF5D360E9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86EC2A-C01B-0EC1-12A5-4F29C7B0E1EE}"/>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7266510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4E89F-28D4-7768-FB9E-45A22B0C67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CBD81-22DB-043F-2905-5750571D14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4A6CEA-B812-DE9F-38FC-5E6B404C727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099DD9B-CBFB-1B7F-B39D-9DC3BB7CFD5B}"/>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9116745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0"/>
          </a:xfrm>
          <a:prstGeom prst="rect">
            <a:avLst/>
          </a:prstGeom>
          <a:solidFill>
            <a:srgbClr val="1B2E4E"/>
          </a:solidFill>
          <a:ln/>
        </p:spPr>
        <p:txBody>
          <a:bodyPr/>
          <a:lstStyle/>
          <a:p>
            <a:endParaRPr lang="en-US"/>
          </a:p>
        </p:txBody>
      </p:sp>
      <p:sp>
        <p:nvSpPr>
          <p:cNvPr id="3" name="Shape 1"/>
          <p:cNvSpPr/>
          <p:nvPr/>
        </p:nvSpPr>
        <p:spPr>
          <a:xfrm>
            <a:off x="0" y="1097280"/>
            <a:ext cx="9144000" cy="73152"/>
          </a:xfrm>
          <a:prstGeom prst="rect">
            <a:avLst/>
          </a:prstGeom>
          <a:solidFill>
            <a:srgbClr val="00796B"/>
          </a:solidFill>
          <a:ln/>
        </p:spPr>
        <p:txBody>
          <a:bodyPr/>
          <a:lstStyle/>
          <a:p>
            <a:endParaRPr lang="en-US"/>
          </a:p>
        </p:txBody>
      </p:sp>
      <p:sp>
        <p:nvSpPr>
          <p:cNvPr id="4" name="Shape 2"/>
          <p:cNvSpPr/>
          <p:nvPr/>
        </p:nvSpPr>
        <p:spPr>
          <a:xfrm>
            <a:off x="0" y="1170432"/>
            <a:ext cx="9144000" cy="36576"/>
          </a:xfrm>
          <a:prstGeom prst="rect">
            <a:avLst/>
          </a:prstGeom>
          <a:solidFill>
            <a:srgbClr val="E65100"/>
          </a:solidFill>
          <a:ln/>
        </p:spPr>
        <p:txBody>
          <a:bodyPr/>
          <a:lstStyle/>
          <a:p>
            <a:endParaRPr lang="en-US"/>
          </a:p>
        </p:txBody>
      </p:sp>
      <p:sp>
        <p:nvSpPr>
          <p:cNvPr id="5" name="Text 3"/>
          <p:cNvSpPr/>
          <p:nvPr/>
        </p:nvSpPr>
        <p:spPr>
          <a:xfrm>
            <a:off x="457200" y="73152"/>
            <a:ext cx="8229600" cy="1005840"/>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From Fourier to Learnable Dynamic Wavelets</a:t>
            </a:r>
            <a:endParaRPr lang="en-US" sz="3000" dirty="0"/>
          </a:p>
        </p:txBody>
      </p:sp>
      <p:sp>
        <p:nvSpPr>
          <p:cNvPr id="6" name="Text 4"/>
          <p:cNvSpPr/>
          <p:nvPr/>
        </p:nvSpPr>
        <p:spPr>
          <a:xfrm>
            <a:off x="457200" y="1325880"/>
            <a:ext cx="8229600" cy="411480"/>
          </a:xfrm>
          <a:prstGeom prst="rect">
            <a:avLst/>
          </a:prstGeom>
          <a:noFill/>
          <a:ln/>
        </p:spPr>
        <p:txBody>
          <a:bodyPr wrap="square" lIns="0" tIns="0" rIns="0" bIns="0" rtlCol="0" anchor="ctr"/>
          <a:lstStyle/>
          <a:p>
            <a:pPr marL="0" indent="0">
              <a:buNone/>
            </a:pPr>
            <a:r>
              <a:rPr lang="en-US" sz="1600" i="1" dirty="0">
                <a:solidFill>
                  <a:srgbClr val="1B2E4E"/>
                </a:solidFill>
                <a:latin typeface="Calibri" pitchFamily="34" charset="0"/>
                <a:ea typeface="Calibri" pitchFamily="34" charset="-122"/>
                <a:cs typeface="Calibri" pitchFamily="34" charset="-120"/>
              </a:rPr>
              <a:t>A Progressive Academic Journey toward PPG-Based Foundation Models</a:t>
            </a:r>
            <a:endParaRPr lang="en-US" sz="1600" dirty="0"/>
          </a:p>
        </p:txBody>
      </p:sp>
      <p:sp>
        <p:nvSpPr>
          <p:cNvPr id="7" name="Shape 5"/>
          <p:cNvSpPr/>
          <p:nvPr/>
        </p:nvSpPr>
        <p:spPr>
          <a:xfrm>
            <a:off x="457200" y="1874520"/>
            <a:ext cx="1280160" cy="502920"/>
          </a:xfrm>
          <a:prstGeom prst="rect">
            <a:avLst/>
          </a:prstGeom>
          <a:solidFill>
            <a:srgbClr val="1B2E4E"/>
          </a:solidFill>
          <a:ln/>
          <a:effectLst>
            <a:outerShdw blurRad="50800" dist="25400" dir="8100000" algn="bl" rotWithShape="0">
              <a:srgbClr val="000000">
                <a:alpha val="8000"/>
              </a:srgbClr>
            </a:outerShdw>
          </a:effectLst>
        </p:spPr>
        <p:txBody>
          <a:bodyPr/>
          <a:lstStyle/>
          <a:p>
            <a:endParaRPr lang="en-US"/>
          </a:p>
        </p:txBody>
      </p:sp>
      <p:sp>
        <p:nvSpPr>
          <p:cNvPr id="8" name="Text 6"/>
          <p:cNvSpPr/>
          <p:nvPr/>
        </p:nvSpPr>
        <p:spPr>
          <a:xfrm>
            <a:off x="457200" y="1874520"/>
            <a:ext cx="1280160" cy="502920"/>
          </a:xfrm>
          <a:prstGeom prst="rect">
            <a:avLst/>
          </a:prstGeom>
          <a:noFill/>
          <a:ln/>
        </p:spPr>
        <p:txBody>
          <a:bodyPr wrap="square" lIns="0" tIns="0" rIns="0" bIns="0" rtlCol="0" anchor="ctr"/>
          <a:lstStyle/>
          <a:p>
            <a:pPr marL="0" indent="0" algn="ctr">
              <a:buNone/>
            </a:pPr>
            <a:r>
              <a:rPr lang="en-US" sz="1300" b="1" dirty="0">
                <a:solidFill>
                  <a:srgbClr val="FFFFFF"/>
                </a:solidFill>
              </a:rPr>
              <a:t>Fourier</a:t>
            </a:r>
            <a:endParaRPr lang="en-US" sz="1300" dirty="0"/>
          </a:p>
        </p:txBody>
      </p:sp>
      <p:sp>
        <p:nvSpPr>
          <p:cNvPr id="9" name="Shape 7"/>
          <p:cNvSpPr/>
          <p:nvPr/>
        </p:nvSpPr>
        <p:spPr>
          <a:xfrm>
            <a:off x="1920240" y="1874520"/>
            <a:ext cx="1280160" cy="502920"/>
          </a:xfrm>
          <a:prstGeom prst="rect">
            <a:avLst/>
          </a:prstGeom>
          <a:solidFill>
            <a:srgbClr val="1565C0"/>
          </a:solidFill>
          <a:ln/>
          <a:effectLst>
            <a:outerShdw blurRad="50800" dist="25400" dir="8100000" algn="bl" rotWithShape="0">
              <a:srgbClr val="000000">
                <a:alpha val="8000"/>
              </a:srgbClr>
            </a:outerShdw>
          </a:effectLst>
        </p:spPr>
        <p:txBody>
          <a:bodyPr/>
          <a:lstStyle/>
          <a:p>
            <a:endParaRPr lang="en-US"/>
          </a:p>
        </p:txBody>
      </p:sp>
      <p:sp>
        <p:nvSpPr>
          <p:cNvPr id="10" name="Text 8"/>
          <p:cNvSpPr/>
          <p:nvPr/>
        </p:nvSpPr>
        <p:spPr>
          <a:xfrm>
            <a:off x="1920240" y="1874520"/>
            <a:ext cx="1280160" cy="502920"/>
          </a:xfrm>
          <a:prstGeom prst="rect">
            <a:avLst/>
          </a:prstGeom>
          <a:noFill/>
          <a:ln/>
        </p:spPr>
        <p:txBody>
          <a:bodyPr wrap="square" lIns="0" tIns="0" rIns="0" bIns="0" rtlCol="0" anchor="ctr"/>
          <a:lstStyle/>
          <a:p>
            <a:pPr marL="0" indent="0" algn="ctr">
              <a:buNone/>
            </a:pPr>
            <a:r>
              <a:rPr lang="en-US" sz="1300" b="1" dirty="0">
                <a:solidFill>
                  <a:srgbClr val="FFFFFF"/>
                </a:solidFill>
              </a:rPr>
              <a:t>STFT</a:t>
            </a:r>
            <a:endParaRPr lang="en-US" sz="1300" dirty="0"/>
          </a:p>
        </p:txBody>
      </p:sp>
      <p:sp>
        <p:nvSpPr>
          <p:cNvPr id="11" name="Shape 9"/>
          <p:cNvSpPr/>
          <p:nvPr/>
        </p:nvSpPr>
        <p:spPr>
          <a:xfrm>
            <a:off x="3383280" y="1874520"/>
            <a:ext cx="1280160" cy="502920"/>
          </a:xfrm>
          <a:prstGeom prst="rect">
            <a:avLst/>
          </a:prstGeom>
          <a:solidFill>
            <a:srgbClr val="00796B"/>
          </a:solidFill>
          <a:ln/>
          <a:effectLst>
            <a:outerShdw blurRad="50800" dist="25400" dir="8100000" algn="bl" rotWithShape="0">
              <a:srgbClr val="000000">
                <a:alpha val="8000"/>
              </a:srgbClr>
            </a:outerShdw>
          </a:effectLst>
        </p:spPr>
        <p:txBody>
          <a:bodyPr/>
          <a:lstStyle/>
          <a:p>
            <a:endParaRPr lang="en-US"/>
          </a:p>
        </p:txBody>
      </p:sp>
      <p:sp>
        <p:nvSpPr>
          <p:cNvPr id="12" name="Text 10"/>
          <p:cNvSpPr/>
          <p:nvPr/>
        </p:nvSpPr>
        <p:spPr>
          <a:xfrm>
            <a:off x="3383280" y="1874520"/>
            <a:ext cx="1280160" cy="502920"/>
          </a:xfrm>
          <a:prstGeom prst="rect">
            <a:avLst/>
          </a:prstGeom>
          <a:noFill/>
          <a:ln/>
        </p:spPr>
        <p:txBody>
          <a:bodyPr wrap="square" lIns="0" tIns="0" rIns="0" bIns="0" rtlCol="0" anchor="ctr"/>
          <a:lstStyle/>
          <a:p>
            <a:pPr marL="0" indent="0" algn="ctr">
              <a:buNone/>
            </a:pPr>
            <a:r>
              <a:rPr lang="en-US" sz="1300" b="1" dirty="0">
                <a:solidFill>
                  <a:srgbClr val="FFFFFF"/>
                </a:solidFill>
              </a:rPr>
              <a:t>Wavelet</a:t>
            </a:r>
            <a:endParaRPr lang="en-US" sz="1300" dirty="0"/>
          </a:p>
        </p:txBody>
      </p:sp>
      <p:sp>
        <p:nvSpPr>
          <p:cNvPr id="13" name="Shape 11"/>
          <p:cNvSpPr/>
          <p:nvPr/>
        </p:nvSpPr>
        <p:spPr>
          <a:xfrm>
            <a:off x="4846320" y="1874520"/>
            <a:ext cx="1280160" cy="502920"/>
          </a:xfrm>
          <a:prstGeom prst="rect">
            <a:avLst/>
          </a:prstGeom>
          <a:solidFill>
            <a:srgbClr val="2E7D32"/>
          </a:solidFill>
          <a:ln/>
          <a:effectLst>
            <a:outerShdw blurRad="50800" dist="25400" dir="8100000" algn="bl" rotWithShape="0">
              <a:srgbClr val="000000">
                <a:alpha val="8000"/>
              </a:srgbClr>
            </a:outerShdw>
          </a:effectLst>
        </p:spPr>
        <p:txBody>
          <a:bodyPr/>
          <a:lstStyle/>
          <a:p>
            <a:endParaRPr lang="en-US"/>
          </a:p>
        </p:txBody>
      </p:sp>
      <p:sp>
        <p:nvSpPr>
          <p:cNvPr id="14" name="Text 12"/>
          <p:cNvSpPr/>
          <p:nvPr/>
        </p:nvSpPr>
        <p:spPr>
          <a:xfrm>
            <a:off x="4846320" y="1874520"/>
            <a:ext cx="1280160" cy="502920"/>
          </a:xfrm>
          <a:prstGeom prst="rect">
            <a:avLst/>
          </a:prstGeom>
          <a:noFill/>
          <a:ln/>
        </p:spPr>
        <p:txBody>
          <a:bodyPr wrap="square" lIns="0" tIns="0" rIns="0" bIns="0" rtlCol="0" anchor="ctr"/>
          <a:lstStyle/>
          <a:p>
            <a:pPr marL="0" indent="0" algn="ctr">
              <a:buNone/>
            </a:pPr>
            <a:r>
              <a:rPr lang="en-US" sz="1300" b="1" dirty="0">
                <a:solidFill>
                  <a:srgbClr val="FFFFFF"/>
                </a:solidFill>
              </a:rPr>
              <a:t>Adaptive</a:t>
            </a:r>
            <a:endParaRPr lang="en-US" sz="1300" dirty="0"/>
          </a:p>
        </p:txBody>
      </p:sp>
      <p:sp>
        <p:nvSpPr>
          <p:cNvPr id="15" name="Shape 13"/>
          <p:cNvSpPr/>
          <p:nvPr/>
        </p:nvSpPr>
        <p:spPr>
          <a:xfrm>
            <a:off x="6309360" y="1874520"/>
            <a:ext cx="1280160" cy="502920"/>
          </a:xfrm>
          <a:prstGeom prst="rect">
            <a:avLst/>
          </a:prstGeom>
          <a:solidFill>
            <a:srgbClr val="E65100"/>
          </a:solidFill>
          <a:ln/>
          <a:effectLst>
            <a:outerShdw blurRad="50800" dist="25400" dir="8100000" algn="bl" rotWithShape="0">
              <a:srgbClr val="000000">
                <a:alpha val="8000"/>
              </a:srgbClr>
            </a:outerShdw>
          </a:effectLst>
        </p:spPr>
        <p:txBody>
          <a:bodyPr/>
          <a:lstStyle/>
          <a:p>
            <a:endParaRPr lang="en-US"/>
          </a:p>
        </p:txBody>
      </p:sp>
      <p:sp>
        <p:nvSpPr>
          <p:cNvPr id="16" name="Text 14"/>
          <p:cNvSpPr/>
          <p:nvPr/>
        </p:nvSpPr>
        <p:spPr>
          <a:xfrm>
            <a:off x="6309360" y="1874520"/>
            <a:ext cx="1280160" cy="502920"/>
          </a:xfrm>
          <a:prstGeom prst="rect">
            <a:avLst/>
          </a:prstGeom>
          <a:noFill/>
          <a:ln/>
        </p:spPr>
        <p:txBody>
          <a:bodyPr wrap="square" lIns="0" tIns="0" rIns="0" bIns="0" rtlCol="0" anchor="ctr"/>
          <a:lstStyle/>
          <a:p>
            <a:pPr marL="0" indent="0" algn="ctr">
              <a:buNone/>
            </a:pPr>
            <a:r>
              <a:rPr lang="en-US" sz="1300" b="1" dirty="0">
                <a:solidFill>
                  <a:srgbClr val="FFFFFF"/>
                </a:solidFill>
              </a:rPr>
              <a:t>Dynamic</a:t>
            </a:r>
            <a:endParaRPr lang="en-US" sz="1300" dirty="0"/>
          </a:p>
        </p:txBody>
      </p:sp>
      <p:sp>
        <p:nvSpPr>
          <p:cNvPr id="17" name="Shape 15"/>
          <p:cNvSpPr/>
          <p:nvPr/>
        </p:nvSpPr>
        <p:spPr>
          <a:xfrm>
            <a:off x="7772400" y="1874520"/>
            <a:ext cx="1280160" cy="502920"/>
          </a:xfrm>
          <a:prstGeom prst="rect">
            <a:avLst/>
          </a:prstGeom>
          <a:solidFill>
            <a:srgbClr val="C62828"/>
          </a:solidFill>
          <a:ln/>
          <a:effectLst>
            <a:outerShdw blurRad="50800" dist="25400" dir="8100000" algn="bl" rotWithShape="0">
              <a:srgbClr val="000000">
                <a:alpha val="8000"/>
              </a:srgbClr>
            </a:outerShdw>
          </a:effectLst>
        </p:spPr>
        <p:txBody>
          <a:bodyPr/>
          <a:lstStyle/>
          <a:p>
            <a:endParaRPr lang="en-US"/>
          </a:p>
        </p:txBody>
      </p:sp>
      <p:sp>
        <p:nvSpPr>
          <p:cNvPr id="18" name="Text 16"/>
          <p:cNvSpPr/>
          <p:nvPr/>
        </p:nvSpPr>
        <p:spPr>
          <a:xfrm>
            <a:off x="7772400" y="1874520"/>
            <a:ext cx="1280160" cy="502920"/>
          </a:xfrm>
          <a:prstGeom prst="rect">
            <a:avLst/>
          </a:prstGeom>
          <a:noFill/>
          <a:ln/>
        </p:spPr>
        <p:txBody>
          <a:bodyPr wrap="square" lIns="0" tIns="0" rIns="0" bIns="0" rtlCol="0" anchor="ctr"/>
          <a:lstStyle/>
          <a:p>
            <a:pPr marL="0" indent="0" algn="ctr">
              <a:buNone/>
            </a:pPr>
            <a:r>
              <a:rPr lang="en-US" sz="1300" b="1" dirty="0">
                <a:solidFill>
                  <a:srgbClr val="FFFFFF"/>
                </a:solidFill>
              </a:rPr>
              <a:t>Learnable</a:t>
            </a:r>
            <a:endParaRPr lang="en-US" sz="1300" dirty="0"/>
          </a:p>
        </p:txBody>
      </p:sp>
      <p:sp>
        <p:nvSpPr>
          <p:cNvPr id="19" name="Shape 17"/>
          <p:cNvSpPr/>
          <p:nvPr/>
        </p:nvSpPr>
        <p:spPr>
          <a:xfrm>
            <a:off x="1755648" y="2121408"/>
            <a:ext cx="146304" cy="0"/>
          </a:xfrm>
          <a:prstGeom prst="line">
            <a:avLst/>
          </a:prstGeom>
          <a:noFill/>
          <a:ln w="19050">
            <a:solidFill>
              <a:srgbClr val="90A4AE"/>
            </a:solidFill>
            <a:prstDash val="solid"/>
          </a:ln>
        </p:spPr>
        <p:txBody>
          <a:bodyPr/>
          <a:lstStyle/>
          <a:p>
            <a:endParaRPr lang="en-US"/>
          </a:p>
        </p:txBody>
      </p:sp>
      <p:sp>
        <p:nvSpPr>
          <p:cNvPr id="20" name="Shape 18"/>
          <p:cNvSpPr/>
          <p:nvPr/>
        </p:nvSpPr>
        <p:spPr>
          <a:xfrm>
            <a:off x="3218688" y="2121408"/>
            <a:ext cx="146304" cy="0"/>
          </a:xfrm>
          <a:prstGeom prst="line">
            <a:avLst/>
          </a:prstGeom>
          <a:noFill/>
          <a:ln w="19050">
            <a:solidFill>
              <a:srgbClr val="90A4AE"/>
            </a:solidFill>
            <a:prstDash val="solid"/>
          </a:ln>
        </p:spPr>
        <p:txBody>
          <a:bodyPr/>
          <a:lstStyle/>
          <a:p>
            <a:endParaRPr lang="en-US"/>
          </a:p>
        </p:txBody>
      </p:sp>
      <p:sp>
        <p:nvSpPr>
          <p:cNvPr id="21" name="Shape 19"/>
          <p:cNvSpPr/>
          <p:nvPr/>
        </p:nvSpPr>
        <p:spPr>
          <a:xfrm>
            <a:off x="4681728" y="2121408"/>
            <a:ext cx="146304" cy="0"/>
          </a:xfrm>
          <a:prstGeom prst="line">
            <a:avLst/>
          </a:prstGeom>
          <a:noFill/>
          <a:ln w="19050">
            <a:solidFill>
              <a:srgbClr val="90A4AE"/>
            </a:solidFill>
            <a:prstDash val="solid"/>
          </a:ln>
        </p:spPr>
        <p:txBody>
          <a:bodyPr/>
          <a:lstStyle/>
          <a:p>
            <a:endParaRPr lang="en-US"/>
          </a:p>
        </p:txBody>
      </p:sp>
      <p:sp>
        <p:nvSpPr>
          <p:cNvPr id="22" name="Shape 20"/>
          <p:cNvSpPr/>
          <p:nvPr/>
        </p:nvSpPr>
        <p:spPr>
          <a:xfrm>
            <a:off x="6144768" y="2121408"/>
            <a:ext cx="146304" cy="0"/>
          </a:xfrm>
          <a:prstGeom prst="line">
            <a:avLst/>
          </a:prstGeom>
          <a:noFill/>
          <a:ln w="19050">
            <a:solidFill>
              <a:srgbClr val="90A4AE"/>
            </a:solidFill>
            <a:prstDash val="solid"/>
          </a:ln>
        </p:spPr>
        <p:txBody>
          <a:bodyPr/>
          <a:lstStyle/>
          <a:p>
            <a:endParaRPr lang="en-US"/>
          </a:p>
        </p:txBody>
      </p:sp>
      <p:sp>
        <p:nvSpPr>
          <p:cNvPr id="23" name="Shape 21"/>
          <p:cNvSpPr/>
          <p:nvPr/>
        </p:nvSpPr>
        <p:spPr>
          <a:xfrm>
            <a:off x="7607808" y="2121408"/>
            <a:ext cx="146304" cy="0"/>
          </a:xfrm>
          <a:prstGeom prst="line">
            <a:avLst/>
          </a:prstGeom>
          <a:noFill/>
          <a:ln w="19050">
            <a:solidFill>
              <a:srgbClr val="90A4AE"/>
            </a:solidFill>
            <a:prstDash val="solid"/>
          </a:ln>
        </p:spPr>
        <p:txBody>
          <a:bodyPr/>
          <a:lstStyle/>
          <a:p>
            <a:endParaRPr lang="en-US"/>
          </a:p>
        </p:txBody>
      </p:sp>
      <p:sp>
        <p:nvSpPr>
          <p:cNvPr id="24" name="Text 22"/>
          <p:cNvSpPr/>
          <p:nvPr/>
        </p:nvSpPr>
        <p:spPr>
          <a:xfrm>
            <a:off x="457200" y="2487168"/>
            <a:ext cx="8229600" cy="256032"/>
          </a:xfrm>
          <a:prstGeom prst="rect">
            <a:avLst/>
          </a:prstGeom>
          <a:noFill/>
          <a:ln/>
        </p:spPr>
        <p:txBody>
          <a:bodyPr wrap="square" lIns="0" tIns="0" rIns="0" bIns="0" rtlCol="0" anchor="ctr"/>
          <a:lstStyle/>
          <a:p>
            <a:pPr marL="0" indent="0" algn="ctr">
              <a:buNone/>
            </a:pPr>
            <a:r>
              <a:rPr lang="en-US" sz="1300" b="1" dirty="0">
                <a:solidFill>
                  <a:srgbClr val="00796B"/>
                </a:solidFill>
              </a:rPr>
              <a:t>↓  PPG Foundation Model Application</a:t>
            </a:r>
            <a:endParaRPr lang="en-US" sz="1300" dirty="0"/>
          </a:p>
        </p:txBody>
      </p:sp>
      <p:sp>
        <p:nvSpPr>
          <p:cNvPr id="25" name="Text 23"/>
          <p:cNvSpPr/>
          <p:nvPr/>
        </p:nvSpPr>
        <p:spPr>
          <a:xfrm>
            <a:off x="457200" y="2816352"/>
            <a:ext cx="8229600" cy="411480"/>
          </a:xfrm>
          <a:prstGeom prst="rect">
            <a:avLst/>
          </a:prstGeom>
          <a:noFill/>
          <a:ln/>
        </p:spPr>
        <p:txBody>
          <a:bodyPr wrap="square" lIns="0" tIns="0" rIns="0" bIns="0" rtlCol="0" anchor="t"/>
          <a:lstStyle/>
          <a:p>
            <a:pPr marL="0" indent="0">
              <a:buNone/>
            </a:pPr>
            <a:r>
              <a:rPr lang="en-US" sz="1100" b="1" dirty="0">
                <a:solidFill>
                  <a:srgbClr val="1B2E4E"/>
                </a:solidFill>
              </a:rPr>
              <a:t>Target:  </a:t>
            </a:r>
            <a:r>
              <a:rPr lang="en-US" sz="1100" dirty="0">
                <a:solidFill>
                  <a:srgbClr val="546E7A"/>
                </a:solidFill>
              </a:rPr>
              <a:t>Learn WHY and HOW each transform evolved — and why Learnable Dynamic Wavelets are optimal for PPG-based Foundation Models.</a:t>
            </a:r>
            <a:endParaRPr lang="en-US" sz="1100" dirty="0"/>
          </a:p>
        </p:txBody>
      </p:sp>
      <p:sp>
        <p:nvSpPr>
          <p:cNvPr id="26" name="Text 24"/>
          <p:cNvSpPr/>
          <p:nvPr/>
        </p:nvSpPr>
        <p:spPr>
          <a:xfrm>
            <a:off x="0" y="4846320"/>
            <a:ext cx="9144000" cy="274320"/>
          </a:xfrm>
          <a:prstGeom prst="rect">
            <a:avLst/>
          </a:prstGeom>
          <a:noFill/>
          <a:ln/>
        </p:spPr>
        <p:txBody>
          <a:bodyPr wrap="square" rtlCol="0" anchor="ctr"/>
          <a:lstStyle/>
          <a:p>
            <a:pPr marL="0" indent="0" algn="ctr">
              <a:buNone/>
            </a:pPr>
            <a:r>
              <a:rPr lang="en-US" sz="900" i="1" dirty="0">
                <a:solidFill>
                  <a:srgbClr val="90A4AE"/>
                </a:solidFill>
              </a:rPr>
              <a:t>Academic Reference Deck  •  Signal Processing &amp; Deep Learning</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1B2E4E"/>
          </a:solidFill>
          <a:ln/>
        </p:spPr>
        <p:txBody>
          <a:bodyPr/>
          <a:lstStyle/>
          <a:p>
            <a:endParaRPr lang="en-US"/>
          </a:p>
        </p:txBody>
      </p:sp>
      <p:sp>
        <p:nvSpPr>
          <p:cNvPr id="3" name="Text 1"/>
          <p:cNvSpPr/>
          <p:nvPr/>
        </p:nvSpPr>
        <p:spPr>
          <a:xfrm>
            <a:off x="365760" y="109728"/>
            <a:ext cx="8412480" cy="640080"/>
          </a:xfrm>
          <a:prstGeom prst="rect">
            <a:avLst/>
          </a:prstGeom>
          <a:noFill/>
          <a:ln/>
        </p:spPr>
        <p:txBody>
          <a:bodyPr wrap="square" lIns="0" tIns="0" rIns="0" bIns="0" rtlCol="0" anchor="ctr"/>
          <a:lstStyle/>
          <a:p>
            <a:pPr marL="0" indent="0">
              <a:buNone/>
            </a:pPr>
            <a:r>
              <a:rPr lang="en-US" sz="2600" b="1" dirty="0">
                <a:solidFill>
                  <a:srgbClr val="1B2E4E"/>
                </a:solidFill>
                <a:latin typeface="Calibri" pitchFamily="34" charset="0"/>
                <a:ea typeface="Calibri" pitchFamily="34" charset="-122"/>
                <a:cs typeface="Calibri" pitchFamily="34" charset="-120"/>
              </a:rPr>
              <a:t>Roadmap: Evolution of Signal Analysis</a:t>
            </a:r>
            <a:endParaRPr lang="en-US" sz="2600" dirty="0"/>
          </a:p>
        </p:txBody>
      </p:sp>
      <p:sp>
        <p:nvSpPr>
          <p:cNvPr id="4" name="Text 2"/>
          <p:cNvSpPr/>
          <p:nvPr/>
        </p:nvSpPr>
        <p:spPr>
          <a:xfrm>
            <a:off x="365760" y="731520"/>
            <a:ext cx="8412480" cy="274320"/>
          </a:xfrm>
          <a:prstGeom prst="rect">
            <a:avLst/>
          </a:prstGeom>
          <a:noFill/>
          <a:ln/>
        </p:spPr>
        <p:txBody>
          <a:bodyPr wrap="square" lIns="0" tIns="0" rIns="0" bIns="0" rtlCol="0" anchor="ctr"/>
          <a:lstStyle/>
          <a:p>
            <a:pPr marL="0" indent="0">
              <a:buNone/>
            </a:pPr>
            <a:r>
              <a:rPr lang="en-US" sz="1300" i="1" dirty="0">
                <a:solidFill>
                  <a:srgbClr val="546E7A"/>
                </a:solidFill>
                <a:latin typeface="Calibri" pitchFamily="34" charset="0"/>
                <a:ea typeface="Calibri" pitchFamily="34" charset="-122"/>
                <a:cs typeface="Calibri" pitchFamily="34" charset="-120"/>
              </a:rPr>
              <a:t>From global frequency to task-adaptive, learnable representations</a:t>
            </a:r>
            <a:endParaRPr lang="en-US" sz="1300" dirty="0"/>
          </a:p>
        </p:txBody>
      </p:sp>
      <p:sp>
        <p:nvSpPr>
          <p:cNvPr id="5" name="Shape 3"/>
          <p:cNvSpPr/>
          <p:nvPr/>
        </p:nvSpPr>
        <p:spPr>
          <a:xfrm>
            <a:off x="365760" y="1005840"/>
            <a:ext cx="8412480" cy="22860"/>
          </a:xfrm>
          <a:prstGeom prst="rect">
            <a:avLst/>
          </a:prstGeom>
          <a:solidFill>
            <a:srgbClr val="1565C0"/>
          </a:solidFill>
          <a:ln/>
        </p:spPr>
        <p:txBody>
          <a:bodyPr/>
          <a:lstStyle/>
          <a:p>
            <a:endParaRPr lang="en-US"/>
          </a:p>
        </p:txBody>
      </p:sp>
      <p:sp>
        <p:nvSpPr>
          <p:cNvPr id="6" name="Shape 4"/>
          <p:cNvSpPr/>
          <p:nvPr/>
        </p:nvSpPr>
        <p:spPr>
          <a:xfrm>
            <a:off x="320040" y="1234440"/>
            <a:ext cx="2606040" cy="1463040"/>
          </a:xfrm>
          <a:prstGeom prst="rect">
            <a:avLst/>
          </a:prstGeom>
          <a:solidFill>
            <a:srgbClr val="EEF2F7"/>
          </a:solidFill>
          <a:ln w="12700">
            <a:solidFill>
              <a:srgbClr val="EEF2F7"/>
            </a:solidFill>
            <a:prstDash val="solid"/>
          </a:ln>
          <a:effectLst>
            <a:outerShdw blurRad="50800" dist="25400" dir="8100000" algn="bl" rotWithShape="0">
              <a:srgbClr val="000000">
                <a:alpha val="8000"/>
              </a:srgbClr>
            </a:outerShdw>
          </a:effectLst>
        </p:spPr>
        <p:txBody>
          <a:bodyPr/>
          <a:lstStyle/>
          <a:p>
            <a:endParaRPr lang="en-US"/>
          </a:p>
        </p:txBody>
      </p:sp>
      <p:sp>
        <p:nvSpPr>
          <p:cNvPr id="7" name="Shape 5"/>
          <p:cNvSpPr/>
          <p:nvPr/>
        </p:nvSpPr>
        <p:spPr>
          <a:xfrm>
            <a:off x="320040" y="1234440"/>
            <a:ext cx="164592" cy="1463040"/>
          </a:xfrm>
          <a:prstGeom prst="rect">
            <a:avLst/>
          </a:prstGeom>
          <a:solidFill>
            <a:srgbClr val="1B2E4E"/>
          </a:solidFill>
          <a:ln/>
        </p:spPr>
        <p:txBody>
          <a:bodyPr/>
          <a:lstStyle/>
          <a:p>
            <a:endParaRPr lang="en-US"/>
          </a:p>
        </p:txBody>
      </p:sp>
      <p:sp>
        <p:nvSpPr>
          <p:cNvPr id="8" name="Shape 6"/>
          <p:cNvSpPr/>
          <p:nvPr/>
        </p:nvSpPr>
        <p:spPr>
          <a:xfrm>
            <a:off x="576072" y="1371600"/>
            <a:ext cx="402336" cy="402336"/>
          </a:xfrm>
          <a:prstGeom prst="ellipse">
            <a:avLst/>
          </a:prstGeom>
          <a:solidFill>
            <a:srgbClr val="1B2E4E"/>
          </a:solidFill>
          <a:ln/>
        </p:spPr>
        <p:txBody>
          <a:bodyPr/>
          <a:lstStyle/>
          <a:p>
            <a:endParaRPr lang="en-US"/>
          </a:p>
        </p:txBody>
      </p:sp>
      <p:sp>
        <p:nvSpPr>
          <p:cNvPr id="9" name="Text 7"/>
          <p:cNvSpPr/>
          <p:nvPr/>
        </p:nvSpPr>
        <p:spPr>
          <a:xfrm>
            <a:off x="576072" y="1371600"/>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rPr>
              <a:t>1</a:t>
            </a:r>
            <a:endParaRPr lang="en-US" sz="1600" dirty="0"/>
          </a:p>
        </p:txBody>
      </p:sp>
      <p:sp>
        <p:nvSpPr>
          <p:cNvPr id="10" name="Text 8"/>
          <p:cNvSpPr/>
          <p:nvPr/>
        </p:nvSpPr>
        <p:spPr>
          <a:xfrm>
            <a:off x="1069848" y="1325880"/>
            <a:ext cx="1783080" cy="411480"/>
          </a:xfrm>
          <a:prstGeom prst="rect">
            <a:avLst/>
          </a:prstGeom>
          <a:noFill/>
          <a:ln/>
        </p:spPr>
        <p:txBody>
          <a:bodyPr wrap="square" lIns="0" tIns="0" rIns="0" bIns="0" rtlCol="0" anchor="ctr"/>
          <a:lstStyle/>
          <a:p>
            <a:pPr marL="0" indent="0">
              <a:buNone/>
            </a:pPr>
            <a:r>
              <a:rPr lang="en-US" sz="1300" b="1" dirty="0">
                <a:solidFill>
                  <a:srgbClr val="1B2E4E"/>
                </a:solidFill>
              </a:rPr>
              <a:t>Fourier Transform</a:t>
            </a:r>
            <a:endParaRPr lang="en-US" sz="1300" dirty="0"/>
          </a:p>
        </p:txBody>
      </p:sp>
      <p:sp>
        <p:nvSpPr>
          <p:cNvPr id="11" name="Text 9"/>
          <p:cNvSpPr/>
          <p:nvPr/>
        </p:nvSpPr>
        <p:spPr>
          <a:xfrm>
            <a:off x="1069848" y="1737360"/>
            <a:ext cx="1783080" cy="548640"/>
          </a:xfrm>
          <a:prstGeom prst="rect">
            <a:avLst/>
          </a:prstGeom>
          <a:noFill/>
          <a:ln/>
        </p:spPr>
        <p:txBody>
          <a:bodyPr wrap="square" lIns="0" tIns="0" rIns="0" bIns="0" rtlCol="0" anchor="t"/>
          <a:lstStyle/>
          <a:p>
            <a:pPr marL="0" indent="0">
              <a:buNone/>
            </a:pPr>
            <a:r>
              <a:rPr lang="en-US" sz="1000" dirty="0">
                <a:solidFill>
                  <a:srgbClr val="546E7A"/>
                </a:solidFill>
              </a:rPr>
              <a:t>Global frequency — stationary signals</a:t>
            </a:r>
            <a:endParaRPr lang="en-US" sz="1000" dirty="0"/>
          </a:p>
        </p:txBody>
      </p:sp>
      <p:sp>
        <p:nvSpPr>
          <p:cNvPr id="12" name="Shape 10"/>
          <p:cNvSpPr/>
          <p:nvPr/>
        </p:nvSpPr>
        <p:spPr>
          <a:xfrm>
            <a:off x="1069848" y="2240280"/>
            <a:ext cx="1737360" cy="0"/>
          </a:xfrm>
          <a:prstGeom prst="line">
            <a:avLst/>
          </a:prstGeom>
          <a:noFill/>
          <a:ln w="12700">
            <a:solidFill>
              <a:srgbClr val="1B2E4E"/>
            </a:solidFill>
            <a:prstDash val="solid"/>
          </a:ln>
        </p:spPr>
        <p:txBody>
          <a:bodyPr/>
          <a:lstStyle/>
          <a:p>
            <a:endParaRPr lang="en-US"/>
          </a:p>
        </p:txBody>
      </p:sp>
      <p:sp>
        <p:nvSpPr>
          <p:cNvPr id="13" name="Text 11"/>
          <p:cNvSpPr/>
          <p:nvPr/>
        </p:nvSpPr>
        <p:spPr>
          <a:xfrm>
            <a:off x="1069848" y="2313432"/>
            <a:ext cx="1737360" cy="274320"/>
          </a:xfrm>
          <a:prstGeom prst="rect">
            <a:avLst/>
          </a:prstGeom>
          <a:noFill/>
          <a:ln/>
        </p:spPr>
        <p:txBody>
          <a:bodyPr wrap="square" lIns="0" tIns="0" rIns="0" bIns="0" rtlCol="0" anchor="ctr"/>
          <a:lstStyle/>
          <a:p>
            <a:pPr marL="0" indent="0">
              <a:buNone/>
            </a:pPr>
            <a:r>
              <a:rPr lang="en-US" sz="800" b="1" dirty="0">
                <a:solidFill>
                  <a:srgbClr val="1B2E4E"/>
                </a:solidFill>
              </a:rPr>
              <a:t>→ PPG Foundation</a:t>
            </a:r>
            <a:endParaRPr lang="en-US" sz="800" dirty="0"/>
          </a:p>
        </p:txBody>
      </p:sp>
      <p:sp>
        <p:nvSpPr>
          <p:cNvPr id="14" name="Shape 12"/>
          <p:cNvSpPr/>
          <p:nvPr/>
        </p:nvSpPr>
        <p:spPr>
          <a:xfrm>
            <a:off x="3200400" y="1234440"/>
            <a:ext cx="2606040" cy="1463040"/>
          </a:xfrm>
          <a:prstGeom prst="rect">
            <a:avLst/>
          </a:prstGeom>
          <a:solidFill>
            <a:srgbClr val="EEF2F7"/>
          </a:solidFill>
          <a:ln w="12700">
            <a:solidFill>
              <a:srgbClr val="EEF2F7"/>
            </a:solidFill>
            <a:prstDash val="solid"/>
          </a:ln>
          <a:effectLst>
            <a:outerShdw blurRad="50800" dist="25400" dir="8100000" algn="bl" rotWithShape="0">
              <a:srgbClr val="000000">
                <a:alpha val="8000"/>
              </a:srgbClr>
            </a:outerShdw>
          </a:effectLst>
        </p:spPr>
        <p:txBody>
          <a:bodyPr/>
          <a:lstStyle/>
          <a:p>
            <a:endParaRPr lang="en-US"/>
          </a:p>
        </p:txBody>
      </p:sp>
      <p:sp>
        <p:nvSpPr>
          <p:cNvPr id="15" name="Shape 13"/>
          <p:cNvSpPr/>
          <p:nvPr/>
        </p:nvSpPr>
        <p:spPr>
          <a:xfrm>
            <a:off x="3200400" y="1234440"/>
            <a:ext cx="164592" cy="1463040"/>
          </a:xfrm>
          <a:prstGeom prst="rect">
            <a:avLst/>
          </a:prstGeom>
          <a:solidFill>
            <a:srgbClr val="1565C0"/>
          </a:solidFill>
          <a:ln/>
        </p:spPr>
        <p:txBody>
          <a:bodyPr/>
          <a:lstStyle/>
          <a:p>
            <a:endParaRPr lang="en-US"/>
          </a:p>
        </p:txBody>
      </p:sp>
      <p:sp>
        <p:nvSpPr>
          <p:cNvPr id="16" name="Shape 14"/>
          <p:cNvSpPr/>
          <p:nvPr/>
        </p:nvSpPr>
        <p:spPr>
          <a:xfrm>
            <a:off x="3456432" y="1371600"/>
            <a:ext cx="402336" cy="402336"/>
          </a:xfrm>
          <a:prstGeom prst="ellipse">
            <a:avLst/>
          </a:prstGeom>
          <a:solidFill>
            <a:srgbClr val="1565C0"/>
          </a:solidFill>
          <a:ln/>
        </p:spPr>
        <p:txBody>
          <a:bodyPr/>
          <a:lstStyle/>
          <a:p>
            <a:endParaRPr lang="en-US"/>
          </a:p>
        </p:txBody>
      </p:sp>
      <p:sp>
        <p:nvSpPr>
          <p:cNvPr id="17" name="Text 15"/>
          <p:cNvSpPr/>
          <p:nvPr/>
        </p:nvSpPr>
        <p:spPr>
          <a:xfrm>
            <a:off x="3456432" y="1371600"/>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rPr>
              <a:t>2</a:t>
            </a:r>
            <a:endParaRPr lang="en-US" sz="1600" dirty="0"/>
          </a:p>
        </p:txBody>
      </p:sp>
      <p:sp>
        <p:nvSpPr>
          <p:cNvPr id="18" name="Text 16"/>
          <p:cNvSpPr/>
          <p:nvPr/>
        </p:nvSpPr>
        <p:spPr>
          <a:xfrm>
            <a:off x="3950208" y="1325880"/>
            <a:ext cx="1783080" cy="411480"/>
          </a:xfrm>
          <a:prstGeom prst="rect">
            <a:avLst/>
          </a:prstGeom>
          <a:noFill/>
          <a:ln/>
        </p:spPr>
        <p:txBody>
          <a:bodyPr wrap="square" lIns="0" tIns="0" rIns="0" bIns="0" rtlCol="0" anchor="ctr"/>
          <a:lstStyle/>
          <a:p>
            <a:pPr marL="0" indent="0">
              <a:buNone/>
            </a:pPr>
            <a:r>
              <a:rPr lang="en-US" sz="1300" b="1" dirty="0">
                <a:solidFill>
                  <a:srgbClr val="1B2E4E"/>
                </a:solidFill>
              </a:rPr>
              <a:t>STFT</a:t>
            </a:r>
            <a:endParaRPr lang="en-US" sz="1300" dirty="0"/>
          </a:p>
        </p:txBody>
      </p:sp>
      <p:sp>
        <p:nvSpPr>
          <p:cNvPr id="19" name="Text 17"/>
          <p:cNvSpPr/>
          <p:nvPr/>
        </p:nvSpPr>
        <p:spPr>
          <a:xfrm>
            <a:off x="3950208" y="1737360"/>
            <a:ext cx="1783080" cy="548640"/>
          </a:xfrm>
          <a:prstGeom prst="rect">
            <a:avLst/>
          </a:prstGeom>
          <a:noFill/>
          <a:ln/>
        </p:spPr>
        <p:txBody>
          <a:bodyPr wrap="square" lIns="0" tIns="0" rIns="0" bIns="0" rtlCol="0" anchor="t"/>
          <a:lstStyle/>
          <a:p>
            <a:pPr marL="0" indent="0">
              <a:buNone/>
            </a:pPr>
            <a:r>
              <a:rPr lang="en-US" sz="1000" dirty="0">
                <a:solidFill>
                  <a:srgbClr val="546E7A"/>
                </a:solidFill>
              </a:rPr>
              <a:t>Time-frequency — fixed window resolution</a:t>
            </a:r>
            <a:endParaRPr lang="en-US" sz="1000" dirty="0"/>
          </a:p>
        </p:txBody>
      </p:sp>
      <p:sp>
        <p:nvSpPr>
          <p:cNvPr id="20" name="Shape 18"/>
          <p:cNvSpPr/>
          <p:nvPr/>
        </p:nvSpPr>
        <p:spPr>
          <a:xfrm>
            <a:off x="3950208" y="2240280"/>
            <a:ext cx="1737360" cy="0"/>
          </a:xfrm>
          <a:prstGeom prst="line">
            <a:avLst/>
          </a:prstGeom>
          <a:noFill/>
          <a:ln w="12700">
            <a:solidFill>
              <a:srgbClr val="1565C0"/>
            </a:solidFill>
            <a:prstDash val="solid"/>
          </a:ln>
        </p:spPr>
        <p:txBody>
          <a:bodyPr/>
          <a:lstStyle/>
          <a:p>
            <a:endParaRPr lang="en-US"/>
          </a:p>
        </p:txBody>
      </p:sp>
      <p:sp>
        <p:nvSpPr>
          <p:cNvPr id="21" name="Text 19"/>
          <p:cNvSpPr/>
          <p:nvPr/>
        </p:nvSpPr>
        <p:spPr>
          <a:xfrm>
            <a:off x="3950208" y="2313432"/>
            <a:ext cx="1737360" cy="274320"/>
          </a:xfrm>
          <a:prstGeom prst="rect">
            <a:avLst/>
          </a:prstGeom>
          <a:noFill/>
          <a:ln/>
        </p:spPr>
        <p:txBody>
          <a:bodyPr wrap="square" lIns="0" tIns="0" rIns="0" bIns="0" rtlCol="0" anchor="ctr"/>
          <a:lstStyle/>
          <a:p>
            <a:pPr marL="0" indent="0">
              <a:buNone/>
            </a:pPr>
            <a:r>
              <a:rPr lang="en-US" sz="800" b="1" dirty="0">
                <a:solidFill>
                  <a:srgbClr val="1565C0"/>
                </a:solidFill>
              </a:rPr>
              <a:t>→ PPG Foundation</a:t>
            </a:r>
            <a:endParaRPr lang="en-US" sz="800" dirty="0"/>
          </a:p>
        </p:txBody>
      </p:sp>
      <p:sp>
        <p:nvSpPr>
          <p:cNvPr id="22" name="Shape 20"/>
          <p:cNvSpPr/>
          <p:nvPr/>
        </p:nvSpPr>
        <p:spPr>
          <a:xfrm>
            <a:off x="6080760" y="1234440"/>
            <a:ext cx="2606040" cy="1463040"/>
          </a:xfrm>
          <a:prstGeom prst="rect">
            <a:avLst/>
          </a:prstGeom>
          <a:solidFill>
            <a:srgbClr val="EEF2F7"/>
          </a:solidFill>
          <a:ln w="12700">
            <a:solidFill>
              <a:srgbClr val="EEF2F7"/>
            </a:solidFill>
            <a:prstDash val="solid"/>
          </a:ln>
          <a:effectLst>
            <a:outerShdw blurRad="50800" dist="25400" dir="8100000" algn="bl" rotWithShape="0">
              <a:srgbClr val="000000">
                <a:alpha val="8000"/>
              </a:srgbClr>
            </a:outerShdw>
          </a:effectLst>
        </p:spPr>
        <p:txBody>
          <a:bodyPr/>
          <a:lstStyle/>
          <a:p>
            <a:endParaRPr lang="en-US"/>
          </a:p>
        </p:txBody>
      </p:sp>
      <p:sp>
        <p:nvSpPr>
          <p:cNvPr id="23" name="Shape 21"/>
          <p:cNvSpPr/>
          <p:nvPr/>
        </p:nvSpPr>
        <p:spPr>
          <a:xfrm>
            <a:off x="6080760" y="1234440"/>
            <a:ext cx="164592" cy="1463040"/>
          </a:xfrm>
          <a:prstGeom prst="rect">
            <a:avLst/>
          </a:prstGeom>
          <a:solidFill>
            <a:srgbClr val="00796B"/>
          </a:solidFill>
          <a:ln/>
        </p:spPr>
        <p:txBody>
          <a:bodyPr/>
          <a:lstStyle/>
          <a:p>
            <a:endParaRPr lang="en-US"/>
          </a:p>
        </p:txBody>
      </p:sp>
      <p:sp>
        <p:nvSpPr>
          <p:cNvPr id="24" name="Shape 22"/>
          <p:cNvSpPr/>
          <p:nvPr/>
        </p:nvSpPr>
        <p:spPr>
          <a:xfrm>
            <a:off x="6336792" y="1371600"/>
            <a:ext cx="402336" cy="402336"/>
          </a:xfrm>
          <a:prstGeom prst="ellipse">
            <a:avLst/>
          </a:prstGeom>
          <a:solidFill>
            <a:srgbClr val="00796B"/>
          </a:solidFill>
          <a:ln/>
        </p:spPr>
        <p:txBody>
          <a:bodyPr/>
          <a:lstStyle/>
          <a:p>
            <a:endParaRPr lang="en-US"/>
          </a:p>
        </p:txBody>
      </p:sp>
      <p:sp>
        <p:nvSpPr>
          <p:cNvPr id="25" name="Text 23"/>
          <p:cNvSpPr/>
          <p:nvPr/>
        </p:nvSpPr>
        <p:spPr>
          <a:xfrm>
            <a:off x="6336792" y="1371600"/>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rPr>
              <a:t>3</a:t>
            </a:r>
            <a:endParaRPr lang="en-US" sz="1600" dirty="0"/>
          </a:p>
        </p:txBody>
      </p:sp>
      <p:sp>
        <p:nvSpPr>
          <p:cNvPr id="26" name="Text 24"/>
          <p:cNvSpPr/>
          <p:nvPr/>
        </p:nvSpPr>
        <p:spPr>
          <a:xfrm>
            <a:off x="6830568" y="1325880"/>
            <a:ext cx="1783080" cy="411480"/>
          </a:xfrm>
          <a:prstGeom prst="rect">
            <a:avLst/>
          </a:prstGeom>
          <a:noFill/>
          <a:ln/>
        </p:spPr>
        <p:txBody>
          <a:bodyPr wrap="square" lIns="0" tIns="0" rIns="0" bIns="0" rtlCol="0" anchor="ctr"/>
          <a:lstStyle/>
          <a:p>
            <a:pPr marL="0" indent="0">
              <a:buNone/>
            </a:pPr>
            <a:r>
              <a:rPr lang="en-US" sz="1300" b="1" dirty="0">
                <a:solidFill>
                  <a:srgbClr val="1B2E4E"/>
                </a:solidFill>
              </a:rPr>
              <a:t>Wavelet Transform</a:t>
            </a:r>
            <a:endParaRPr lang="en-US" sz="1300" dirty="0"/>
          </a:p>
        </p:txBody>
      </p:sp>
      <p:sp>
        <p:nvSpPr>
          <p:cNvPr id="27" name="Text 25"/>
          <p:cNvSpPr/>
          <p:nvPr/>
        </p:nvSpPr>
        <p:spPr>
          <a:xfrm>
            <a:off x="6830568" y="1737360"/>
            <a:ext cx="1783080" cy="548640"/>
          </a:xfrm>
          <a:prstGeom prst="rect">
            <a:avLst/>
          </a:prstGeom>
          <a:noFill/>
          <a:ln/>
        </p:spPr>
        <p:txBody>
          <a:bodyPr wrap="square" lIns="0" tIns="0" rIns="0" bIns="0" rtlCol="0" anchor="t"/>
          <a:lstStyle/>
          <a:p>
            <a:pPr marL="0" indent="0">
              <a:buNone/>
            </a:pPr>
            <a:r>
              <a:rPr lang="en-US" sz="1000" dirty="0">
                <a:solidFill>
                  <a:srgbClr val="546E7A"/>
                </a:solidFill>
              </a:rPr>
              <a:t>Multi-resolution — fixed mother wavelet</a:t>
            </a:r>
            <a:endParaRPr lang="en-US" sz="1000" dirty="0"/>
          </a:p>
        </p:txBody>
      </p:sp>
      <p:sp>
        <p:nvSpPr>
          <p:cNvPr id="28" name="Shape 26"/>
          <p:cNvSpPr/>
          <p:nvPr/>
        </p:nvSpPr>
        <p:spPr>
          <a:xfrm>
            <a:off x="6830568" y="2240280"/>
            <a:ext cx="1737360" cy="0"/>
          </a:xfrm>
          <a:prstGeom prst="line">
            <a:avLst/>
          </a:prstGeom>
          <a:noFill/>
          <a:ln w="12700">
            <a:solidFill>
              <a:srgbClr val="00796B"/>
            </a:solidFill>
            <a:prstDash val="solid"/>
          </a:ln>
        </p:spPr>
        <p:txBody>
          <a:bodyPr/>
          <a:lstStyle/>
          <a:p>
            <a:endParaRPr lang="en-US"/>
          </a:p>
        </p:txBody>
      </p:sp>
      <p:sp>
        <p:nvSpPr>
          <p:cNvPr id="29" name="Text 27"/>
          <p:cNvSpPr/>
          <p:nvPr/>
        </p:nvSpPr>
        <p:spPr>
          <a:xfrm>
            <a:off x="6830568" y="2313432"/>
            <a:ext cx="1737360" cy="274320"/>
          </a:xfrm>
          <a:prstGeom prst="rect">
            <a:avLst/>
          </a:prstGeom>
          <a:noFill/>
          <a:ln/>
        </p:spPr>
        <p:txBody>
          <a:bodyPr wrap="square" lIns="0" tIns="0" rIns="0" bIns="0" rtlCol="0" anchor="ctr"/>
          <a:lstStyle/>
          <a:p>
            <a:pPr marL="0" indent="0">
              <a:buNone/>
            </a:pPr>
            <a:r>
              <a:rPr lang="en-US" sz="800" b="1" dirty="0">
                <a:solidFill>
                  <a:srgbClr val="00796B"/>
                </a:solidFill>
              </a:rPr>
              <a:t>→ PPG Foundation</a:t>
            </a:r>
            <a:endParaRPr lang="en-US" sz="800" dirty="0"/>
          </a:p>
        </p:txBody>
      </p:sp>
      <p:sp>
        <p:nvSpPr>
          <p:cNvPr id="30" name="Shape 28"/>
          <p:cNvSpPr/>
          <p:nvPr/>
        </p:nvSpPr>
        <p:spPr>
          <a:xfrm>
            <a:off x="320040" y="3017520"/>
            <a:ext cx="2606040" cy="1463040"/>
          </a:xfrm>
          <a:prstGeom prst="rect">
            <a:avLst/>
          </a:prstGeom>
          <a:solidFill>
            <a:srgbClr val="EEF2F7"/>
          </a:solidFill>
          <a:ln w="12700">
            <a:solidFill>
              <a:srgbClr val="EEF2F7"/>
            </a:solidFill>
            <a:prstDash val="solid"/>
          </a:ln>
          <a:effectLst>
            <a:outerShdw blurRad="50800" dist="25400" dir="8100000" algn="bl" rotWithShape="0">
              <a:srgbClr val="000000">
                <a:alpha val="8000"/>
              </a:srgbClr>
            </a:outerShdw>
          </a:effectLst>
        </p:spPr>
        <p:txBody>
          <a:bodyPr/>
          <a:lstStyle/>
          <a:p>
            <a:endParaRPr lang="en-US"/>
          </a:p>
        </p:txBody>
      </p:sp>
      <p:sp>
        <p:nvSpPr>
          <p:cNvPr id="31" name="Shape 29"/>
          <p:cNvSpPr/>
          <p:nvPr/>
        </p:nvSpPr>
        <p:spPr>
          <a:xfrm>
            <a:off x="320040" y="3017520"/>
            <a:ext cx="164592" cy="1463040"/>
          </a:xfrm>
          <a:prstGeom prst="rect">
            <a:avLst/>
          </a:prstGeom>
          <a:solidFill>
            <a:srgbClr val="2E7D32"/>
          </a:solidFill>
          <a:ln/>
        </p:spPr>
        <p:txBody>
          <a:bodyPr/>
          <a:lstStyle/>
          <a:p>
            <a:endParaRPr lang="en-US"/>
          </a:p>
        </p:txBody>
      </p:sp>
      <p:sp>
        <p:nvSpPr>
          <p:cNvPr id="32" name="Shape 30"/>
          <p:cNvSpPr/>
          <p:nvPr/>
        </p:nvSpPr>
        <p:spPr>
          <a:xfrm>
            <a:off x="576072" y="3154680"/>
            <a:ext cx="402336" cy="402336"/>
          </a:xfrm>
          <a:prstGeom prst="ellipse">
            <a:avLst/>
          </a:prstGeom>
          <a:solidFill>
            <a:srgbClr val="2E7D32"/>
          </a:solidFill>
          <a:ln/>
        </p:spPr>
        <p:txBody>
          <a:bodyPr/>
          <a:lstStyle/>
          <a:p>
            <a:endParaRPr lang="en-US"/>
          </a:p>
        </p:txBody>
      </p:sp>
      <p:sp>
        <p:nvSpPr>
          <p:cNvPr id="33" name="Text 31"/>
          <p:cNvSpPr/>
          <p:nvPr/>
        </p:nvSpPr>
        <p:spPr>
          <a:xfrm>
            <a:off x="576072" y="3154680"/>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rPr>
              <a:t>4</a:t>
            </a:r>
            <a:endParaRPr lang="en-US" sz="1600" dirty="0"/>
          </a:p>
        </p:txBody>
      </p:sp>
      <p:sp>
        <p:nvSpPr>
          <p:cNvPr id="34" name="Text 32"/>
          <p:cNvSpPr/>
          <p:nvPr/>
        </p:nvSpPr>
        <p:spPr>
          <a:xfrm>
            <a:off x="1069848" y="3108960"/>
            <a:ext cx="1783080" cy="411480"/>
          </a:xfrm>
          <a:prstGeom prst="rect">
            <a:avLst/>
          </a:prstGeom>
          <a:noFill/>
          <a:ln/>
        </p:spPr>
        <p:txBody>
          <a:bodyPr wrap="square" lIns="0" tIns="0" rIns="0" bIns="0" rtlCol="0" anchor="ctr"/>
          <a:lstStyle/>
          <a:p>
            <a:pPr marL="0" indent="0">
              <a:buNone/>
            </a:pPr>
            <a:r>
              <a:rPr lang="en-US" sz="1300" b="1" dirty="0">
                <a:solidFill>
                  <a:srgbClr val="1B2E4E"/>
                </a:solidFill>
              </a:rPr>
              <a:t>Adaptive Wavelet</a:t>
            </a:r>
            <a:endParaRPr lang="en-US" sz="1300" dirty="0"/>
          </a:p>
        </p:txBody>
      </p:sp>
      <p:sp>
        <p:nvSpPr>
          <p:cNvPr id="35" name="Text 33"/>
          <p:cNvSpPr/>
          <p:nvPr/>
        </p:nvSpPr>
        <p:spPr>
          <a:xfrm>
            <a:off x="1069848" y="3520440"/>
            <a:ext cx="1783080" cy="548640"/>
          </a:xfrm>
          <a:prstGeom prst="rect">
            <a:avLst/>
          </a:prstGeom>
          <a:noFill/>
          <a:ln/>
        </p:spPr>
        <p:txBody>
          <a:bodyPr wrap="square" lIns="0" tIns="0" rIns="0" bIns="0" rtlCol="0" anchor="t"/>
          <a:lstStyle/>
          <a:p>
            <a:pPr marL="0" indent="0">
              <a:buNone/>
            </a:pPr>
            <a:r>
              <a:rPr lang="en-US" sz="1000" dirty="0">
                <a:solidFill>
                  <a:srgbClr val="546E7A"/>
                </a:solidFill>
              </a:rPr>
              <a:t>Tuned basis — signal-class specific</a:t>
            </a:r>
            <a:endParaRPr lang="en-US" sz="1000" dirty="0"/>
          </a:p>
        </p:txBody>
      </p:sp>
      <p:sp>
        <p:nvSpPr>
          <p:cNvPr id="36" name="Shape 34"/>
          <p:cNvSpPr/>
          <p:nvPr/>
        </p:nvSpPr>
        <p:spPr>
          <a:xfrm>
            <a:off x="1069848" y="4023360"/>
            <a:ext cx="1737360" cy="0"/>
          </a:xfrm>
          <a:prstGeom prst="line">
            <a:avLst/>
          </a:prstGeom>
          <a:noFill/>
          <a:ln w="12700">
            <a:solidFill>
              <a:srgbClr val="2E7D32"/>
            </a:solidFill>
            <a:prstDash val="solid"/>
          </a:ln>
        </p:spPr>
        <p:txBody>
          <a:bodyPr/>
          <a:lstStyle/>
          <a:p>
            <a:endParaRPr lang="en-US"/>
          </a:p>
        </p:txBody>
      </p:sp>
      <p:sp>
        <p:nvSpPr>
          <p:cNvPr id="37" name="Text 35"/>
          <p:cNvSpPr/>
          <p:nvPr/>
        </p:nvSpPr>
        <p:spPr>
          <a:xfrm>
            <a:off x="1069848" y="4096512"/>
            <a:ext cx="1737360" cy="274320"/>
          </a:xfrm>
          <a:prstGeom prst="rect">
            <a:avLst/>
          </a:prstGeom>
          <a:noFill/>
          <a:ln/>
        </p:spPr>
        <p:txBody>
          <a:bodyPr wrap="square" lIns="0" tIns="0" rIns="0" bIns="0" rtlCol="0" anchor="ctr"/>
          <a:lstStyle/>
          <a:p>
            <a:pPr marL="0" indent="0">
              <a:buNone/>
            </a:pPr>
            <a:r>
              <a:rPr lang="en-US" sz="800" b="1" dirty="0">
                <a:solidFill>
                  <a:srgbClr val="2E7D32"/>
                </a:solidFill>
              </a:rPr>
              <a:t>→ PPG Foundation</a:t>
            </a:r>
            <a:endParaRPr lang="en-US" sz="800" dirty="0"/>
          </a:p>
        </p:txBody>
      </p:sp>
      <p:sp>
        <p:nvSpPr>
          <p:cNvPr id="38" name="Shape 36"/>
          <p:cNvSpPr/>
          <p:nvPr/>
        </p:nvSpPr>
        <p:spPr>
          <a:xfrm>
            <a:off x="3200400" y="3017520"/>
            <a:ext cx="2606040" cy="1463040"/>
          </a:xfrm>
          <a:prstGeom prst="rect">
            <a:avLst/>
          </a:prstGeom>
          <a:solidFill>
            <a:srgbClr val="EEF2F7"/>
          </a:solidFill>
          <a:ln w="12700">
            <a:solidFill>
              <a:srgbClr val="EEF2F7"/>
            </a:solidFill>
            <a:prstDash val="solid"/>
          </a:ln>
          <a:effectLst>
            <a:outerShdw blurRad="50800" dist="25400" dir="8100000" algn="bl" rotWithShape="0">
              <a:srgbClr val="000000">
                <a:alpha val="8000"/>
              </a:srgbClr>
            </a:outerShdw>
          </a:effectLst>
        </p:spPr>
        <p:txBody>
          <a:bodyPr/>
          <a:lstStyle/>
          <a:p>
            <a:endParaRPr lang="en-US"/>
          </a:p>
        </p:txBody>
      </p:sp>
      <p:sp>
        <p:nvSpPr>
          <p:cNvPr id="39" name="Shape 37"/>
          <p:cNvSpPr/>
          <p:nvPr/>
        </p:nvSpPr>
        <p:spPr>
          <a:xfrm>
            <a:off x="3200400" y="3017520"/>
            <a:ext cx="164592" cy="1463040"/>
          </a:xfrm>
          <a:prstGeom prst="rect">
            <a:avLst/>
          </a:prstGeom>
          <a:solidFill>
            <a:srgbClr val="E65100"/>
          </a:solidFill>
          <a:ln/>
        </p:spPr>
        <p:txBody>
          <a:bodyPr/>
          <a:lstStyle/>
          <a:p>
            <a:endParaRPr lang="en-US"/>
          </a:p>
        </p:txBody>
      </p:sp>
      <p:sp>
        <p:nvSpPr>
          <p:cNvPr id="40" name="Shape 38"/>
          <p:cNvSpPr/>
          <p:nvPr/>
        </p:nvSpPr>
        <p:spPr>
          <a:xfrm>
            <a:off x="3456432" y="3154680"/>
            <a:ext cx="402336" cy="402336"/>
          </a:xfrm>
          <a:prstGeom prst="ellipse">
            <a:avLst/>
          </a:prstGeom>
          <a:solidFill>
            <a:srgbClr val="E65100"/>
          </a:solidFill>
          <a:ln/>
        </p:spPr>
        <p:txBody>
          <a:bodyPr/>
          <a:lstStyle/>
          <a:p>
            <a:endParaRPr lang="en-US"/>
          </a:p>
        </p:txBody>
      </p:sp>
      <p:sp>
        <p:nvSpPr>
          <p:cNvPr id="41" name="Text 39"/>
          <p:cNvSpPr/>
          <p:nvPr/>
        </p:nvSpPr>
        <p:spPr>
          <a:xfrm>
            <a:off x="3456432" y="3154680"/>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rPr>
              <a:t>5</a:t>
            </a:r>
            <a:endParaRPr lang="en-US" sz="1600" dirty="0"/>
          </a:p>
        </p:txBody>
      </p:sp>
      <p:sp>
        <p:nvSpPr>
          <p:cNvPr id="42" name="Text 40"/>
          <p:cNvSpPr/>
          <p:nvPr/>
        </p:nvSpPr>
        <p:spPr>
          <a:xfrm>
            <a:off x="3950208" y="3108960"/>
            <a:ext cx="1783080" cy="411480"/>
          </a:xfrm>
          <a:prstGeom prst="rect">
            <a:avLst/>
          </a:prstGeom>
          <a:noFill/>
          <a:ln/>
        </p:spPr>
        <p:txBody>
          <a:bodyPr wrap="square" lIns="0" tIns="0" rIns="0" bIns="0" rtlCol="0" anchor="ctr"/>
          <a:lstStyle/>
          <a:p>
            <a:pPr marL="0" indent="0">
              <a:buNone/>
            </a:pPr>
            <a:r>
              <a:rPr lang="en-US" sz="1300" b="1" dirty="0">
                <a:solidFill>
                  <a:srgbClr val="1B2E4E"/>
                </a:solidFill>
              </a:rPr>
              <a:t>Dynamic Wavelet</a:t>
            </a:r>
            <a:endParaRPr lang="en-US" sz="1300" dirty="0"/>
          </a:p>
        </p:txBody>
      </p:sp>
      <p:sp>
        <p:nvSpPr>
          <p:cNvPr id="43" name="Text 41"/>
          <p:cNvSpPr/>
          <p:nvPr/>
        </p:nvSpPr>
        <p:spPr>
          <a:xfrm>
            <a:off x="3950208" y="3520440"/>
            <a:ext cx="1783080" cy="548640"/>
          </a:xfrm>
          <a:prstGeom prst="rect">
            <a:avLst/>
          </a:prstGeom>
          <a:noFill/>
          <a:ln/>
        </p:spPr>
        <p:txBody>
          <a:bodyPr wrap="square" lIns="0" tIns="0" rIns="0" bIns="0" rtlCol="0" anchor="t"/>
          <a:lstStyle/>
          <a:p>
            <a:pPr marL="0" indent="0">
              <a:buNone/>
            </a:pPr>
            <a:r>
              <a:rPr lang="en-US" sz="1000" dirty="0">
                <a:solidFill>
                  <a:srgbClr val="546E7A"/>
                </a:solidFill>
              </a:rPr>
              <a:t>Instance-specific — varies per input</a:t>
            </a:r>
            <a:endParaRPr lang="en-US" sz="1000" dirty="0"/>
          </a:p>
        </p:txBody>
      </p:sp>
      <p:sp>
        <p:nvSpPr>
          <p:cNvPr id="44" name="Shape 42"/>
          <p:cNvSpPr/>
          <p:nvPr/>
        </p:nvSpPr>
        <p:spPr>
          <a:xfrm>
            <a:off x="3950208" y="4023360"/>
            <a:ext cx="1737360" cy="0"/>
          </a:xfrm>
          <a:prstGeom prst="line">
            <a:avLst/>
          </a:prstGeom>
          <a:noFill/>
          <a:ln w="12700">
            <a:solidFill>
              <a:srgbClr val="E65100"/>
            </a:solidFill>
            <a:prstDash val="solid"/>
          </a:ln>
        </p:spPr>
        <p:txBody>
          <a:bodyPr/>
          <a:lstStyle/>
          <a:p>
            <a:endParaRPr lang="en-US"/>
          </a:p>
        </p:txBody>
      </p:sp>
      <p:sp>
        <p:nvSpPr>
          <p:cNvPr id="45" name="Text 43"/>
          <p:cNvSpPr/>
          <p:nvPr/>
        </p:nvSpPr>
        <p:spPr>
          <a:xfrm>
            <a:off x="3950208" y="4096512"/>
            <a:ext cx="1737360" cy="274320"/>
          </a:xfrm>
          <a:prstGeom prst="rect">
            <a:avLst/>
          </a:prstGeom>
          <a:noFill/>
          <a:ln/>
        </p:spPr>
        <p:txBody>
          <a:bodyPr wrap="square" lIns="0" tIns="0" rIns="0" bIns="0" rtlCol="0" anchor="ctr"/>
          <a:lstStyle/>
          <a:p>
            <a:pPr marL="0" indent="0">
              <a:buNone/>
            </a:pPr>
            <a:r>
              <a:rPr lang="en-US" sz="800" b="1" dirty="0">
                <a:solidFill>
                  <a:srgbClr val="E65100"/>
                </a:solidFill>
              </a:rPr>
              <a:t>→ PPG Foundation</a:t>
            </a:r>
            <a:endParaRPr lang="en-US" sz="800" dirty="0"/>
          </a:p>
        </p:txBody>
      </p:sp>
      <p:sp>
        <p:nvSpPr>
          <p:cNvPr id="46" name="Shape 44"/>
          <p:cNvSpPr/>
          <p:nvPr/>
        </p:nvSpPr>
        <p:spPr>
          <a:xfrm>
            <a:off x="6080760" y="3017520"/>
            <a:ext cx="2606040" cy="1463040"/>
          </a:xfrm>
          <a:prstGeom prst="rect">
            <a:avLst/>
          </a:prstGeom>
          <a:solidFill>
            <a:srgbClr val="EEF2F7"/>
          </a:solidFill>
          <a:ln w="12700">
            <a:solidFill>
              <a:srgbClr val="EEF2F7"/>
            </a:solidFill>
            <a:prstDash val="solid"/>
          </a:ln>
          <a:effectLst>
            <a:outerShdw blurRad="50800" dist="25400" dir="8100000" algn="bl" rotWithShape="0">
              <a:srgbClr val="000000">
                <a:alpha val="8000"/>
              </a:srgbClr>
            </a:outerShdw>
          </a:effectLst>
        </p:spPr>
        <p:txBody>
          <a:bodyPr/>
          <a:lstStyle/>
          <a:p>
            <a:endParaRPr lang="en-US"/>
          </a:p>
        </p:txBody>
      </p:sp>
      <p:sp>
        <p:nvSpPr>
          <p:cNvPr id="47" name="Shape 45"/>
          <p:cNvSpPr/>
          <p:nvPr/>
        </p:nvSpPr>
        <p:spPr>
          <a:xfrm>
            <a:off x="6080760" y="3017520"/>
            <a:ext cx="164592" cy="1463040"/>
          </a:xfrm>
          <a:prstGeom prst="rect">
            <a:avLst/>
          </a:prstGeom>
          <a:solidFill>
            <a:srgbClr val="C62828"/>
          </a:solidFill>
          <a:ln/>
        </p:spPr>
        <p:txBody>
          <a:bodyPr/>
          <a:lstStyle/>
          <a:p>
            <a:endParaRPr lang="en-US"/>
          </a:p>
        </p:txBody>
      </p:sp>
      <p:sp>
        <p:nvSpPr>
          <p:cNvPr id="48" name="Shape 46"/>
          <p:cNvSpPr/>
          <p:nvPr/>
        </p:nvSpPr>
        <p:spPr>
          <a:xfrm>
            <a:off x="6336792" y="3154680"/>
            <a:ext cx="402336" cy="402336"/>
          </a:xfrm>
          <a:prstGeom prst="ellipse">
            <a:avLst/>
          </a:prstGeom>
          <a:solidFill>
            <a:srgbClr val="C62828"/>
          </a:solidFill>
          <a:ln/>
        </p:spPr>
        <p:txBody>
          <a:bodyPr/>
          <a:lstStyle/>
          <a:p>
            <a:endParaRPr lang="en-US"/>
          </a:p>
        </p:txBody>
      </p:sp>
      <p:sp>
        <p:nvSpPr>
          <p:cNvPr id="49" name="Text 47"/>
          <p:cNvSpPr/>
          <p:nvPr/>
        </p:nvSpPr>
        <p:spPr>
          <a:xfrm>
            <a:off x="6336792" y="3154680"/>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rPr>
              <a:t>6</a:t>
            </a:r>
            <a:endParaRPr lang="en-US" sz="1600" dirty="0"/>
          </a:p>
        </p:txBody>
      </p:sp>
      <p:sp>
        <p:nvSpPr>
          <p:cNvPr id="50" name="Text 48"/>
          <p:cNvSpPr/>
          <p:nvPr/>
        </p:nvSpPr>
        <p:spPr>
          <a:xfrm>
            <a:off x="6830568" y="3108960"/>
            <a:ext cx="1783080" cy="411480"/>
          </a:xfrm>
          <a:prstGeom prst="rect">
            <a:avLst/>
          </a:prstGeom>
          <a:noFill/>
          <a:ln/>
        </p:spPr>
        <p:txBody>
          <a:bodyPr wrap="square" lIns="0" tIns="0" rIns="0" bIns="0" rtlCol="0" anchor="ctr"/>
          <a:lstStyle/>
          <a:p>
            <a:pPr marL="0" indent="0">
              <a:buNone/>
            </a:pPr>
            <a:r>
              <a:rPr lang="en-US" sz="1300" b="1" dirty="0">
                <a:solidFill>
                  <a:srgbClr val="1B2E4E"/>
                </a:solidFill>
              </a:rPr>
              <a:t>Learnable Dynamic Wavelet</a:t>
            </a:r>
            <a:endParaRPr lang="en-US" sz="1300" dirty="0"/>
          </a:p>
        </p:txBody>
      </p:sp>
      <p:sp>
        <p:nvSpPr>
          <p:cNvPr id="51" name="Text 49"/>
          <p:cNvSpPr/>
          <p:nvPr/>
        </p:nvSpPr>
        <p:spPr>
          <a:xfrm>
            <a:off x="6830568" y="3520440"/>
            <a:ext cx="1783080" cy="548640"/>
          </a:xfrm>
          <a:prstGeom prst="rect">
            <a:avLst/>
          </a:prstGeom>
          <a:noFill/>
          <a:ln/>
        </p:spPr>
        <p:txBody>
          <a:bodyPr wrap="square" lIns="0" tIns="0" rIns="0" bIns="0" rtlCol="0" anchor="t"/>
          <a:lstStyle/>
          <a:p>
            <a:pPr marL="0" indent="0">
              <a:buNone/>
            </a:pPr>
            <a:r>
              <a:rPr lang="en-US" sz="1000" dirty="0">
                <a:solidFill>
                  <a:srgbClr val="546E7A"/>
                </a:solidFill>
              </a:rPr>
              <a:t>End-to-end trained — task + data driven</a:t>
            </a:r>
            <a:endParaRPr lang="en-US" sz="1000" dirty="0"/>
          </a:p>
        </p:txBody>
      </p:sp>
      <p:sp>
        <p:nvSpPr>
          <p:cNvPr id="52" name="Shape 50"/>
          <p:cNvSpPr/>
          <p:nvPr/>
        </p:nvSpPr>
        <p:spPr>
          <a:xfrm>
            <a:off x="6830568" y="4023360"/>
            <a:ext cx="1737360" cy="0"/>
          </a:xfrm>
          <a:prstGeom prst="line">
            <a:avLst/>
          </a:prstGeom>
          <a:noFill/>
          <a:ln w="12700">
            <a:solidFill>
              <a:srgbClr val="C62828"/>
            </a:solidFill>
            <a:prstDash val="solid"/>
          </a:ln>
        </p:spPr>
        <p:txBody>
          <a:bodyPr/>
          <a:lstStyle/>
          <a:p>
            <a:endParaRPr lang="en-US"/>
          </a:p>
        </p:txBody>
      </p:sp>
      <p:sp>
        <p:nvSpPr>
          <p:cNvPr id="53" name="Text 51"/>
          <p:cNvSpPr/>
          <p:nvPr/>
        </p:nvSpPr>
        <p:spPr>
          <a:xfrm>
            <a:off x="6830568" y="4096512"/>
            <a:ext cx="1737360" cy="274320"/>
          </a:xfrm>
          <a:prstGeom prst="rect">
            <a:avLst/>
          </a:prstGeom>
          <a:noFill/>
          <a:ln/>
        </p:spPr>
        <p:txBody>
          <a:bodyPr wrap="square" lIns="0" tIns="0" rIns="0" bIns="0" rtlCol="0" anchor="ctr"/>
          <a:lstStyle/>
          <a:p>
            <a:pPr marL="0" indent="0">
              <a:buNone/>
            </a:pPr>
            <a:r>
              <a:rPr lang="en-US" sz="800" b="1" dirty="0">
                <a:solidFill>
                  <a:srgbClr val="C62828"/>
                </a:solidFill>
              </a:rPr>
              <a:t>→ PPG Foundation</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1B2E4E"/>
          </a:solidFill>
          <a:ln/>
        </p:spPr>
        <p:txBody>
          <a:bodyPr/>
          <a:lstStyle/>
          <a:p>
            <a:endParaRPr lang="en-US"/>
          </a:p>
        </p:txBody>
      </p:sp>
      <p:sp>
        <p:nvSpPr>
          <p:cNvPr id="3" name="Text 1"/>
          <p:cNvSpPr/>
          <p:nvPr/>
        </p:nvSpPr>
        <p:spPr>
          <a:xfrm>
            <a:off x="365760" y="109728"/>
            <a:ext cx="8412480" cy="640080"/>
          </a:xfrm>
          <a:prstGeom prst="rect">
            <a:avLst/>
          </a:prstGeom>
          <a:noFill/>
          <a:ln/>
        </p:spPr>
        <p:txBody>
          <a:bodyPr wrap="square" lIns="0" tIns="0" rIns="0" bIns="0" rtlCol="0" anchor="ctr"/>
          <a:lstStyle/>
          <a:p>
            <a:pPr marL="0" indent="0">
              <a:buNone/>
            </a:pPr>
            <a:r>
              <a:rPr lang="en-US" sz="2600" b="1" dirty="0">
                <a:solidFill>
                  <a:srgbClr val="1B2E4E"/>
                </a:solidFill>
                <a:latin typeface="Calibri" pitchFamily="34" charset="0"/>
                <a:ea typeface="Calibri" pitchFamily="34" charset="-122"/>
                <a:cs typeface="Calibri" pitchFamily="34" charset="-120"/>
              </a:rPr>
              <a:t>Fourier Transform (FT)</a:t>
            </a:r>
            <a:endParaRPr lang="en-US" sz="2600" dirty="0"/>
          </a:p>
        </p:txBody>
      </p:sp>
      <p:sp>
        <p:nvSpPr>
          <p:cNvPr id="4" name="Text 2"/>
          <p:cNvSpPr/>
          <p:nvPr/>
        </p:nvSpPr>
        <p:spPr>
          <a:xfrm>
            <a:off x="365760" y="731520"/>
            <a:ext cx="8412480" cy="274320"/>
          </a:xfrm>
          <a:prstGeom prst="rect">
            <a:avLst/>
          </a:prstGeom>
          <a:noFill/>
          <a:ln/>
        </p:spPr>
        <p:txBody>
          <a:bodyPr wrap="square" lIns="0" tIns="0" rIns="0" bIns="0" rtlCol="0" anchor="ctr"/>
          <a:lstStyle/>
          <a:p>
            <a:pPr marL="0" indent="0">
              <a:buNone/>
            </a:pPr>
            <a:r>
              <a:rPr lang="en-US" sz="1300" i="1" dirty="0">
                <a:solidFill>
                  <a:srgbClr val="546E7A"/>
                </a:solidFill>
                <a:latin typeface="Calibri" pitchFamily="34" charset="0"/>
                <a:ea typeface="Calibri" pitchFamily="34" charset="-122"/>
                <a:cs typeface="Calibri" pitchFamily="34" charset="-120"/>
              </a:rPr>
              <a:t>Decomposing signals into global sinusoidal components</a:t>
            </a:r>
            <a:endParaRPr lang="en-US" sz="1300" dirty="0"/>
          </a:p>
        </p:txBody>
      </p:sp>
      <p:sp>
        <p:nvSpPr>
          <p:cNvPr id="5" name="Shape 3"/>
          <p:cNvSpPr/>
          <p:nvPr/>
        </p:nvSpPr>
        <p:spPr>
          <a:xfrm>
            <a:off x="365760" y="1005840"/>
            <a:ext cx="8412480" cy="22860"/>
          </a:xfrm>
          <a:prstGeom prst="rect">
            <a:avLst/>
          </a:prstGeom>
          <a:solidFill>
            <a:srgbClr val="1565C0"/>
          </a:solidFill>
          <a:ln/>
        </p:spPr>
        <p:txBody>
          <a:bodyPr/>
          <a:lstStyle/>
          <a:p>
            <a:endParaRPr lang="en-US"/>
          </a:p>
        </p:txBody>
      </p:sp>
      <p:sp>
        <p:nvSpPr>
          <p:cNvPr id="7" name="Text 5"/>
          <p:cNvSpPr/>
          <p:nvPr/>
        </p:nvSpPr>
        <p:spPr>
          <a:xfrm>
            <a:off x="7772400" y="137160"/>
            <a:ext cx="1463040" cy="256032"/>
          </a:xfrm>
          <a:prstGeom prst="rect">
            <a:avLst/>
          </a:prstGeom>
          <a:noFill/>
          <a:ln/>
        </p:spPr>
        <p:txBody>
          <a:bodyPr wrap="square" lIns="0" tIns="0" rIns="0" bIns="0" rtlCol="0" anchor="ctr"/>
          <a:lstStyle/>
          <a:p>
            <a:pPr marL="0" indent="0" algn="ctr">
              <a:buNone/>
            </a:pPr>
            <a:r>
              <a:rPr lang="en-US" sz="900" b="1" dirty="0">
                <a:solidFill>
                  <a:srgbClr val="FFFFFF"/>
                </a:solidFill>
              </a:rPr>
              <a:t>SECTION 1</a:t>
            </a:r>
            <a:endParaRPr lang="en-US" sz="900" dirty="0"/>
          </a:p>
        </p:txBody>
      </p:sp>
      <p:sp>
        <p:nvSpPr>
          <p:cNvPr id="8" name="Text 6"/>
          <p:cNvSpPr/>
          <p:nvPr/>
        </p:nvSpPr>
        <p:spPr>
          <a:xfrm>
            <a:off x="365760" y="1143000"/>
            <a:ext cx="3840480" cy="292608"/>
          </a:xfrm>
          <a:prstGeom prst="rect">
            <a:avLst/>
          </a:prstGeom>
          <a:noFill/>
          <a:ln/>
        </p:spPr>
        <p:txBody>
          <a:bodyPr wrap="square" lIns="0" tIns="0" rIns="0" bIns="0" rtlCol="0" anchor="ctr"/>
          <a:lstStyle/>
          <a:p>
            <a:pPr marL="0" indent="0">
              <a:buNone/>
            </a:pPr>
            <a:r>
              <a:rPr lang="en-US" sz="1400" b="1" dirty="0">
                <a:solidFill>
                  <a:srgbClr val="1B2E4E"/>
                </a:solidFill>
              </a:rPr>
              <a:t>Core Idea</a:t>
            </a:r>
            <a:endParaRPr lang="en-US" sz="1400" dirty="0"/>
          </a:p>
        </p:txBody>
      </p:sp>
      <p:sp>
        <p:nvSpPr>
          <p:cNvPr id="9" name="Text 7"/>
          <p:cNvSpPr/>
          <p:nvPr/>
        </p:nvSpPr>
        <p:spPr>
          <a:xfrm>
            <a:off x="365760" y="1463040"/>
            <a:ext cx="3840480" cy="960120"/>
          </a:xfrm>
          <a:prstGeom prst="rect">
            <a:avLst/>
          </a:prstGeom>
          <a:noFill/>
          <a:ln/>
        </p:spPr>
        <p:txBody>
          <a:bodyPr wrap="square" lIns="0" tIns="0" rIns="0" bIns="0" rtlCol="0" anchor="ctr"/>
          <a:lstStyle/>
          <a:p>
            <a:pPr marL="0" indent="0">
              <a:buNone/>
            </a:pPr>
            <a:r>
              <a:rPr lang="en-US" sz="1100" dirty="0">
                <a:solidFill>
                  <a:srgbClr val="546E7A"/>
                </a:solidFill>
              </a:rPr>
              <a:t>The Fourier Transform maps a time-domain signal into the frequency domain. Every signal is expressed as a sum of infinite sinusoids (complex exponentials). Assumes the signal is stationary — frequency content does not change over time.</a:t>
            </a:r>
            <a:endParaRPr lang="en-US" sz="1100" dirty="0"/>
          </a:p>
        </p:txBody>
      </p:sp>
      <p:sp>
        <p:nvSpPr>
          <p:cNvPr id="10" name="Text 8"/>
          <p:cNvSpPr/>
          <p:nvPr/>
        </p:nvSpPr>
        <p:spPr>
          <a:xfrm>
            <a:off x="365760" y="2514600"/>
            <a:ext cx="4114800" cy="256032"/>
          </a:xfrm>
          <a:prstGeom prst="rect">
            <a:avLst/>
          </a:prstGeom>
          <a:noFill/>
          <a:ln/>
        </p:spPr>
        <p:txBody>
          <a:bodyPr wrap="square" lIns="0" tIns="0" rIns="0" bIns="0" rtlCol="0" anchor="ctr"/>
          <a:lstStyle/>
          <a:p>
            <a:pPr marL="0" indent="0">
              <a:buNone/>
            </a:pPr>
            <a:r>
              <a:rPr lang="en-US" sz="1200" b="1" dirty="0">
                <a:solidFill>
                  <a:srgbClr val="1565C0"/>
                </a:solidFill>
              </a:rPr>
              <a:t>Continuous Fourier Transform (CFT)</a:t>
            </a:r>
            <a:endParaRPr lang="en-US" sz="1200" dirty="0"/>
          </a:p>
        </p:txBody>
      </p:sp>
      <p:sp>
        <p:nvSpPr>
          <p:cNvPr id="11" name="Shape 9"/>
          <p:cNvSpPr/>
          <p:nvPr/>
        </p:nvSpPr>
        <p:spPr>
          <a:xfrm>
            <a:off x="365760" y="2816352"/>
            <a:ext cx="4114800" cy="868680"/>
          </a:xfrm>
          <a:prstGeom prst="rect">
            <a:avLst/>
          </a:prstGeom>
          <a:solidFill>
            <a:srgbClr val="E8F4FD"/>
          </a:solidFill>
          <a:ln w="19050">
            <a:solidFill>
              <a:srgbClr val="90CAF9"/>
            </a:solidFill>
            <a:prstDash val="solid"/>
          </a:ln>
          <a:effectLst>
            <a:outerShdw blurRad="50800" dist="25400" dir="8100000" algn="bl" rotWithShape="0">
              <a:srgbClr val="000000">
                <a:alpha val="8000"/>
              </a:srgbClr>
            </a:outerShdw>
          </a:effectLst>
        </p:spPr>
        <p:txBody>
          <a:bodyPr/>
          <a:lstStyle/>
          <a:p>
            <a:endParaRPr lang="en-US"/>
          </a:p>
        </p:txBody>
      </p:sp>
      <p:sp>
        <p:nvSpPr>
          <p:cNvPr id="12" name="Text 10"/>
          <p:cNvSpPr/>
          <p:nvPr/>
        </p:nvSpPr>
        <p:spPr>
          <a:xfrm>
            <a:off x="457200" y="2862072"/>
            <a:ext cx="3931920" cy="777240"/>
          </a:xfrm>
          <a:prstGeom prst="rect">
            <a:avLst/>
          </a:prstGeom>
          <a:noFill/>
          <a:ln/>
        </p:spPr>
        <p:txBody>
          <a:bodyPr wrap="square" rtlCol="0" anchor="ctr"/>
          <a:lstStyle/>
          <a:p>
            <a:pPr marL="0" indent="0" algn="l">
              <a:buNone/>
            </a:pPr>
            <a:r>
              <a:rPr lang="en-US" sz="1200" dirty="0">
                <a:solidFill>
                  <a:srgbClr val="1B2E4E"/>
                </a:solidFill>
                <a:latin typeface="Courier New" pitchFamily="34" charset="0"/>
                <a:ea typeface="Courier New" pitchFamily="34" charset="-122"/>
                <a:cs typeface="Courier New" pitchFamily="34" charset="-120"/>
              </a:rPr>
              <a:t>Forward:  X(f) = ∫₋∞^∞  x(t) · e^{−j2πft} dt</a:t>
            </a:r>
            <a:r>
              <a:rPr lang="en-US" sz="400" dirty="0">
                <a:solidFill>
                  <a:srgbClr val="1B2E4E"/>
                </a:solidFill>
                <a:latin typeface="Courier New" pitchFamily="34" charset="0"/>
                <a:ea typeface="Courier New" pitchFamily="34" charset="-122"/>
                <a:cs typeface="Courier New" pitchFamily="34" charset="-120"/>
              </a:rPr>
              <a:t> </a:t>
            </a:r>
            <a:r>
              <a:rPr lang="en-US" sz="1200" dirty="0">
                <a:solidFill>
                  <a:srgbClr val="00796B"/>
                </a:solidFill>
                <a:latin typeface="Courier New" pitchFamily="34" charset="0"/>
                <a:ea typeface="Courier New" pitchFamily="34" charset="-122"/>
                <a:cs typeface="Courier New" pitchFamily="34" charset="-120"/>
              </a:rPr>
              <a:t>Inverse:  x(t) = ∫₋∞^∞  X(f) · e^{+j2πft} df</a:t>
            </a:r>
            <a:endParaRPr lang="en-US" sz="1200" dirty="0"/>
          </a:p>
        </p:txBody>
      </p:sp>
      <p:sp>
        <p:nvSpPr>
          <p:cNvPr id="13" name="Text 11"/>
          <p:cNvSpPr/>
          <p:nvPr/>
        </p:nvSpPr>
        <p:spPr>
          <a:xfrm>
            <a:off x="365760" y="3794760"/>
            <a:ext cx="4114800" cy="256032"/>
          </a:xfrm>
          <a:prstGeom prst="rect">
            <a:avLst/>
          </a:prstGeom>
          <a:noFill/>
          <a:ln/>
        </p:spPr>
        <p:txBody>
          <a:bodyPr wrap="square" lIns="0" tIns="0" rIns="0" bIns="0" rtlCol="0" anchor="ctr"/>
          <a:lstStyle/>
          <a:p>
            <a:pPr marL="0" indent="0">
              <a:buNone/>
            </a:pPr>
            <a:r>
              <a:rPr lang="en-US" sz="1200" b="1" dirty="0">
                <a:solidFill>
                  <a:srgbClr val="1565C0"/>
                </a:solidFill>
              </a:rPr>
              <a:t>Discrete Fourier Transform (DFT)</a:t>
            </a:r>
            <a:endParaRPr lang="en-US" sz="1200" dirty="0"/>
          </a:p>
        </p:txBody>
      </p:sp>
      <p:sp>
        <p:nvSpPr>
          <p:cNvPr id="14" name="Shape 12"/>
          <p:cNvSpPr/>
          <p:nvPr/>
        </p:nvSpPr>
        <p:spPr>
          <a:xfrm>
            <a:off x="365760" y="4096512"/>
            <a:ext cx="4114800" cy="868680"/>
          </a:xfrm>
          <a:prstGeom prst="rect">
            <a:avLst/>
          </a:prstGeom>
          <a:solidFill>
            <a:srgbClr val="E8F4FD"/>
          </a:solidFill>
          <a:ln w="19050">
            <a:solidFill>
              <a:srgbClr val="90CAF9"/>
            </a:solidFill>
            <a:prstDash val="solid"/>
          </a:ln>
          <a:effectLst>
            <a:outerShdw blurRad="50800" dist="25400" dir="8100000" algn="bl" rotWithShape="0">
              <a:srgbClr val="000000">
                <a:alpha val="8000"/>
              </a:srgbClr>
            </a:outerShdw>
          </a:effectLst>
        </p:spPr>
        <p:txBody>
          <a:bodyPr/>
          <a:lstStyle/>
          <a:p>
            <a:endParaRPr lang="en-US"/>
          </a:p>
        </p:txBody>
      </p:sp>
      <p:sp>
        <p:nvSpPr>
          <p:cNvPr id="15" name="Text 13"/>
          <p:cNvSpPr/>
          <p:nvPr/>
        </p:nvSpPr>
        <p:spPr>
          <a:xfrm>
            <a:off x="457200" y="4142232"/>
            <a:ext cx="3931920" cy="777240"/>
          </a:xfrm>
          <a:prstGeom prst="rect">
            <a:avLst/>
          </a:prstGeom>
          <a:noFill/>
          <a:ln/>
        </p:spPr>
        <p:txBody>
          <a:bodyPr wrap="square" rtlCol="0" anchor="ctr"/>
          <a:lstStyle/>
          <a:p>
            <a:pPr marL="0" indent="0" algn="l">
              <a:buNone/>
            </a:pPr>
            <a:r>
              <a:rPr lang="en-US" sz="1200" dirty="0">
                <a:solidFill>
                  <a:srgbClr val="1B2E4E"/>
                </a:solidFill>
                <a:latin typeface="Courier New" pitchFamily="34" charset="0"/>
                <a:ea typeface="Courier New" pitchFamily="34" charset="-122"/>
                <a:cs typeface="Courier New" pitchFamily="34" charset="-120"/>
              </a:rPr>
              <a:t>X[k] = Σ_{n=0}^{N−1} x[n] · e^{−j2πkn/N}</a:t>
            </a:r>
            <a:r>
              <a:rPr lang="en-US" sz="400" dirty="0">
                <a:solidFill>
                  <a:srgbClr val="1B2E4E"/>
                </a:solidFill>
                <a:latin typeface="Courier New" pitchFamily="34" charset="0"/>
                <a:ea typeface="Courier New" pitchFamily="34" charset="-122"/>
                <a:cs typeface="Courier New" pitchFamily="34" charset="-120"/>
              </a:rPr>
              <a:t> </a:t>
            </a:r>
            <a:r>
              <a:rPr lang="en-US" sz="1200" dirty="0">
                <a:solidFill>
                  <a:srgbClr val="00796B"/>
                </a:solidFill>
                <a:latin typeface="Courier New" pitchFamily="34" charset="0"/>
                <a:ea typeface="Courier New" pitchFamily="34" charset="-122"/>
                <a:cs typeface="Courier New" pitchFamily="34" charset="-120"/>
              </a:rPr>
              <a:t>x[n] = (1/N) Σ_{k=0}^{N−1} X[k] · e^{+j2πkn/N}</a:t>
            </a:r>
            <a:endParaRPr lang="en-US" sz="1200" dirty="0"/>
          </a:p>
        </p:txBody>
      </p:sp>
      <p:sp>
        <p:nvSpPr>
          <p:cNvPr id="16" name="Text 14"/>
          <p:cNvSpPr/>
          <p:nvPr/>
        </p:nvSpPr>
        <p:spPr>
          <a:xfrm>
            <a:off x="4663440" y="1143000"/>
            <a:ext cx="4114800" cy="292608"/>
          </a:xfrm>
          <a:prstGeom prst="rect">
            <a:avLst/>
          </a:prstGeom>
          <a:noFill/>
          <a:ln/>
        </p:spPr>
        <p:txBody>
          <a:bodyPr wrap="square" lIns="0" tIns="0" rIns="0" bIns="0" rtlCol="0" anchor="ctr"/>
          <a:lstStyle/>
          <a:p>
            <a:pPr marL="0" indent="0">
              <a:buNone/>
            </a:pPr>
            <a:r>
              <a:rPr lang="en-US" sz="1400" b="1" dirty="0">
                <a:solidFill>
                  <a:srgbClr val="1B2E4E"/>
                </a:solidFill>
              </a:rPr>
              <a:t>Properties &amp; Notation</a:t>
            </a:r>
            <a:endParaRPr lang="en-US" sz="1400" dirty="0"/>
          </a:p>
        </p:txBody>
      </p:sp>
      <p:sp>
        <p:nvSpPr>
          <p:cNvPr id="17" name="Shape 15"/>
          <p:cNvSpPr/>
          <p:nvPr/>
        </p:nvSpPr>
        <p:spPr>
          <a:xfrm>
            <a:off x="4663440" y="1481328"/>
            <a:ext cx="4114800" cy="365760"/>
          </a:xfrm>
          <a:prstGeom prst="rect">
            <a:avLst/>
          </a:prstGeom>
          <a:solidFill>
            <a:srgbClr val="EEF2F7"/>
          </a:solidFill>
          <a:ln w="12700">
            <a:solidFill>
              <a:srgbClr val="EEF2F7"/>
            </a:solidFill>
            <a:prstDash val="solid"/>
          </a:ln>
          <a:effectLst>
            <a:outerShdw blurRad="50800" dist="25400" dir="8100000" algn="bl" rotWithShape="0">
              <a:srgbClr val="000000">
                <a:alpha val="8000"/>
              </a:srgbClr>
            </a:outerShdw>
          </a:effectLst>
        </p:spPr>
        <p:txBody>
          <a:bodyPr/>
          <a:lstStyle/>
          <a:p>
            <a:endParaRPr lang="en-US"/>
          </a:p>
        </p:txBody>
      </p:sp>
      <p:sp>
        <p:nvSpPr>
          <p:cNvPr id="18" name="Text 16"/>
          <p:cNvSpPr/>
          <p:nvPr/>
        </p:nvSpPr>
        <p:spPr>
          <a:xfrm>
            <a:off x="4754880" y="1499616"/>
            <a:ext cx="1097280" cy="320040"/>
          </a:xfrm>
          <a:prstGeom prst="rect">
            <a:avLst/>
          </a:prstGeom>
          <a:noFill/>
          <a:ln/>
        </p:spPr>
        <p:txBody>
          <a:bodyPr wrap="square" lIns="0" tIns="0" rIns="0" bIns="0" rtlCol="0" anchor="ctr"/>
          <a:lstStyle/>
          <a:p>
            <a:pPr marL="0" indent="0">
              <a:buNone/>
            </a:pPr>
            <a:r>
              <a:rPr lang="en-US" sz="1100" b="1" dirty="0">
                <a:solidFill>
                  <a:srgbClr val="1565C0"/>
                </a:solidFill>
                <a:latin typeface="Courier New" pitchFamily="34" charset="0"/>
                <a:ea typeface="Courier New" pitchFamily="34" charset="-122"/>
                <a:cs typeface="Courier New" pitchFamily="34" charset="-120"/>
              </a:rPr>
              <a:t>x(t)</a:t>
            </a:r>
            <a:endParaRPr lang="en-US" sz="1100" dirty="0"/>
          </a:p>
        </p:txBody>
      </p:sp>
      <p:sp>
        <p:nvSpPr>
          <p:cNvPr id="19" name="Text 17"/>
          <p:cNvSpPr/>
          <p:nvPr/>
        </p:nvSpPr>
        <p:spPr>
          <a:xfrm>
            <a:off x="5943600" y="1499616"/>
            <a:ext cx="2743200" cy="320040"/>
          </a:xfrm>
          <a:prstGeom prst="rect">
            <a:avLst/>
          </a:prstGeom>
          <a:noFill/>
          <a:ln/>
        </p:spPr>
        <p:txBody>
          <a:bodyPr wrap="square" lIns="0" tIns="0" rIns="0" bIns="0" rtlCol="0" anchor="ctr"/>
          <a:lstStyle/>
          <a:p>
            <a:pPr marL="0" indent="0">
              <a:buNone/>
            </a:pPr>
            <a:r>
              <a:rPr lang="en-US" sz="1000" dirty="0">
                <a:solidFill>
                  <a:srgbClr val="546E7A"/>
                </a:solidFill>
              </a:rPr>
              <a:t>Input time-domain signal</a:t>
            </a:r>
            <a:endParaRPr lang="en-US" sz="1000" dirty="0"/>
          </a:p>
        </p:txBody>
      </p:sp>
      <p:sp>
        <p:nvSpPr>
          <p:cNvPr id="20" name="Shape 18"/>
          <p:cNvSpPr/>
          <p:nvPr/>
        </p:nvSpPr>
        <p:spPr>
          <a:xfrm>
            <a:off x="4663440" y="1892808"/>
            <a:ext cx="4114800" cy="365760"/>
          </a:xfrm>
          <a:prstGeom prst="rect">
            <a:avLst/>
          </a:prstGeom>
          <a:solidFill>
            <a:srgbClr val="FAFBFD"/>
          </a:solidFill>
          <a:ln w="12700">
            <a:solidFill>
              <a:srgbClr val="FAFBFD"/>
            </a:solidFill>
            <a:prstDash val="solid"/>
          </a:ln>
          <a:effectLst>
            <a:outerShdw blurRad="50800" dist="25400" dir="8100000" algn="bl" rotWithShape="0">
              <a:srgbClr val="000000">
                <a:alpha val="8000"/>
              </a:srgbClr>
            </a:outerShdw>
          </a:effectLst>
        </p:spPr>
        <p:txBody>
          <a:bodyPr/>
          <a:lstStyle/>
          <a:p>
            <a:endParaRPr lang="en-US"/>
          </a:p>
        </p:txBody>
      </p:sp>
      <p:sp>
        <p:nvSpPr>
          <p:cNvPr id="21" name="Text 19"/>
          <p:cNvSpPr/>
          <p:nvPr/>
        </p:nvSpPr>
        <p:spPr>
          <a:xfrm>
            <a:off x="4754880" y="1911096"/>
            <a:ext cx="1097280" cy="320040"/>
          </a:xfrm>
          <a:prstGeom prst="rect">
            <a:avLst/>
          </a:prstGeom>
          <a:noFill/>
          <a:ln/>
        </p:spPr>
        <p:txBody>
          <a:bodyPr wrap="square" lIns="0" tIns="0" rIns="0" bIns="0" rtlCol="0" anchor="ctr"/>
          <a:lstStyle/>
          <a:p>
            <a:pPr marL="0" indent="0">
              <a:buNone/>
            </a:pPr>
            <a:r>
              <a:rPr lang="en-US" sz="1100" b="1" dirty="0">
                <a:solidFill>
                  <a:srgbClr val="1565C0"/>
                </a:solidFill>
                <a:latin typeface="Courier New" pitchFamily="34" charset="0"/>
                <a:ea typeface="Courier New" pitchFamily="34" charset="-122"/>
                <a:cs typeface="Courier New" pitchFamily="34" charset="-120"/>
              </a:rPr>
              <a:t>X(f)</a:t>
            </a:r>
            <a:endParaRPr lang="en-US" sz="1100" dirty="0"/>
          </a:p>
        </p:txBody>
      </p:sp>
      <p:sp>
        <p:nvSpPr>
          <p:cNvPr id="22" name="Text 20"/>
          <p:cNvSpPr/>
          <p:nvPr/>
        </p:nvSpPr>
        <p:spPr>
          <a:xfrm>
            <a:off x="5943600" y="1911096"/>
            <a:ext cx="2743200" cy="320040"/>
          </a:xfrm>
          <a:prstGeom prst="rect">
            <a:avLst/>
          </a:prstGeom>
          <a:noFill/>
          <a:ln/>
        </p:spPr>
        <p:txBody>
          <a:bodyPr wrap="square" lIns="0" tIns="0" rIns="0" bIns="0" rtlCol="0" anchor="ctr"/>
          <a:lstStyle/>
          <a:p>
            <a:pPr marL="0" indent="0">
              <a:buNone/>
            </a:pPr>
            <a:r>
              <a:rPr lang="en-US" sz="1000" dirty="0">
                <a:solidFill>
                  <a:srgbClr val="546E7A"/>
                </a:solidFill>
              </a:rPr>
              <a:t>Frequency-domain spectrum</a:t>
            </a:r>
            <a:endParaRPr lang="en-US" sz="1000" dirty="0"/>
          </a:p>
        </p:txBody>
      </p:sp>
      <p:sp>
        <p:nvSpPr>
          <p:cNvPr id="23" name="Shape 21"/>
          <p:cNvSpPr/>
          <p:nvPr/>
        </p:nvSpPr>
        <p:spPr>
          <a:xfrm>
            <a:off x="4663440" y="2304288"/>
            <a:ext cx="4114800" cy="365760"/>
          </a:xfrm>
          <a:prstGeom prst="rect">
            <a:avLst/>
          </a:prstGeom>
          <a:solidFill>
            <a:srgbClr val="EEF2F7"/>
          </a:solidFill>
          <a:ln w="12700">
            <a:solidFill>
              <a:srgbClr val="EEF2F7"/>
            </a:solidFill>
            <a:prstDash val="solid"/>
          </a:ln>
          <a:effectLst>
            <a:outerShdw blurRad="50800" dist="25400" dir="8100000" algn="bl" rotWithShape="0">
              <a:srgbClr val="000000">
                <a:alpha val="8000"/>
              </a:srgbClr>
            </a:outerShdw>
          </a:effectLst>
        </p:spPr>
        <p:txBody>
          <a:bodyPr/>
          <a:lstStyle/>
          <a:p>
            <a:endParaRPr lang="en-US"/>
          </a:p>
        </p:txBody>
      </p:sp>
      <p:sp>
        <p:nvSpPr>
          <p:cNvPr id="24" name="Text 22"/>
          <p:cNvSpPr/>
          <p:nvPr/>
        </p:nvSpPr>
        <p:spPr>
          <a:xfrm>
            <a:off x="4754880" y="2322576"/>
            <a:ext cx="1097280" cy="320040"/>
          </a:xfrm>
          <a:prstGeom prst="rect">
            <a:avLst/>
          </a:prstGeom>
          <a:noFill/>
          <a:ln/>
        </p:spPr>
        <p:txBody>
          <a:bodyPr wrap="square" lIns="0" tIns="0" rIns="0" bIns="0" rtlCol="0" anchor="ctr"/>
          <a:lstStyle/>
          <a:p>
            <a:pPr marL="0" indent="0">
              <a:buNone/>
            </a:pPr>
            <a:r>
              <a:rPr lang="en-US" sz="1100" b="1" dirty="0">
                <a:solidFill>
                  <a:srgbClr val="1565C0"/>
                </a:solidFill>
                <a:latin typeface="Courier New" pitchFamily="34" charset="0"/>
                <a:ea typeface="Courier New" pitchFamily="34" charset="-122"/>
                <a:cs typeface="Courier New" pitchFamily="34" charset="-120"/>
              </a:rPr>
              <a:t>f</a:t>
            </a:r>
            <a:endParaRPr lang="en-US" sz="1100" dirty="0"/>
          </a:p>
        </p:txBody>
      </p:sp>
      <p:sp>
        <p:nvSpPr>
          <p:cNvPr id="25" name="Text 23"/>
          <p:cNvSpPr/>
          <p:nvPr/>
        </p:nvSpPr>
        <p:spPr>
          <a:xfrm>
            <a:off x="5943600" y="2322576"/>
            <a:ext cx="2743200" cy="320040"/>
          </a:xfrm>
          <a:prstGeom prst="rect">
            <a:avLst/>
          </a:prstGeom>
          <a:noFill/>
          <a:ln/>
        </p:spPr>
        <p:txBody>
          <a:bodyPr wrap="square" lIns="0" tIns="0" rIns="0" bIns="0" rtlCol="0" anchor="ctr"/>
          <a:lstStyle/>
          <a:p>
            <a:pPr marL="0" indent="0">
              <a:buNone/>
            </a:pPr>
            <a:r>
              <a:rPr lang="en-US" sz="1000" dirty="0">
                <a:solidFill>
                  <a:srgbClr val="546E7A"/>
                </a:solidFill>
              </a:rPr>
              <a:t>Frequency (Hz)</a:t>
            </a:r>
            <a:endParaRPr lang="en-US" sz="1000" dirty="0"/>
          </a:p>
        </p:txBody>
      </p:sp>
      <p:sp>
        <p:nvSpPr>
          <p:cNvPr id="26" name="Shape 24"/>
          <p:cNvSpPr/>
          <p:nvPr/>
        </p:nvSpPr>
        <p:spPr>
          <a:xfrm>
            <a:off x="4663440" y="2715768"/>
            <a:ext cx="4114800" cy="365760"/>
          </a:xfrm>
          <a:prstGeom prst="rect">
            <a:avLst/>
          </a:prstGeom>
          <a:solidFill>
            <a:srgbClr val="FAFBFD"/>
          </a:solidFill>
          <a:ln w="12700">
            <a:solidFill>
              <a:srgbClr val="FAFBFD"/>
            </a:solidFill>
            <a:prstDash val="solid"/>
          </a:ln>
          <a:effectLst>
            <a:outerShdw blurRad="50800" dist="25400" dir="8100000" algn="bl" rotWithShape="0">
              <a:srgbClr val="000000">
                <a:alpha val="8000"/>
              </a:srgbClr>
            </a:outerShdw>
          </a:effectLst>
        </p:spPr>
        <p:txBody>
          <a:bodyPr/>
          <a:lstStyle/>
          <a:p>
            <a:endParaRPr lang="en-US"/>
          </a:p>
        </p:txBody>
      </p:sp>
      <p:sp>
        <p:nvSpPr>
          <p:cNvPr id="27" name="Text 25"/>
          <p:cNvSpPr/>
          <p:nvPr/>
        </p:nvSpPr>
        <p:spPr>
          <a:xfrm>
            <a:off x="4754880" y="2734056"/>
            <a:ext cx="1097280" cy="320040"/>
          </a:xfrm>
          <a:prstGeom prst="rect">
            <a:avLst/>
          </a:prstGeom>
          <a:noFill/>
          <a:ln/>
        </p:spPr>
        <p:txBody>
          <a:bodyPr wrap="square" lIns="0" tIns="0" rIns="0" bIns="0" rtlCol="0" anchor="ctr"/>
          <a:lstStyle/>
          <a:p>
            <a:pPr marL="0" indent="0">
              <a:buNone/>
            </a:pPr>
            <a:r>
              <a:rPr lang="en-US" sz="1100" b="1" dirty="0">
                <a:solidFill>
                  <a:srgbClr val="1565C0"/>
                </a:solidFill>
                <a:latin typeface="Courier New" pitchFamily="34" charset="0"/>
                <a:ea typeface="Courier New" pitchFamily="34" charset="-122"/>
                <a:cs typeface="Courier New" pitchFamily="34" charset="-120"/>
              </a:rPr>
              <a:t>j</a:t>
            </a:r>
            <a:endParaRPr lang="en-US" sz="1100" dirty="0"/>
          </a:p>
        </p:txBody>
      </p:sp>
      <p:sp>
        <p:nvSpPr>
          <p:cNvPr id="28" name="Text 26"/>
          <p:cNvSpPr/>
          <p:nvPr/>
        </p:nvSpPr>
        <p:spPr>
          <a:xfrm>
            <a:off x="5943600" y="2734056"/>
            <a:ext cx="2743200" cy="320040"/>
          </a:xfrm>
          <a:prstGeom prst="rect">
            <a:avLst/>
          </a:prstGeom>
          <a:noFill/>
          <a:ln/>
        </p:spPr>
        <p:txBody>
          <a:bodyPr wrap="square" lIns="0" tIns="0" rIns="0" bIns="0" rtlCol="0" anchor="ctr"/>
          <a:lstStyle/>
          <a:p>
            <a:pPr marL="0" indent="0">
              <a:buNone/>
            </a:pPr>
            <a:r>
              <a:rPr lang="en-US" sz="1000" dirty="0">
                <a:solidFill>
                  <a:srgbClr val="546E7A"/>
                </a:solidFill>
              </a:rPr>
              <a:t>Imaginary unit (√−1)</a:t>
            </a:r>
            <a:endParaRPr lang="en-US" sz="1000" dirty="0"/>
          </a:p>
        </p:txBody>
      </p:sp>
      <p:sp>
        <p:nvSpPr>
          <p:cNvPr id="29" name="Shape 27"/>
          <p:cNvSpPr/>
          <p:nvPr/>
        </p:nvSpPr>
        <p:spPr>
          <a:xfrm>
            <a:off x="4663440" y="3127248"/>
            <a:ext cx="4114800" cy="365760"/>
          </a:xfrm>
          <a:prstGeom prst="rect">
            <a:avLst/>
          </a:prstGeom>
          <a:solidFill>
            <a:srgbClr val="EEF2F7"/>
          </a:solidFill>
          <a:ln w="12700">
            <a:solidFill>
              <a:srgbClr val="EEF2F7"/>
            </a:solidFill>
            <a:prstDash val="solid"/>
          </a:ln>
          <a:effectLst>
            <a:outerShdw blurRad="50800" dist="25400" dir="8100000" algn="bl" rotWithShape="0">
              <a:srgbClr val="000000">
                <a:alpha val="8000"/>
              </a:srgbClr>
            </a:outerShdw>
          </a:effectLst>
        </p:spPr>
        <p:txBody>
          <a:bodyPr/>
          <a:lstStyle/>
          <a:p>
            <a:endParaRPr lang="en-US"/>
          </a:p>
        </p:txBody>
      </p:sp>
      <p:sp>
        <p:nvSpPr>
          <p:cNvPr id="30" name="Text 28"/>
          <p:cNvSpPr/>
          <p:nvPr/>
        </p:nvSpPr>
        <p:spPr>
          <a:xfrm>
            <a:off x="4754880" y="3145536"/>
            <a:ext cx="1097280" cy="320040"/>
          </a:xfrm>
          <a:prstGeom prst="rect">
            <a:avLst/>
          </a:prstGeom>
          <a:noFill/>
          <a:ln/>
        </p:spPr>
        <p:txBody>
          <a:bodyPr wrap="square" lIns="0" tIns="0" rIns="0" bIns="0" rtlCol="0" anchor="ctr"/>
          <a:lstStyle/>
          <a:p>
            <a:pPr marL="0" indent="0">
              <a:buNone/>
            </a:pPr>
            <a:r>
              <a:rPr lang="en-US" sz="1100" b="1" dirty="0">
                <a:solidFill>
                  <a:srgbClr val="1565C0"/>
                </a:solidFill>
                <a:latin typeface="Courier New" pitchFamily="34" charset="0"/>
                <a:ea typeface="Courier New" pitchFamily="34" charset="-122"/>
                <a:cs typeface="Courier New" pitchFamily="34" charset="-120"/>
              </a:rPr>
              <a:t>N</a:t>
            </a:r>
            <a:endParaRPr lang="en-US" sz="1100" dirty="0"/>
          </a:p>
        </p:txBody>
      </p:sp>
      <p:sp>
        <p:nvSpPr>
          <p:cNvPr id="31" name="Text 29"/>
          <p:cNvSpPr/>
          <p:nvPr/>
        </p:nvSpPr>
        <p:spPr>
          <a:xfrm>
            <a:off x="5943600" y="3145536"/>
            <a:ext cx="2743200" cy="320040"/>
          </a:xfrm>
          <a:prstGeom prst="rect">
            <a:avLst/>
          </a:prstGeom>
          <a:noFill/>
          <a:ln/>
        </p:spPr>
        <p:txBody>
          <a:bodyPr wrap="square" lIns="0" tIns="0" rIns="0" bIns="0" rtlCol="0" anchor="ctr"/>
          <a:lstStyle/>
          <a:p>
            <a:pPr marL="0" indent="0">
              <a:buNone/>
            </a:pPr>
            <a:r>
              <a:rPr lang="en-US" sz="1000" dirty="0">
                <a:solidFill>
                  <a:srgbClr val="546E7A"/>
                </a:solidFill>
              </a:rPr>
              <a:t>Number of samples (DFT)</a:t>
            </a:r>
            <a:endParaRPr lang="en-US" sz="1000" dirty="0"/>
          </a:p>
        </p:txBody>
      </p:sp>
      <p:sp>
        <p:nvSpPr>
          <p:cNvPr id="32" name="Shape 30"/>
          <p:cNvSpPr/>
          <p:nvPr/>
        </p:nvSpPr>
        <p:spPr>
          <a:xfrm>
            <a:off x="4663440" y="3538728"/>
            <a:ext cx="4114800" cy="365760"/>
          </a:xfrm>
          <a:prstGeom prst="rect">
            <a:avLst/>
          </a:prstGeom>
          <a:solidFill>
            <a:srgbClr val="FAFBFD"/>
          </a:solidFill>
          <a:ln w="12700">
            <a:solidFill>
              <a:srgbClr val="FAFBFD"/>
            </a:solidFill>
            <a:prstDash val="solid"/>
          </a:ln>
          <a:effectLst>
            <a:outerShdw blurRad="50800" dist="25400" dir="8100000" algn="bl" rotWithShape="0">
              <a:srgbClr val="000000">
                <a:alpha val="8000"/>
              </a:srgbClr>
            </a:outerShdw>
          </a:effectLst>
        </p:spPr>
        <p:txBody>
          <a:bodyPr/>
          <a:lstStyle/>
          <a:p>
            <a:endParaRPr lang="en-US"/>
          </a:p>
        </p:txBody>
      </p:sp>
      <p:sp>
        <p:nvSpPr>
          <p:cNvPr id="33" name="Text 31"/>
          <p:cNvSpPr/>
          <p:nvPr/>
        </p:nvSpPr>
        <p:spPr>
          <a:xfrm>
            <a:off x="4754880" y="3557016"/>
            <a:ext cx="1097280" cy="320040"/>
          </a:xfrm>
          <a:prstGeom prst="rect">
            <a:avLst/>
          </a:prstGeom>
          <a:noFill/>
          <a:ln/>
        </p:spPr>
        <p:txBody>
          <a:bodyPr wrap="square" lIns="0" tIns="0" rIns="0" bIns="0" rtlCol="0" anchor="ctr"/>
          <a:lstStyle/>
          <a:p>
            <a:pPr marL="0" indent="0">
              <a:buNone/>
            </a:pPr>
            <a:r>
              <a:rPr lang="en-US" sz="1100" b="1" dirty="0">
                <a:solidFill>
                  <a:srgbClr val="1565C0"/>
                </a:solidFill>
                <a:latin typeface="Courier New" pitchFamily="34" charset="0"/>
                <a:ea typeface="Courier New" pitchFamily="34" charset="-122"/>
                <a:cs typeface="Courier New" pitchFamily="34" charset="-120"/>
              </a:rPr>
              <a:t>k, n</a:t>
            </a:r>
            <a:endParaRPr lang="en-US" sz="1100" dirty="0"/>
          </a:p>
        </p:txBody>
      </p:sp>
      <p:sp>
        <p:nvSpPr>
          <p:cNvPr id="34" name="Text 32"/>
          <p:cNvSpPr/>
          <p:nvPr/>
        </p:nvSpPr>
        <p:spPr>
          <a:xfrm>
            <a:off x="5943600" y="3557016"/>
            <a:ext cx="2743200" cy="320040"/>
          </a:xfrm>
          <a:prstGeom prst="rect">
            <a:avLst/>
          </a:prstGeom>
          <a:noFill/>
          <a:ln/>
        </p:spPr>
        <p:txBody>
          <a:bodyPr wrap="square" lIns="0" tIns="0" rIns="0" bIns="0" rtlCol="0" anchor="ctr"/>
          <a:lstStyle/>
          <a:p>
            <a:pPr marL="0" indent="0">
              <a:buNone/>
            </a:pPr>
            <a:r>
              <a:rPr lang="en-US" sz="1000" dirty="0">
                <a:solidFill>
                  <a:srgbClr val="546E7A"/>
                </a:solidFill>
              </a:rPr>
              <a:t>Frequency / sample index</a:t>
            </a:r>
            <a:endParaRPr lang="en-US" sz="1000" dirty="0"/>
          </a:p>
        </p:txBody>
      </p:sp>
      <p:sp>
        <p:nvSpPr>
          <p:cNvPr id="35" name="Shape 33"/>
          <p:cNvSpPr/>
          <p:nvPr/>
        </p:nvSpPr>
        <p:spPr>
          <a:xfrm>
            <a:off x="4663440" y="3950208"/>
            <a:ext cx="4114800" cy="365760"/>
          </a:xfrm>
          <a:prstGeom prst="rect">
            <a:avLst/>
          </a:prstGeom>
          <a:solidFill>
            <a:srgbClr val="EEF2F7"/>
          </a:solidFill>
          <a:ln w="12700">
            <a:solidFill>
              <a:srgbClr val="EEF2F7"/>
            </a:solidFill>
            <a:prstDash val="solid"/>
          </a:ln>
          <a:effectLst>
            <a:outerShdw blurRad="50800" dist="25400" dir="8100000" algn="bl" rotWithShape="0">
              <a:srgbClr val="000000">
                <a:alpha val="8000"/>
              </a:srgbClr>
            </a:outerShdw>
          </a:effectLst>
        </p:spPr>
        <p:txBody>
          <a:bodyPr/>
          <a:lstStyle/>
          <a:p>
            <a:endParaRPr lang="en-US"/>
          </a:p>
        </p:txBody>
      </p:sp>
      <p:sp>
        <p:nvSpPr>
          <p:cNvPr id="36" name="Text 34"/>
          <p:cNvSpPr/>
          <p:nvPr/>
        </p:nvSpPr>
        <p:spPr>
          <a:xfrm>
            <a:off x="4754880" y="3968496"/>
            <a:ext cx="1097280" cy="320040"/>
          </a:xfrm>
          <a:prstGeom prst="rect">
            <a:avLst/>
          </a:prstGeom>
          <a:noFill/>
          <a:ln/>
        </p:spPr>
        <p:txBody>
          <a:bodyPr wrap="square" lIns="0" tIns="0" rIns="0" bIns="0" rtlCol="0" anchor="ctr"/>
          <a:lstStyle/>
          <a:p>
            <a:pPr marL="0" indent="0">
              <a:buNone/>
            </a:pPr>
            <a:r>
              <a:rPr lang="en-US" sz="1100" b="1" dirty="0">
                <a:solidFill>
                  <a:srgbClr val="1565C0"/>
                </a:solidFill>
                <a:latin typeface="Courier New" pitchFamily="34" charset="0"/>
                <a:ea typeface="Courier New" pitchFamily="34" charset="-122"/>
                <a:cs typeface="Courier New" pitchFamily="34" charset="-120"/>
              </a:rPr>
              <a:t>|X(f)|²</a:t>
            </a:r>
            <a:endParaRPr lang="en-US" sz="1100" dirty="0"/>
          </a:p>
        </p:txBody>
      </p:sp>
      <p:sp>
        <p:nvSpPr>
          <p:cNvPr id="37" name="Text 35"/>
          <p:cNvSpPr/>
          <p:nvPr/>
        </p:nvSpPr>
        <p:spPr>
          <a:xfrm>
            <a:off x="5943600" y="3968496"/>
            <a:ext cx="2743200" cy="320040"/>
          </a:xfrm>
          <a:prstGeom prst="rect">
            <a:avLst/>
          </a:prstGeom>
          <a:noFill/>
          <a:ln/>
        </p:spPr>
        <p:txBody>
          <a:bodyPr wrap="square" lIns="0" tIns="0" rIns="0" bIns="0" rtlCol="0" anchor="ctr"/>
          <a:lstStyle/>
          <a:p>
            <a:pPr marL="0" indent="0">
              <a:buNone/>
            </a:pPr>
            <a:r>
              <a:rPr lang="en-US" sz="1000" dirty="0">
                <a:solidFill>
                  <a:srgbClr val="546E7A"/>
                </a:solidFill>
              </a:rPr>
              <a:t>Power Spectral Density (PSD)</a:t>
            </a:r>
            <a:endParaRPr lang="en-US" sz="1000" dirty="0"/>
          </a:p>
        </p:txBody>
      </p:sp>
      <p:sp>
        <p:nvSpPr>
          <p:cNvPr id="38" name="Shape 36"/>
          <p:cNvSpPr/>
          <p:nvPr/>
        </p:nvSpPr>
        <p:spPr>
          <a:xfrm>
            <a:off x="4663440" y="4462272"/>
            <a:ext cx="4114800" cy="566928"/>
          </a:xfrm>
          <a:prstGeom prst="rect">
            <a:avLst/>
          </a:prstGeom>
          <a:solidFill>
            <a:srgbClr val="FFF3E0"/>
          </a:solidFill>
          <a:ln w="12700">
            <a:solidFill>
              <a:srgbClr val="FFF3E0"/>
            </a:solidFill>
            <a:prstDash val="solid"/>
          </a:ln>
          <a:effectLst>
            <a:outerShdw blurRad="50800" dist="25400" dir="8100000" algn="bl" rotWithShape="0">
              <a:srgbClr val="000000">
                <a:alpha val="8000"/>
              </a:srgbClr>
            </a:outerShdw>
          </a:effectLst>
        </p:spPr>
        <p:txBody>
          <a:bodyPr/>
          <a:lstStyle/>
          <a:p>
            <a:endParaRPr lang="en-US"/>
          </a:p>
        </p:txBody>
      </p:sp>
      <p:sp>
        <p:nvSpPr>
          <p:cNvPr id="39" name="Shape 37"/>
          <p:cNvSpPr/>
          <p:nvPr/>
        </p:nvSpPr>
        <p:spPr>
          <a:xfrm>
            <a:off x="4663440" y="4462272"/>
            <a:ext cx="73152" cy="566928"/>
          </a:xfrm>
          <a:prstGeom prst="rect">
            <a:avLst/>
          </a:prstGeom>
          <a:solidFill>
            <a:srgbClr val="E65100"/>
          </a:solidFill>
          <a:ln/>
        </p:spPr>
        <p:txBody>
          <a:bodyPr/>
          <a:lstStyle/>
          <a:p>
            <a:endParaRPr lang="en-US"/>
          </a:p>
        </p:txBody>
      </p:sp>
      <p:sp>
        <p:nvSpPr>
          <p:cNvPr id="40" name="Text 38"/>
          <p:cNvSpPr/>
          <p:nvPr/>
        </p:nvSpPr>
        <p:spPr>
          <a:xfrm>
            <a:off x="4828032" y="4498848"/>
            <a:ext cx="3749040" cy="228600"/>
          </a:xfrm>
          <a:prstGeom prst="rect">
            <a:avLst/>
          </a:prstGeom>
          <a:noFill/>
          <a:ln/>
        </p:spPr>
        <p:txBody>
          <a:bodyPr wrap="square" lIns="0" tIns="0" rIns="0" bIns="0" rtlCol="0" anchor="ctr"/>
          <a:lstStyle/>
          <a:p>
            <a:pPr marL="0" indent="0">
              <a:buNone/>
            </a:pPr>
            <a:r>
              <a:rPr lang="en-US" sz="1100" b="1" dirty="0">
                <a:solidFill>
                  <a:srgbClr val="E65100"/>
                </a:solidFill>
              </a:rPr>
              <a:t>Limitation: No Time Localization</a:t>
            </a:r>
            <a:endParaRPr lang="en-US" sz="1100" dirty="0"/>
          </a:p>
        </p:txBody>
      </p:sp>
      <p:sp>
        <p:nvSpPr>
          <p:cNvPr id="41" name="Text 39"/>
          <p:cNvSpPr/>
          <p:nvPr/>
        </p:nvSpPr>
        <p:spPr>
          <a:xfrm>
            <a:off x="4828032" y="4727448"/>
            <a:ext cx="3749040" cy="256032"/>
          </a:xfrm>
          <a:prstGeom prst="rect">
            <a:avLst/>
          </a:prstGeom>
          <a:noFill/>
          <a:ln/>
        </p:spPr>
        <p:txBody>
          <a:bodyPr wrap="square" lIns="0" tIns="0" rIns="0" bIns="0" rtlCol="0" anchor="ctr"/>
          <a:lstStyle/>
          <a:p>
            <a:pPr marL="0" indent="0">
              <a:buNone/>
            </a:pPr>
            <a:r>
              <a:rPr lang="en-US" sz="1000" dirty="0">
                <a:solidFill>
                  <a:srgbClr val="546E7A"/>
                </a:solidFill>
              </a:rPr>
              <a:t>FT tells WHAT frequencies exist, not WHEN they occur. Fails for non-stationary signals like PPG.</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1B2E4E"/>
          </a:solidFill>
          <a:ln/>
        </p:spPr>
        <p:txBody>
          <a:bodyPr/>
          <a:lstStyle/>
          <a:p>
            <a:endParaRPr lang="en-US"/>
          </a:p>
        </p:txBody>
      </p:sp>
      <p:sp>
        <p:nvSpPr>
          <p:cNvPr id="3" name="Text 1"/>
          <p:cNvSpPr/>
          <p:nvPr/>
        </p:nvSpPr>
        <p:spPr>
          <a:xfrm>
            <a:off x="365760" y="109728"/>
            <a:ext cx="8412480" cy="640080"/>
          </a:xfrm>
          <a:prstGeom prst="rect">
            <a:avLst/>
          </a:prstGeom>
          <a:noFill/>
          <a:ln/>
        </p:spPr>
        <p:txBody>
          <a:bodyPr wrap="square" lIns="0" tIns="0" rIns="0" bIns="0" rtlCol="0" anchor="ctr"/>
          <a:lstStyle/>
          <a:p>
            <a:pPr marL="0" indent="0">
              <a:buNone/>
            </a:pPr>
            <a:r>
              <a:rPr lang="en-US" sz="2600" b="1" dirty="0">
                <a:solidFill>
                  <a:srgbClr val="1B2E4E"/>
                </a:solidFill>
                <a:latin typeface="Calibri" pitchFamily="34" charset="0"/>
                <a:ea typeface="Calibri" pitchFamily="34" charset="-122"/>
                <a:cs typeface="Calibri" pitchFamily="34" charset="-120"/>
              </a:rPr>
              <a:t>Short-Time Fourier Transform (STFT)</a:t>
            </a:r>
            <a:endParaRPr lang="en-US" sz="2600" dirty="0"/>
          </a:p>
        </p:txBody>
      </p:sp>
      <p:sp>
        <p:nvSpPr>
          <p:cNvPr id="4" name="Text 2"/>
          <p:cNvSpPr/>
          <p:nvPr/>
        </p:nvSpPr>
        <p:spPr>
          <a:xfrm>
            <a:off x="365760" y="731520"/>
            <a:ext cx="8412480" cy="274320"/>
          </a:xfrm>
          <a:prstGeom prst="rect">
            <a:avLst/>
          </a:prstGeom>
          <a:noFill/>
          <a:ln/>
        </p:spPr>
        <p:txBody>
          <a:bodyPr wrap="square" lIns="0" tIns="0" rIns="0" bIns="0" rtlCol="0" anchor="ctr"/>
          <a:lstStyle/>
          <a:p>
            <a:pPr marL="0" indent="0">
              <a:buNone/>
            </a:pPr>
            <a:r>
              <a:rPr lang="en-US" sz="1300" i="1" dirty="0">
                <a:solidFill>
                  <a:srgbClr val="546E7A"/>
                </a:solidFill>
                <a:latin typeface="Calibri" pitchFamily="34" charset="0"/>
                <a:ea typeface="Calibri" pitchFamily="34" charset="-122"/>
                <a:cs typeface="Calibri" pitchFamily="34" charset="-120"/>
              </a:rPr>
              <a:t>Introducing time localization via a sliding window</a:t>
            </a:r>
            <a:endParaRPr lang="en-US" sz="1300" dirty="0"/>
          </a:p>
        </p:txBody>
      </p:sp>
      <p:sp>
        <p:nvSpPr>
          <p:cNvPr id="5" name="Shape 3"/>
          <p:cNvSpPr/>
          <p:nvPr/>
        </p:nvSpPr>
        <p:spPr>
          <a:xfrm>
            <a:off x="365760" y="1005840"/>
            <a:ext cx="8412480" cy="22860"/>
          </a:xfrm>
          <a:prstGeom prst="rect">
            <a:avLst/>
          </a:prstGeom>
          <a:solidFill>
            <a:srgbClr val="1565C0"/>
          </a:solidFill>
          <a:ln/>
        </p:spPr>
        <p:txBody>
          <a:bodyPr/>
          <a:lstStyle/>
          <a:p>
            <a:endParaRPr lang="en-US"/>
          </a:p>
        </p:txBody>
      </p:sp>
      <p:sp>
        <p:nvSpPr>
          <p:cNvPr id="7" name="Text 5"/>
          <p:cNvSpPr/>
          <p:nvPr/>
        </p:nvSpPr>
        <p:spPr>
          <a:xfrm>
            <a:off x="7772400" y="137160"/>
            <a:ext cx="1463040" cy="256032"/>
          </a:xfrm>
          <a:prstGeom prst="rect">
            <a:avLst/>
          </a:prstGeom>
          <a:noFill/>
          <a:ln/>
        </p:spPr>
        <p:txBody>
          <a:bodyPr wrap="square" lIns="0" tIns="0" rIns="0" bIns="0" rtlCol="0" anchor="ctr"/>
          <a:lstStyle/>
          <a:p>
            <a:pPr marL="0" indent="0" algn="ctr">
              <a:buNone/>
            </a:pPr>
            <a:r>
              <a:rPr lang="en-US" sz="900" b="1" dirty="0">
                <a:solidFill>
                  <a:srgbClr val="FFFFFF"/>
                </a:solidFill>
              </a:rPr>
              <a:t>SECTION 2</a:t>
            </a:r>
            <a:endParaRPr lang="en-US" sz="900" dirty="0"/>
          </a:p>
        </p:txBody>
      </p:sp>
      <p:sp>
        <p:nvSpPr>
          <p:cNvPr id="8" name="Text 6"/>
          <p:cNvSpPr/>
          <p:nvPr/>
        </p:nvSpPr>
        <p:spPr>
          <a:xfrm>
            <a:off x="365760" y="1143000"/>
            <a:ext cx="8412480" cy="274320"/>
          </a:xfrm>
          <a:prstGeom prst="rect">
            <a:avLst/>
          </a:prstGeom>
          <a:noFill/>
          <a:ln/>
        </p:spPr>
        <p:txBody>
          <a:bodyPr wrap="square" lIns="0" tIns="0" rIns="0" bIns="0" rtlCol="0" anchor="ctr"/>
          <a:lstStyle/>
          <a:p>
            <a:pPr marL="0" indent="0">
              <a:buNone/>
            </a:pPr>
            <a:r>
              <a:rPr lang="en-US" sz="1400" b="1" dirty="0">
                <a:solidFill>
                  <a:srgbClr val="1B2E4E"/>
                </a:solidFill>
              </a:rPr>
              <a:t>Core Idea</a:t>
            </a:r>
            <a:endParaRPr lang="en-US" sz="1400" dirty="0"/>
          </a:p>
        </p:txBody>
      </p:sp>
      <p:sp>
        <p:nvSpPr>
          <p:cNvPr id="9" name="Text 7"/>
          <p:cNvSpPr/>
          <p:nvPr/>
        </p:nvSpPr>
        <p:spPr>
          <a:xfrm>
            <a:off x="365760" y="1444752"/>
            <a:ext cx="8412480" cy="594360"/>
          </a:xfrm>
          <a:prstGeom prst="rect">
            <a:avLst/>
          </a:prstGeom>
          <a:noFill/>
          <a:ln/>
        </p:spPr>
        <p:txBody>
          <a:bodyPr wrap="square" lIns="0" tIns="0" rIns="0" bIns="0" rtlCol="0" anchor="ctr"/>
          <a:lstStyle/>
          <a:p>
            <a:pPr marL="0" indent="0">
              <a:buNone/>
            </a:pPr>
            <a:r>
              <a:rPr lang="en-US" sz="1100" dirty="0">
                <a:solidFill>
                  <a:srgbClr val="546E7A"/>
                </a:solidFill>
              </a:rPr>
              <a:t>Segment the signal with a sliding window w(t), apply FT within each segment. Trades global frequency precision for local time-frequency information. Resolution is fixed: narrow window → good time res, poor freq res; wide window → vice versa (Heisenberg uncertainty).</a:t>
            </a:r>
            <a:endParaRPr lang="en-US" sz="1100" dirty="0"/>
          </a:p>
        </p:txBody>
      </p:sp>
      <p:sp>
        <p:nvSpPr>
          <p:cNvPr id="10" name="Text 8"/>
          <p:cNvSpPr/>
          <p:nvPr/>
        </p:nvSpPr>
        <p:spPr>
          <a:xfrm>
            <a:off x="365760" y="2148840"/>
            <a:ext cx="4114800" cy="256032"/>
          </a:xfrm>
          <a:prstGeom prst="rect">
            <a:avLst/>
          </a:prstGeom>
          <a:noFill/>
          <a:ln/>
        </p:spPr>
        <p:txBody>
          <a:bodyPr wrap="square" lIns="0" tIns="0" rIns="0" bIns="0" rtlCol="0" anchor="ctr"/>
          <a:lstStyle/>
          <a:p>
            <a:pPr marL="0" indent="0">
              <a:buNone/>
            </a:pPr>
            <a:r>
              <a:rPr lang="en-US" sz="1300" b="1" dirty="0">
                <a:solidFill>
                  <a:srgbClr val="1565C0"/>
                </a:solidFill>
              </a:rPr>
              <a:t>Continuous STFT</a:t>
            </a:r>
            <a:endParaRPr lang="en-US" sz="1300" dirty="0"/>
          </a:p>
        </p:txBody>
      </p:sp>
      <p:sp>
        <p:nvSpPr>
          <p:cNvPr id="11" name="Shape 9"/>
          <p:cNvSpPr/>
          <p:nvPr/>
        </p:nvSpPr>
        <p:spPr>
          <a:xfrm>
            <a:off x="365760" y="2450592"/>
            <a:ext cx="4114800" cy="1005840"/>
          </a:xfrm>
          <a:prstGeom prst="rect">
            <a:avLst/>
          </a:prstGeom>
          <a:solidFill>
            <a:srgbClr val="E8F4FD"/>
          </a:solidFill>
          <a:ln w="19050">
            <a:solidFill>
              <a:srgbClr val="90CAF9"/>
            </a:solidFill>
            <a:prstDash val="solid"/>
          </a:ln>
          <a:effectLst>
            <a:outerShdw blurRad="50800" dist="25400" dir="8100000" algn="bl" rotWithShape="0">
              <a:srgbClr val="000000">
                <a:alpha val="8000"/>
              </a:srgbClr>
            </a:outerShdw>
          </a:effectLst>
        </p:spPr>
        <p:txBody>
          <a:bodyPr/>
          <a:lstStyle/>
          <a:p>
            <a:endParaRPr lang="en-US"/>
          </a:p>
        </p:txBody>
      </p:sp>
      <p:sp>
        <p:nvSpPr>
          <p:cNvPr id="12" name="Text 10"/>
          <p:cNvSpPr/>
          <p:nvPr/>
        </p:nvSpPr>
        <p:spPr>
          <a:xfrm>
            <a:off x="457200" y="2496312"/>
            <a:ext cx="3931920" cy="914400"/>
          </a:xfrm>
          <a:prstGeom prst="rect">
            <a:avLst/>
          </a:prstGeom>
          <a:noFill/>
          <a:ln/>
        </p:spPr>
        <p:txBody>
          <a:bodyPr wrap="square" rtlCol="0" anchor="ctr"/>
          <a:lstStyle/>
          <a:p>
            <a:pPr marL="0" indent="0" algn="l">
              <a:buNone/>
            </a:pPr>
            <a:r>
              <a:rPr lang="en-US" sz="1200" dirty="0">
                <a:solidFill>
                  <a:srgbClr val="1B2E4E"/>
                </a:solidFill>
                <a:latin typeface="Courier New" pitchFamily="34" charset="0"/>
                <a:ea typeface="Courier New" pitchFamily="34" charset="-122"/>
                <a:cs typeface="Courier New" pitchFamily="34" charset="-120"/>
              </a:rPr>
              <a:t>𝒮(τ,f) = ∫₋∞^∞ x(t)·w(t−τ)·e^{−j2πft} dt</a:t>
            </a:r>
            <a:r>
              <a:rPr lang="en-US" sz="300" dirty="0">
                <a:solidFill>
                  <a:srgbClr val="1B2E4E"/>
                </a:solidFill>
                <a:latin typeface="Courier New" pitchFamily="34" charset="0"/>
                <a:ea typeface="Courier New" pitchFamily="34" charset="-122"/>
                <a:cs typeface="Courier New" pitchFamily="34" charset="-120"/>
              </a:rPr>
              <a:t> </a:t>
            </a:r>
            <a:r>
              <a:rPr lang="en-US" sz="1000" dirty="0">
                <a:solidFill>
                  <a:srgbClr val="546E7A"/>
                </a:solidFill>
                <a:latin typeface="Courier New" pitchFamily="34" charset="0"/>
                <a:ea typeface="Courier New" pitchFamily="34" charset="-122"/>
                <a:cs typeface="Courier New" pitchFamily="34" charset="-120"/>
              </a:rPr>
              <a:t>τ = time shift (window center)w(t−τ) = analysis window function</a:t>
            </a:r>
            <a:endParaRPr lang="en-US" sz="1200" dirty="0"/>
          </a:p>
        </p:txBody>
      </p:sp>
      <p:sp>
        <p:nvSpPr>
          <p:cNvPr id="13" name="Text 11"/>
          <p:cNvSpPr/>
          <p:nvPr/>
        </p:nvSpPr>
        <p:spPr>
          <a:xfrm>
            <a:off x="4663440" y="2148840"/>
            <a:ext cx="4114800" cy="256032"/>
          </a:xfrm>
          <a:prstGeom prst="rect">
            <a:avLst/>
          </a:prstGeom>
          <a:noFill/>
          <a:ln/>
        </p:spPr>
        <p:txBody>
          <a:bodyPr wrap="square" lIns="0" tIns="0" rIns="0" bIns="0" rtlCol="0" anchor="ctr"/>
          <a:lstStyle/>
          <a:p>
            <a:pPr marL="0" indent="0">
              <a:buNone/>
            </a:pPr>
            <a:r>
              <a:rPr lang="en-US" sz="1300" b="1" dirty="0">
                <a:solidFill>
                  <a:srgbClr val="1565C0"/>
                </a:solidFill>
              </a:rPr>
              <a:t>Discrete STFT</a:t>
            </a:r>
            <a:endParaRPr lang="en-US" sz="1300" dirty="0"/>
          </a:p>
        </p:txBody>
      </p:sp>
      <p:sp>
        <p:nvSpPr>
          <p:cNvPr id="14" name="Shape 12"/>
          <p:cNvSpPr/>
          <p:nvPr/>
        </p:nvSpPr>
        <p:spPr>
          <a:xfrm>
            <a:off x="4663440" y="2450592"/>
            <a:ext cx="4114800" cy="1005840"/>
          </a:xfrm>
          <a:prstGeom prst="rect">
            <a:avLst/>
          </a:prstGeom>
          <a:solidFill>
            <a:srgbClr val="E8F4FD"/>
          </a:solidFill>
          <a:ln w="19050">
            <a:solidFill>
              <a:srgbClr val="90CAF9"/>
            </a:solidFill>
            <a:prstDash val="solid"/>
          </a:ln>
          <a:effectLst>
            <a:outerShdw blurRad="50800" dist="25400" dir="8100000" algn="bl" rotWithShape="0">
              <a:srgbClr val="000000">
                <a:alpha val="8000"/>
              </a:srgbClr>
            </a:outerShdw>
          </a:effectLst>
        </p:spPr>
        <p:txBody>
          <a:bodyPr/>
          <a:lstStyle/>
          <a:p>
            <a:endParaRPr lang="en-US"/>
          </a:p>
        </p:txBody>
      </p:sp>
      <p:sp>
        <p:nvSpPr>
          <p:cNvPr id="15" name="Text 13"/>
          <p:cNvSpPr/>
          <p:nvPr/>
        </p:nvSpPr>
        <p:spPr>
          <a:xfrm>
            <a:off x="4754880" y="2496312"/>
            <a:ext cx="3931920" cy="914400"/>
          </a:xfrm>
          <a:prstGeom prst="rect">
            <a:avLst/>
          </a:prstGeom>
          <a:noFill/>
          <a:ln/>
        </p:spPr>
        <p:txBody>
          <a:bodyPr wrap="square" rtlCol="0" anchor="ctr"/>
          <a:lstStyle/>
          <a:p>
            <a:pPr marL="0" indent="0" algn="l">
              <a:buNone/>
            </a:pPr>
            <a:r>
              <a:rPr lang="en-US" sz="1200" dirty="0">
                <a:solidFill>
                  <a:srgbClr val="1B2E4E"/>
                </a:solidFill>
                <a:latin typeface="Courier New" pitchFamily="34" charset="0"/>
                <a:ea typeface="Courier New" pitchFamily="34" charset="-122"/>
                <a:cs typeface="Courier New" pitchFamily="34" charset="-120"/>
              </a:rPr>
              <a:t>𝒮[</a:t>
            </a:r>
            <a:r>
              <a:rPr lang="en-US" sz="1200" dirty="0" err="1">
                <a:solidFill>
                  <a:srgbClr val="1B2E4E"/>
                </a:solidFill>
                <a:latin typeface="Courier New" pitchFamily="34" charset="0"/>
                <a:ea typeface="Courier New" pitchFamily="34" charset="-122"/>
                <a:cs typeface="Courier New" pitchFamily="34" charset="-120"/>
              </a:rPr>
              <a:t>m,k</a:t>
            </a:r>
            <a:r>
              <a:rPr lang="en-US" sz="1200" dirty="0">
                <a:solidFill>
                  <a:srgbClr val="1B2E4E"/>
                </a:solidFill>
                <a:latin typeface="Courier New" pitchFamily="34" charset="0"/>
                <a:ea typeface="Courier New" pitchFamily="34" charset="-122"/>
                <a:cs typeface="Courier New" pitchFamily="34" charset="-120"/>
              </a:rPr>
              <a:t>] = </a:t>
            </a:r>
            <a:r>
              <a:rPr lang="en-US" sz="1200" dirty="0" err="1">
                <a:solidFill>
                  <a:srgbClr val="1B2E4E"/>
                </a:solidFill>
                <a:latin typeface="Courier New" pitchFamily="34" charset="0"/>
                <a:ea typeface="Courier New" pitchFamily="34" charset="-122"/>
                <a:cs typeface="Courier New" pitchFamily="34" charset="-120"/>
              </a:rPr>
              <a:t>Σ</a:t>
            </a:r>
            <a:r>
              <a:rPr lang="en-US" sz="1200" dirty="0">
                <a:solidFill>
                  <a:srgbClr val="1B2E4E"/>
                </a:solidFill>
                <a:latin typeface="Courier New" pitchFamily="34" charset="0"/>
                <a:ea typeface="Courier New" pitchFamily="34" charset="-122"/>
                <a:cs typeface="Courier New" pitchFamily="34" charset="-120"/>
              </a:rPr>
              <a:t>ₙ x[n]·w[n−</a:t>
            </a:r>
            <a:r>
              <a:rPr lang="en-US" sz="1200" dirty="0" err="1">
                <a:solidFill>
                  <a:srgbClr val="1B2E4E"/>
                </a:solidFill>
                <a:latin typeface="Courier New" pitchFamily="34" charset="0"/>
                <a:ea typeface="Courier New" pitchFamily="34" charset="-122"/>
                <a:cs typeface="Courier New" pitchFamily="34" charset="-120"/>
              </a:rPr>
              <a:t>mH</a:t>
            </a:r>
            <a:r>
              <a:rPr lang="en-US" sz="1200" dirty="0">
                <a:solidFill>
                  <a:srgbClr val="1B2E4E"/>
                </a:solidFill>
                <a:latin typeface="Courier New" pitchFamily="34" charset="0"/>
                <a:ea typeface="Courier New" pitchFamily="34" charset="-122"/>
                <a:cs typeface="Courier New" pitchFamily="34" charset="-120"/>
              </a:rPr>
              <a:t>]·e^{−j2π</a:t>
            </a:r>
            <a:r>
              <a:rPr lang="en-US" sz="1200" dirty="0" err="1">
                <a:solidFill>
                  <a:srgbClr val="1B2E4E"/>
                </a:solidFill>
                <a:latin typeface="Courier New" pitchFamily="34" charset="0"/>
                <a:ea typeface="Courier New" pitchFamily="34" charset="-122"/>
                <a:cs typeface="Courier New" pitchFamily="34" charset="-120"/>
              </a:rPr>
              <a:t>kn</a:t>
            </a:r>
            <a:r>
              <a:rPr lang="en-US" sz="1200" dirty="0">
                <a:solidFill>
                  <a:srgbClr val="1B2E4E"/>
                </a:solidFill>
                <a:latin typeface="Courier New" pitchFamily="34" charset="0"/>
                <a:ea typeface="Courier New" pitchFamily="34" charset="-122"/>
                <a:cs typeface="Courier New" pitchFamily="34" charset="-120"/>
              </a:rPr>
              <a:t>/N, </a:t>
            </a:r>
          </a:p>
          <a:p>
            <a:pPr marL="0" indent="0" algn="l">
              <a:buNone/>
            </a:pPr>
            <a:r>
              <a:rPr lang="en-US" sz="300" dirty="0">
                <a:solidFill>
                  <a:srgbClr val="1B2E4E"/>
                </a:solidFill>
                <a:latin typeface="Courier New" pitchFamily="34" charset="0"/>
                <a:ea typeface="Courier New" pitchFamily="34" charset="-122"/>
                <a:cs typeface="Courier New" pitchFamily="34" charset="-120"/>
              </a:rPr>
              <a:t> </a:t>
            </a:r>
            <a:r>
              <a:rPr lang="en-US" sz="1000" dirty="0">
                <a:solidFill>
                  <a:srgbClr val="546E7A"/>
                </a:solidFill>
                <a:latin typeface="Courier New" pitchFamily="34" charset="0"/>
                <a:ea typeface="Courier New" pitchFamily="34" charset="-122"/>
                <a:cs typeface="Courier New" pitchFamily="34" charset="-120"/>
              </a:rPr>
              <a:t>m = frame index,   H = hop size, N = DFT length (FFT window size)</a:t>
            </a:r>
            <a:endParaRPr lang="en-US" sz="1200" dirty="0"/>
          </a:p>
        </p:txBody>
      </p:sp>
      <p:sp>
        <p:nvSpPr>
          <p:cNvPr id="16" name="Text 14"/>
          <p:cNvSpPr/>
          <p:nvPr/>
        </p:nvSpPr>
        <p:spPr>
          <a:xfrm>
            <a:off x="365760" y="3566160"/>
            <a:ext cx="4114800" cy="256032"/>
          </a:xfrm>
          <a:prstGeom prst="rect">
            <a:avLst/>
          </a:prstGeom>
          <a:noFill/>
          <a:ln/>
        </p:spPr>
        <p:txBody>
          <a:bodyPr wrap="square" lIns="0" tIns="0" rIns="0" bIns="0" rtlCol="0" anchor="ctr"/>
          <a:lstStyle/>
          <a:p>
            <a:pPr marL="0" indent="0">
              <a:buNone/>
            </a:pPr>
            <a:r>
              <a:rPr lang="en-US" sz="1200" b="1" dirty="0">
                <a:solidFill>
                  <a:srgbClr val="1B2E4E"/>
                </a:solidFill>
              </a:rPr>
              <a:t>Spectrogram (Power):</a:t>
            </a:r>
            <a:endParaRPr lang="en-US" sz="1200" dirty="0"/>
          </a:p>
        </p:txBody>
      </p:sp>
      <p:sp>
        <p:nvSpPr>
          <p:cNvPr id="17" name="Shape 15"/>
          <p:cNvSpPr/>
          <p:nvPr/>
        </p:nvSpPr>
        <p:spPr>
          <a:xfrm>
            <a:off x="365760" y="3858768"/>
            <a:ext cx="4114800" cy="411480"/>
          </a:xfrm>
          <a:prstGeom prst="rect">
            <a:avLst/>
          </a:prstGeom>
          <a:solidFill>
            <a:srgbClr val="E8F4FD"/>
          </a:solidFill>
          <a:ln w="19050">
            <a:solidFill>
              <a:srgbClr val="90CAF9"/>
            </a:solidFill>
            <a:prstDash val="solid"/>
          </a:ln>
          <a:effectLst>
            <a:outerShdw blurRad="50800" dist="25400" dir="8100000" algn="bl" rotWithShape="0">
              <a:srgbClr val="000000">
                <a:alpha val="8000"/>
              </a:srgbClr>
            </a:outerShdw>
          </a:effectLst>
        </p:spPr>
        <p:txBody>
          <a:bodyPr/>
          <a:lstStyle/>
          <a:p>
            <a:endParaRPr lang="en-US"/>
          </a:p>
        </p:txBody>
      </p:sp>
      <p:sp>
        <p:nvSpPr>
          <p:cNvPr id="18" name="Text 16"/>
          <p:cNvSpPr/>
          <p:nvPr/>
        </p:nvSpPr>
        <p:spPr>
          <a:xfrm>
            <a:off x="457200" y="3904488"/>
            <a:ext cx="3931920" cy="320040"/>
          </a:xfrm>
          <a:prstGeom prst="rect">
            <a:avLst/>
          </a:prstGeom>
          <a:noFill/>
          <a:ln/>
        </p:spPr>
        <p:txBody>
          <a:bodyPr wrap="square" rtlCol="0" anchor="ctr"/>
          <a:lstStyle/>
          <a:p>
            <a:pPr marL="0" indent="0" algn="l">
              <a:buNone/>
            </a:pPr>
            <a:r>
              <a:rPr lang="en-US" sz="1200" dirty="0">
                <a:solidFill>
                  <a:srgbClr val="1B2E4E"/>
                </a:solidFill>
                <a:latin typeface="Courier New" pitchFamily="34" charset="0"/>
                <a:ea typeface="Courier New" pitchFamily="34" charset="-122"/>
                <a:cs typeface="Courier New" pitchFamily="34" charset="-120"/>
              </a:rPr>
              <a:t>Spec(τ,f) = |𝒮(τ,f)|²</a:t>
            </a:r>
            <a:endParaRPr lang="en-US" sz="1200" dirty="0"/>
          </a:p>
        </p:txBody>
      </p:sp>
      <p:sp>
        <p:nvSpPr>
          <p:cNvPr id="19" name="Text 17"/>
          <p:cNvSpPr/>
          <p:nvPr/>
        </p:nvSpPr>
        <p:spPr>
          <a:xfrm>
            <a:off x="4663440" y="3566160"/>
            <a:ext cx="4114800" cy="256032"/>
          </a:xfrm>
          <a:prstGeom prst="rect">
            <a:avLst/>
          </a:prstGeom>
          <a:noFill/>
          <a:ln/>
        </p:spPr>
        <p:txBody>
          <a:bodyPr wrap="square" lIns="0" tIns="0" rIns="0" bIns="0" rtlCol="0" anchor="ctr"/>
          <a:lstStyle/>
          <a:p>
            <a:pPr marL="0" indent="0">
              <a:buNone/>
            </a:pPr>
            <a:r>
              <a:rPr lang="en-US" sz="1300" b="1" dirty="0">
                <a:solidFill>
                  <a:srgbClr val="1B2E4E"/>
                </a:solidFill>
              </a:rPr>
              <a:t>Time–Frequency Resolution Trade-Off</a:t>
            </a:r>
            <a:endParaRPr lang="en-US" sz="13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663440" y="3858768"/>
          <a:ext cx="4114800" cy="1005840"/>
        </p:xfrm>
        <a:graphic>
          <a:graphicData uri="http://schemas.openxmlformats.org/drawingml/2006/table">
            <a:tbl>
              <a:tblPr/>
              <a:tblGrid>
                <a:gridCol w="164592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tblGrid>
              <a:tr h="251460">
                <a:tc>
                  <a:txBody>
                    <a:bodyPr/>
                    <a:lstStyle/>
                    <a:p>
                      <a:pPr marL="0" indent="0">
                        <a:buNone/>
                      </a:pPr>
                      <a:r>
                        <a:rPr lang="en-US" sz="1000" b="1" dirty="0">
                          <a:solidFill>
                            <a:srgbClr val="FFFFFF"/>
                          </a:solidFill>
                        </a:rPr>
                        <a:t>Window Size</a:t>
                      </a:r>
                      <a:endParaRPr lang="en-US" sz="1000" dirty="0"/>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565C0"/>
                    </a:solidFill>
                  </a:tcPr>
                </a:tc>
                <a:tc>
                  <a:txBody>
                    <a:bodyPr/>
                    <a:lstStyle/>
                    <a:p>
                      <a:pPr marL="0" indent="0">
                        <a:buNone/>
                      </a:pPr>
                      <a:r>
                        <a:rPr lang="en-US" sz="1000" b="1" dirty="0">
                          <a:solidFill>
                            <a:srgbClr val="FFFFFF"/>
                          </a:solidFill>
                        </a:rPr>
                        <a:t>Time Res.</a:t>
                      </a:r>
                      <a:endParaRPr lang="en-US" sz="1000" dirty="0"/>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565C0"/>
                    </a:solidFill>
                  </a:tcPr>
                </a:tc>
                <a:tc>
                  <a:txBody>
                    <a:bodyPr/>
                    <a:lstStyle/>
                    <a:p>
                      <a:pPr marL="0" indent="0">
                        <a:buNone/>
                      </a:pPr>
                      <a:r>
                        <a:rPr lang="en-US" sz="1000" b="1" dirty="0">
                          <a:solidFill>
                            <a:srgbClr val="FFFFFF"/>
                          </a:solidFill>
                        </a:rPr>
                        <a:t>Freq. Res.</a:t>
                      </a:r>
                      <a:endParaRPr lang="en-US" sz="1000" dirty="0"/>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565C0"/>
                    </a:solidFill>
                  </a:tcPr>
                </a:tc>
                <a:extLst>
                  <a:ext uri="{0D108BD9-81ED-4DB2-BD59-A6C34878D82A}">
                    <a16:rowId xmlns:a16="http://schemas.microsoft.com/office/drawing/2014/main" val="10000"/>
                  </a:ext>
                </a:extLst>
              </a:tr>
              <a:tr h="251460">
                <a:tc>
                  <a:txBody>
                    <a:bodyPr/>
                    <a:lstStyle/>
                    <a:p>
                      <a:pPr marL="0" indent="0">
                        <a:buNone/>
                      </a:pPr>
                      <a:r>
                        <a:rPr lang="en-US" sz="1000" dirty="0">
                          <a:solidFill>
                            <a:srgbClr val="000000"/>
                          </a:solidFill>
                        </a:rPr>
                        <a:t>Narrow (Short)</a:t>
                      </a:r>
                      <a:endParaRPr lang="en-US" sz="1000" dirty="0"/>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EF2F7"/>
                    </a:solidFill>
                  </a:tcPr>
                </a:tc>
                <a:tc>
                  <a:txBody>
                    <a:bodyPr/>
                    <a:lstStyle/>
                    <a:p>
                      <a:pPr marL="0" indent="0">
                        <a:buNone/>
                      </a:pPr>
                      <a:r>
                        <a:rPr lang="en-US" sz="1000" dirty="0">
                          <a:solidFill>
                            <a:srgbClr val="000000"/>
                          </a:solidFill>
                        </a:rPr>
                        <a:t>✔ High</a:t>
                      </a:r>
                      <a:endParaRPr lang="en-US" sz="1000" dirty="0"/>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EF2F7"/>
                    </a:solidFill>
                  </a:tcPr>
                </a:tc>
                <a:tc>
                  <a:txBody>
                    <a:bodyPr/>
                    <a:lstStyle/>
                    <a:p>
                      <a:pPr marL="0" indent="0">
                        <a:buNone/>
                      </a:pPr>
                      <a:r>
                        <a:rPr lang="en-US" sz="1000" dirty="0">
                          <a:solidFill>
                            <a:srgbClr val="000000"/>
                          </a:solidFill>
                        </a:rPr>
                        <a:t>✘ Low</a:t>
                      </a:r>
                      <a:endParaRPr lang="en-US" sz="1000" dirty="0"/>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EF2F7"/>
                    </a:solidFill>
                  </a:tcPr>
                </a:tc>
                <a:extLst>
                  <a:ext uri="{0D108BD9-81ED-4DB2-BD59-A6C34878D82A}">
                    <a16:rowId xmlns:a16="http://schemas.microsoft.com/office/drawing/2014/main" val="10001"/>
                  </a:ext>
                </a:extLst>
              </a:tr>
              <a:tr h="251460">
                <a:tc>
                  <a:txBody>
                    <a:bodyPr/>
                    <a:lstStyle/>
                    <a:p>
                      <a:pPr marL="0" indent="0">
                        <a:buNone/>
                      </a:pPr>
                      <a:r>
                        <a:rPr lang="en-US" sz="1000" dirty="0">
                          <a:solidFill>
                            <a:srgbClr val="000000"/>
                          </a:solidFill>
                        </a:rPr>
                        <a:t>Wide (Long)</a:t>
                      </a:r>
                      <a:endParaRPr lang="en-US" sz="1000" dirty="0"/>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EF2F7"/>
                    </a:solidFill>
                  </a:tcPr>
                </a:tc>
                <a:tc>
                  <a:txBody>
                    <a:bodyPr/>
                    <a:lstStyle/>
                    <a:p>
                      <a:pPr marL="0" indent="0">
                        <a:buNone/>
                      </a:pPr>
                      <a:r>
                        <a:rPr lang="en-US" sz="1000" dirty="0">
                          <a:solidFill>
                            <a:srgbClr val="000000"/>
                          </a:solidFill>
                        </a:rPr>
                        <a:t>✘ Low</a:t>
                      </a:r>
                      <a:endParaRPr lang="en-US" sz="1000" dirty="0"/>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EF2F7"/>
                    </a:solidFill>
                  </a:tcPr>
                </a:tc>
                <a:tc>
                  <a:txBody>
                    <a:bodyPr/>
                    <a:lstStyle/>
                    <a:p>
                      <a:pPr marL="0" indent="0">
                        <a:buNone/>
                      </a:pPr>
                      <a:r>
                        <a:rPr lang="en-US" sz="1000" dirty="0">
                          <a:solidFill>
                            <a:srgbClr val="000000"/>
                          </a:solidFill>
                        </a:rPr>
                        <a:t>✔ High</a:t>
                      </a:r>
                      <a:endParaRPr lang="en-US" sz="1000" dirty="0"/>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251460">
                <a:tc>
                  <a:txBody>
                    <a:bodyPr/>
                    <a:lstStyle/>
                    <a:p>
                      <a:pPr marL="0" indent="0">
                        <a:buNone/>
                      </a:pPr>
                      <a:r>
                        <a:rPr lang="en-US" sz="1000" dirty="0">
                          <a:solidFill>
                            <a:srgbClr val="000000"/>
                          </a:solidFill>
                        </a:rPr>
                        <a:t>Fixed — same for all f</a:t>
                      </a:r>
                      <a:endParaRPr lang="en-US" sz="1000" dirty="0"/>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EF2F7"/>
                    </a:solidFill>
                  </a:tcPr>
                </a:tc>
                <a:tc>
                  <a:txBody>
                    <a:bodyPr/>
                    <a:lstStyle/>
                    <a:p>
                      <a:pPr marL="0" indent="0">
                        <a:buNone/>
                      </a:pPr>
                      <a:r>
                        <a:rPr lang="en-US" sz="1000" dirty="0">
                          <a:solidFill>
                            <a:srgbClr val="000000"/>
                          </a:solidFill>
                        </a:rPr>
                        <a:t>No adaptability</a:t>
                      </a:r>
                      <a:endParaRPr lang="en-US" sz="1000" dirty="0"/>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EF2F7"/>
                    </a:solidFill>
                  </a:tcPr>
                </a:tc>
                <a:tc>
                  <a:txBody>
                    <a:bodyPr/>
                    <a:lstStyle/>
                    <a:p>
                      <a:pPr marL="0" indent="0">
                        <a:buNone/>
                      </a:pPr>
                      <a:r>
                        <a:rPr lang="en-US" sz="1000" dirty="0">
                          <a:solidFill>
                            <a:srgbClr val="000000"/>
                          </a:solidFill>
                        </a:rPr>
                        <a:t>Heisenberg limit</a:t>
                      </a:r>
                      <a:endParaRPr lang="en-US" sz="1000" dirty="0"/>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EF2F7"/>
                    </a:solidFill>
                  </a:tcPr>
                </a:tc>
                <a:extLst>
                  <a:ext uri="{0D108BD9-81ED-4DB2-BD59-A6C34878D82A}">
                    <a16:rowId xmlns:a16="http://schemas.microsoft.com/office/drawing/2014/main" val="10003"/>
                  </a:ext>
                </a:extLst>
              </a:tr>
            </a:tbl>
          </a:graphicData>
        </a:graphic>
      </p:graphicFrame>
      <p:sp>
        <p:nvSpPr>
          <p:cNvPr id="21" name="Shape 18"/>
          <p:cNvSpPr/>
          <p:nvPr/>
        </p:nvSpPr>
        <p:spPr>
          <a:xfrm>
            <a:off x="365760" y="4315968"/>
            <a:ext cx="8412480" cy="640080"/>
          </a:xfrm>
          <a:prstGeom prst="rect">
            <a:avLst/>
          </a:prstGeom>
          <a:solidFill>
            <a:srgbClr val="FFF3E0"/>
          </a:solidFill>
          <a:ln w="12700">
            <a:solidFill>
              <a:srgbClr val="FFF3E0"/>
            </a:solidFill>
            <a:prstDash val="solid"/>
          </a:ln>
          <a:effectLst>
            <a:outerShdw blurRad="50800" dist="25400" dir="8100000" algn="bl" rotWithShape="0">
              <a:srgbClr val="000000">
                <a:alpha val="8000"/>
              </a:srgbClr>
            </a:outerShdw>
          </a:effectLst>
        </p:spPr>
        <p:txBody>
          <a:bodyPr/>
          <a:lstStyle/>
          <a:p>
            <a:endParaRPr lang="en-US"/>
          </a:p>
        </p:txBody>
      </p:sp>
      <p:sp>
        <p:nvSpPr>
          <p:cNvPr id="22" name="Shape 19"/>
          <p:cNvSpPr/>
          <p:nvPr/>
        </p:nvSpPr>
        <p:spPr>
          <a:xfrm>
            <a:off x="365760" y="4315968"/>
            <a:ext cx="73152" cy="640080"/>
          </a:xfrm>
          <a:prstGeom prst="rect">
            <a:avLst/>
          </a:prstGeom>
          <a:solidFill>
            <a:srgbClr val="E65100"/>
          </a:solidFill>
          <a:ln/>
        </p:spPr>
        <p:txBody>
          <a:bodyPr/>
          <a:lstStyle/>
          <a:p>
            <a:endParaRPr lang="en-US"/>
          </a:p>
        </p:txBody>
      </p:sp>
      <p:sp>
        <p:nvSpPr>
          <p:cNvPr id="23" name="Text 20"/>
          <p:cNvSpPr/>
          <p:nvPr/>
        </p:nvSpPr>
        <p:spPr>
          <a:xfrm>
            <a:off x="530352" y="4352544"/>
            <a:ext cx="4114800" cy="228600"/>
          </a:xfrm>
          <a:prstGeom prst="rect">
            <a:avLst/>
          </a:prstGeom>
          <a:noFill/>
          <a:ln/>
        </p:spPr>
        <p:txBody>
          <a:bodyPr wrap="square" lIns="0" tIns="0" rIns="0" bIns="0" rtlCol="0" anchor="ctr"/>
          <a:lstStyle/>
          <a:p>
            <a:pPr marL="0" indent="0">
              <a:buNone/>
            </a:pPr>
            <a:r>
              <a:rPr lang="en-US" sz="1100" b="1" dirty="0">
                <a:solidFill>
                  <a:srgbClr val="E65100"/>
                </a:solidFill>
              </a:rPr>
              <a:t> Key Limitation of STFT</a:t>
            </a:r>
            <a:endParaRPr lang="en-US" sz="1100" dirty="0"/>
          </a:p>
        </p:txBody>
      </p:sp>
      <p:sp>
        <p:nvSpPr>
          <p:cNvPr id="24" name="Text 21"/>
          <p:cNvSpPr/>
          <p:nvPr/>
        </p:nvSpPr>
        <p:spPr>
          <a:xfrm>
            <a:off x="530352" y="4572000"/>
            <a:ext cx="8138160" cy="320040"/>
          </a:xfrm>
          <a:prstGeom prst="rect">
            <a:avLst/>
          </a:prstGeom>
          <a:noFill/>
          <a:ln/>
        </p:spPr>
        <p:txBody>
          <a:bodyPr wrap="square" lIns="0" tIns="0" rIns="0" bIns="0" rtlCol="0" anchor="ctr"/>
          <a:lstStyle/>
          <a:p>
            <a:pPr marL="0" indent="0">
              <a:buNone/>
            </a:pPr>
            <a:r>
              <a:rPr lang="en-US" sz="1000" dirty="0">
                <a:solidFill>
                  <a:srgbClr val="546E7A"/>
                </a:solidFill>
              </a:rPr>
              <a:t>Fixed window size = fixed resolution at ALL frequencies. Cannot simultaneously resolve high-freq transients AND low-freq trends — critical for PPG which has both respiratory (0.1–0.5 Hz) and cardiac (1–3 Hz) components.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1B2E4E"/>
          </a:solidFill>
          <a:ln/>
        </p:spPr>
        <p:txBody>
          <a:bodyPr/>
          <a:lstStyle/>
          <a:p>
            <a:endParaRPr lang="en-US"/>
          </a:p>
        </p:txBody>
      </p:sp>
      <p:sp>
        <p:nvSpPr>
          <p:cNvPr id="3" name="Text 1"/>
          <p:cNvSpPr/>
          <p:nvPr/>
        </p:nvSpPr>
        <p:spPr>
          <a:xfrm>
            <a:off x="365760" y="109728"/>
            <a:ext cx="8412480" cy="640080"/>
          </a:xfrm>
          <a:prstGeom prst="rect">
            <a:avLst/>
          </a:prstGeom>
          <a:noFill/>
          <a:ln/>
        </p:spPr>
        <p:txBody>
          <a:bodyPr wrap="square" lIns="0" tIns="0" rIns="0" bIns="0" rtlCol="0" anchor="ctr"/>
          <a:lstStyle/>
          <a:p>
            <a:pPr marL="0" indent="0">
              <a:buNone/>
            </a:pPr>
            <a:r>
              <a:rPr lang="en-US" sz="2600" b="1" dirty="0">
                <a:solidFill>
                  <a:srgbClr val="1B2E4E"/>
                </a:solidFill>
                <a:latin typeface="Calibri" pitchFamily="34" charset="0"/>
                <a:ea typeface="Calibri" pitchFamily="34" charset="-122"/>
                <a:cs typeface="Calibri" pitchFamily="34" charset="-120"/>
              </a:rPr>
              <a:t>Wavelet Transform</a:t>
            </a:r>
            <a:endParaRPr lang="en-US" sz="2600" dirty="0"/>
          </a:p>
        </p:txBody>
      </p:sp>
      <p:sp>
        <p:nvSpPr>
          <p:cNvPr id="4" name="Text 2"/>
          <p:cNvSpPr/>
          <p:nvPr/>
        </p:nvSpPr>
        <p:spPr>
          <a:xfrm>
            <a:off x="365760" y="731520"/>
            <a:ext cx="8412480" cy="274320"/>
          </a:xfrm>
          <a:prstGeom prst="rect">
            <a:avLst/>
          </a:prstGeom>
          <a:noFill/>
          <a:ln/>
        </p:spPr>
        <p:txBody>
          <a:bodyPr wrap="square" lIns="0" tIns="0" rIns="0" bIns="0" rtlCol="0" anchor="ctr"/>
          <a:lstStyle/>
          <a:p>
            <a:pPr marL="0" indent="0">
              <a:buNone/>
            </a:pPr>
            <a:r>
              <a:rPr lang="en-US" sz="1300" i="1" dirty="0">
                <a:solidFill>
                  <a:srgbClr val="546E7A"/>
                </a:solidFill>
                <a:latin typeface="Calibri" pitchFamily="34" charset="0"/>
                <a:ea typeface="Calibri" pitchFamily="34" charset="-122"/>
                <a:cs typeface="Calibri" pitchFamily="34" charset="-120"/>
              </a:rPr>
              <a:t>Multi-resolution analysis with adaptive time-frequency tiling</a:t>
            </a:r>
            <a:endParaRPr lang="en-US" sz="1300" dirty="0"/>
          </a:p>
        </p:txBody>
      </p:sp>
      <p:sp>
        <p:nvSpPr>
          <p:cNvPr id="5" name="Shape 3"/>
          <p:cNvSpPr/>
          <p:nvPr/>
        </p:nvSpPr>
        <p:spPr>
          <a:xfrm>
            <a:off x="365760" y="1005840"/>
            <a:ext cx="8412480" cy="22860"/>
          </a:xfrm>
          <a:prstGeom prst="rect">
            <a:avLst/>
          </a:prstGeom>
          <a:solidFill>
            <a:srgbClr val="1565C0"/>
          </a:solidFill>
          <a:ln/>
        </p:spPr>
        <p:txBody>
          <a:bodyPr/>
          <a:lstStyle/>
          <a:p>
            <a:endParaRPr lang="en-US"/>
          </a:p>
        </p:txBody>
      </p:sp>
      <p:sp>
        <p:nvSpPr>
          <p:cNvPr id="6" name="Shape 4"/>
          <p:cNvSpPr/>
          <p:nvPr/>
        </p:nvSpPr>
        <p:spPr>
          <a:xfrm>
            <a:off x="7772400" y="137160"/>
            <a:ext cx="1463040" cy="256032"/>
          </a:xfrm>
          <a:prstGeom prst="roundRect">
            <a:avLst>
              <a:gd name="adj" fmla="val 28571"/>
            </a:avLst>
          </a:prstGeom>
          <a:solidFill>
            <a:srgbClr val="00796B"/>
          </a:solidFill>
          <a:ln/>
        </p:spPr>
        <p:txBody>
          <a:bodyPr/>
          <a:lstStyle/>
          <a:p>
            <a:endParaRPr lang="en-US"/>
          </a:p>
        </p:txBody>
      </p:sp>
      <p:sp>
        <p:nvSpPr>
          <p:cNvPr id="7" name="Text 5"/>
          <p:cNvSpPr/>
          <p:nvPr/>
        </p:nvSpPr>
        <p:spPr>
          <a:xfrm>
            <a:off x="7772400" y="137160"/>
            <a:ext cx="1463040" cy="256032"/>
          </a:xfrm>
          <a:prstGeom prst="rect">
            <a:avLst/>
          </a:prstGeom>
          <a:noFill/>
          <a:ln/>
        </p:spPr>
        <p:txBody>
          <a:bodyPr wrap="square" lIns="0" tIns="0" rIns="0" bIns="0" rtlCol="0" anchor="ctr"/>
          <a:lstStyle/>
          <a:p>
            <a:pPr marL="0" indent="0" algn="ctr">
              <a:buNone/>
            </a:pPr>
            <a:r>
              <a:rPr lang="en-US" sz="900" b="1" dirty="0">
                <a:solidFill>
                  <a:srgbClr val="FFFFFF"/>
                </a:solidFill>
              </a:rPr>
              <a:t>SECTION 3</a:t>
            </a:r>
            <a:endParaRPr lang="en-US" sz="900" dirty="0"/>
          </a:p>
        </p:txBody>
      </p:sp>
      <p:sp>
        <p:nvSpPr>
          <p:cNvPr id="8" name="Text 6"/>
          <p:cNvSpPr/>
          <p:nvPr/>
        </p:nvSpPr>
        <p:spPr>
          <a:xfrm>
            <a:off x="365760" y="1143000"/>
            <a:ext cx="8412480" cy="274320"/>
          </a:xfrm>
          <a:prstGeom prst="rect">
            <a:avLst/>
          </a:prstGeom>
          <a:noFill/>
          <a:ln/>
        </p:spPr>
        <p:txBody>
          <a:bodyPr wrap="square" lIns="0" tIns="0" rIns="0" bIns="0" rtlCol="0" anchor="ctr"/>
          <a:lstStyle/>
          <a:p>
            <a:pPr marL="0" indent="0">
              <a:buNone/>
            </a:pPr>
            <a:r>
              <a:rPr lang="en-US" sz="1400" b="1" dirty="0">
                <a:solidFill>
                  <a:srgbClr val="1B2E4E"/>
                </a:solidFill>
              </a:rPr>
              <a:t>Core Idea</a:t>
            </a:r>
            <a:endParaRPr lang="en-US" sz="1400" dirty="0"/>
          </a:p>
        </p:txBody>
      </p:sp>
      <p:sp>
        <p:nvSpPr>
          <p:cNvPr id="9" name="Text 7"/>
          <p:cNvSpPr/>
          <p:nvPr/>
        </p:nvSpPr>
        <p:spPr>
          <a:xfrm>
            <a:off x="365760" y="1444752"/>
            <a:ext cx="8412480" cy="594360"/>
          </a:xfrm>
          <a:prstGeom prst="rect">
            <a:avLst/>
          </a:prstGeom>
          <a:noFill/>
          <a:ln/>
        </p:spPr>
        <p:txBody>
          <a:bodyPr wrap="square" lIns="0" tIns="0" rIns="0" bIns="0" rtlCol="0" anchor="ctr"/>
          <a:lstStyle/>
          <a:p>
            <a:pPr marL="0" indent="0">
              <a:buNone/>
            </a:pPr>
            <a:r>
              <a:rPr lang="en-US" sz="1100" dirty="0">
                <a:solidFill>
                  <a:srgbClr val="546E7A"/>
                </a:solidFill>
              </a:rPr>
              <a:t>Instead of sinusoids, wavelets use a localized oscillating 'mother wavelet' ψ(t). Scale a and translate b it: high scales capture low-freq content with high time precision, low scales capture high-freq transients. This gives multi-resolution analysis — the key advantage over STFT.</a:t>
            </a:r>
            <a:endParaRPr lang="en-US" sz="1100" dirty="0"/>
          </a:p>
        </p:txBody>
      </p:sp>
      <p:sp>
        <p:nvSpPr>
          <p:cNvPr id="10" name="Text 8"/>
          <p:cNvSpPr/>
          <p:nvPr/>
        </p:nvSpPr>
        <p:spPr>
          <a:xfrm>
            <a:off x="365760" y="2148840"/>
            <a:ext cx="4206240" cy="256032"/>
          </a:xfrm>
          <a:prstGeom prst="rect">
            <a:avLst/>
          </a:prstGeom>
          <a:noFill/>
          <a:ln/>
        </p:spPr>
        <p:txBody>
          <a:bodyPr wrap="square" lIns="0" tIns="0" rIns="0" bIns="0" rtlCol="0" anchor="ctr"/>
          <a:lstStyle/>
          <a:p>
            <a:pPr marL="0" indent="0">
              <a:buNone/>
            </a:pPr>
            <a:r>
              <a:rPr lang="en-US" sz="1300" b="1" dirty="0">
                <a:solidFill>
                  <a:srgbClr val="00796B"/>
                </a:solidFill>
              </a:rPr>
              <a:t>Continuous Wavelet Transform (CWT)</a:t>
            </a:r>
            <a:endParaRPr lang="en-US" sz="1300" dirty="0"/>
          </a:p>
        </p:txBody>
      </p:sp>
      <p:sp>
        <p:nvSpPr>
          <p:cNvPr id="11" name="Shape 9"/>
          <p:cNvSpPr/>
          <p:nvPr/>
        </p:nvSpPr>
        <p:spPr>
          <a:xfrm>
            <a:off x="365760" y="2450592"/>
            <a:ext cx="4206240" cy="1143000"/>
          </a:xfrm>
          <a:prstGeom prst="rect">
            <a:avLst/>
          </a:prstGeom>
          <a:solidFill>
            <a:srgbClr val="E8F4FD"/>
          </a:solidFill>
          <a:ln w="19050">
            <a:solidFill>
              <a:srgbClr val="90CAF9"/>
            </a:solidFill>
            <a:prstDash val="solid"/>
          </a:ln>
          <a:effectLst>
            <a:outerShdw blurRad="50800" dist="25400" dir="8100000" algn="bl" rotWithShape="0">
              <a:srgbClr val="000000">
                <a:alpha val="8000"/>
              </a:srgbClr>
            </a:outerShdw>
          </a:effectLst>
        </p:spPr>
        <p:txBody>
          <a:bodyPr/>
          <a:lstStyle/>
          <a:p>
            <a:endParaRPr lang="en-US"/>
          </a:p>
        </p:txBody>
      </p:sp>
      <p:sp>
        <p:nvSpPr>
          <p:cNvPr id="12" name="Text 10"/>
          <p:cNvSpPr/>
          <p:nvPr/>
        </p:nvSpPr>
        <p:spPr>
          <a:xfrm>
            <a:off x="457200" y="2496312"/>
            <a:ext cx="4023360" cy="1051560"/>
          </a:xfrm>
          <a:prstGeom prst="rect">
            <a:avLst/>
          </a:prstGeom>
          <a:noFill/>
          <a:ln/>
        </p:spPr>
        <p:txBody>
          <a:bodyPr wrap="square" rtlCol="0" anchor="ctr"/>
          <a:lstStyle/>
          <a:p>
            <a:pPr marL="0" indent="0" algn="l">
              <a:buNone/>
            </a:pPr>
            <a:r>
              <a:rPr lang="en-US" sz="1150" dirty="0">
                <a:solidFill>
                  <a:srgbClr val="1B2E4E"/>
                </a:solidFill>
                <a:latin typeface="Courier New" pitchFamily="34" charset="0"/>
                <a:ea typeface="Courier New" pitchFamily="34" charset="-122"/>
                <a:cs typeface="Courier New" pitchFamily="34" charset="-120"/>
              </a:rPr>
              <a:t>W(a,b) = (1/√|a|) ∫₋∞^∞ x(t)·ψ*((t−b)/a) dt</a:t>
            </a:r>
            <a:r>
              <a:rPr lang="en-US" sz="300" dirty="0">
                <a:solidFill>
                  <a:srgbClr val="1B2E4E"/>
                </a:solidFill>
                <a:latin typeface="Courier New" pitchFamily="34" charset="0"/>
                <a:ea typeface="Courier New" pitchFamily="34" charset="-122"/>
                <a:cs typeface="Courier New" pitchFamily="34" charset="-120"/>
              </a:rPr>
              <a:t> </a:t>
            </a:r>
          </a:p>
          <a:p>
            <a:pPr marL="0" indent="0" algn="l">
              <a:buNone/>
            </a:pPr>
            <a:r>
              <a:rPr lang="en-US" sz="1000" dirty="0">
                <a:solidFill>
                  <a:srgbClr val="546E7A"/>
                </a:solidFill>
                <a:latin typeface="Courier New" pitchFamily="34" charset="0"/>
                <a:ea typeface="Courier New" pitchFamily="34" charset="-122"/>
                <a:cs typeface="Courier New" pitchFamily="34" charset="-120"/>
              </a:rPr>
              <a:t>a = scale (∝ 1/frequency),  b = translation</a:t>
            </a:r>
          </a:p>
          <a:p>
            <a:pPr marL="0" indent="0" algn="l">
              <a:buNone/>
            </a:pPr>
            <a:r>
              <a:rPr lang="en-US" sz="1000" dirty="0" err="1">
                <a:solidFill>
                  <a:srgbClr val="546E7A"/>
                </a:solidFill>
                <a:latin typeface="Courier New" pitchFamily="34" charset="0"/>
                <a:ea typeface="Courier New" pitchFamily="34" charset="-122"/>
                <a:cs typeface="Courier New" pitchFamily="34" charset="-120"/>
              </a:rPr>
              <a:t>ψ</a:t>
            </a:r>
            <a:r>
              <a:rPr lang="en-US" sz="1000" dirty="0">
                <a:solidFill>
                  <a:srgbClr val="546E7A"/>
                </a:solidFill>
                <a:latin typeface="Courier New" pitchFamily="34" charset="0"/>
                <a:ea typeface="Courier New" pitchFamily="34" charset="-122"/>
                <a:cs typeface="Courier New" pitchFamily="34" charset="-120"/>
              </a:rPr>
              <a:t>*= complex conjugate of mother wavelet1/√|a| = energy normalization factor</a:t>
            </a:r>
            <a:endParaRPr lang="en-US" sz="1200" dirty="0"/>
          </a:p>
        </p:txBody>
      </p:sp>
      <p:sp>
        <p:nvSpPr>
          <p:cNvPr id="13" name="Text 11"/>
          <p:cNvSpPr/>
          <p:nvPr/>
        </p:nvSpPr>
        <p:spPr>
          <a:xfrm>
            <a:off x="4663440" y="2148840"/>
            <a:ext cx="4114800" cy="256032"/>
          </a:xfrm>
          <a:prstGeom prst="rect">
            <a:avLst/>
          </a:prstGeom>
          <a:noFill/>
          <a:ln/>
        </p:spPr>
        <p:txBody>
          <a:bodyPr wrap="square" lIns="0" tIns="0" rIns="0" bIns="0" rtlCol="0" anchor="ctr"/>
          <a:lstStyle/>
          <a:p>
            <a:pPr marL="0" indent="0">
              <a:buNone/>
            </a:pPr>
            <a:r>
              <a:rPr lang="en-US" sz="1300" b="1" dirty="0">
                <a:solidFill>
                  <a:srgbClr val="00796B"/>
                </a:solidFill>
              </a:rPr>
              <a:t>Discrete Wavelet Transform (DWT)</a:t>
            </a:r>
            <a:endParaRPr lang="en-US" sz="1300" dirty="0"/>
          </a:p>
        </p:txBody>
      </p:sp>
      <p:sp>
        <p:nvSpPr>
          <p:cNvPr id="14" name="Shape 12"/>
          <p:cNvSpPr/>
          <p:nvPr/>
        </p:nvSpPr>
        <p:spPr>
          <a:xfrm>
            <a:off x="4663440" y="2450592"/>
            <a:ext cx="4114800" cy="1417320"/>
          </a:xfrm>
          <a:prstGeom prst="rect">
            <a:avLst/>
          </a:prstGeom>
          <a:solidFill>
            <a:srgbClr val="E8F4FD"/>
          </a:solidFill>
          <a:ln w="19050">
            <a:solidFill>
              <a:srgbClr val="90CAF9"/>
            </a:solidFill>
            <a:prstDash val="solid"/>
          </a:ln>
          <a:effectLst>
            <a:outerShdw blurRad="50800" dist="25400" dir="8100000" algn="bl" rotWithShape="0">
              <a:srgbClr val="000000">
                <a:alpha val="8000"/>
              </a:srgbClr>
            </a:outerShdw>
          </a:effectLst>
        </p:spPr>
        <p:txBody>
          <a:bodyPr/>
          <a:lstStyle/>
          <a:p>
            <a:endParaRPr lang="en-US"/>
          </a:p>
        </p:txBody>
      </p:sp>
      <p:sp>
        <p:nvSpPr>
          <p:cNvPr id="15" name="Text 13"/>
          <p:cNvSpPr/>
          <p:nvPr/>
        </p:nvSpPr>
        <p:spPr>
          <a:xfrm>
            <a:off x="4754880" y="2496312"/>
            <a:ext cx="3931920" cy="1325880"/>
          </a:xfrm>
          <a:prstGeom prst="rect">
            <a:avLst/>
          </a:prstGeom>
          <a:noFill/>
          <a:ln/>
        </p:spPr>
        <p:txBody>
          <a:bodyPr wrap="square" rtlCol="0" anchor="ctr"/>
          <a:lstStyle/>
          <a:p>
            <a:pPr marL="0" indent="0" algn="l">
              <a:buNone/>
            </a:pPr>
            <a:r>
              <a:rPr lang="en-US" sz="1150" dirty="0">
                <a:solidFill>
                  <a:srgbClr val="1B2E4E"/>
                </a:solidFill>
                <a:latin typeface="Courier New" pitchFamily="34" charset="0"/>
                <a:ea typeface="Courier New" pitchFamily="34" charset="-122"/>
                <a:cs typeface="Courier New" pitchFamily="34" charset="-120"/>
              </a:rPr>
              <a:t>ψ_{j,k}[n] = 2^{−j/2} · ψ(2^{−j}n − k)</a:t>
            </a:r>
            <a:r>
              <a:rPr lang="en-US" sz="300" dirty="0">
                <a:solidFill>
                  <a:srgbClr val="1B2E4E"/>
                </a:solidFill>
                <a:latin typeface="Courier New" pitchFamily="34" charset="0"/>
                <a:ea typeface="Courier New" pitchFamily="34" charset="-122"/>
                <a:cs typeface="Courier New" pitchFamily="34" charset="-120"/>
              </a:rPr>
              <a:t> </a:t>
            </a:r>
            <a:r>
              <a:rPr lang="en-US" sz="1150" dirty="0">
                <a:solidFill>
                  <a:srgbClr val="1B2E4E"/>
                </a:solidFill>
                <a:latin typeface="Courier New" pitchFamily="34" charset="0"/>
                <a:ea typeface="Courier New" pitchFamily="34" charset="-122"/>
                <a:cs typeface="Courier New" pitchFamily="34" charset="-120"/>
              </a:rPr>
              <a:t>W[j,k] = Σₙ x[n] · ψ_{j,k}[n]</a:t>
            </a:r>
            <a:r>
              <a:rPr lang="en-US" sz="300" dirty="0">
                <a:solidFill>
                  <a:srgbClr val="1B2E4E"/>
                </a:solidFill>
                <a:latin typeface="Courier New" pitchFamily="34" charset="0"/>
                <a:ea typeface="Courier New" pitchFamily="34" charset="-122"/>
                <a:cs typeface="Courier New" pitchFamily="34" charset="-120"/>
              </a:rPr>
              <a:t> </a:t>
            </a:r>
            <a:r>
              <a:rPr lang="en-US" sz="1000" dirty="0">
                <a:solidFill>
                  <a:srgbClr val="546E7A"/>
                </a:solidFill>
                <a:latin typeface="Courier New" pitchFamily="34" charset="0"/>
                <a:ea typeface="Courier New" pitchFamily="34" charset="-122"/>
                <a:cs typeface="Courier New" pitchFamily="34" charset="-120"/>
              </a:rPr>
              <a:t>j = octave (scale level),  k = positionFilter bank:  x → LPF → ↓2 → cA_j (approx)              x → HPF → ↓2 → cD_j (detail)</a:t>
            </a:r>
            <a:endParaRPr lang="en-US" sz="1200" dirty="0"/>
          </a:p>
        </p:txBody>
      </p:sp>
      <p:sp>
        <p:nvSpPr>
          <p:cNvPr id="16" name="Text 14"/>
          <p:cNvSpPr/>
          <p:nvPr/>
        </p:nvSpPr>
        <p:spPr>
          <a:xfrm>
            <a:off x="365760" y="3703320"/>
            <a:ext cx="4206240" cy="256032"/>
          </a:xfrm>
          <a:prstGeom prst="rect">
            <a:avLst/>
          </a:prstGeom>
          <a:noFill/>
          <a:ln/>
        </p:spPr>
        <p:txBody>
          <a:bodyPr wrap="square" lIns="0" tIns="0" rIns="0" bIns="0" rtlCol="0" anchor="ctr"/>
          <a:lstStyle/>
          <a:p>
            <a:pPr marL="0" indent="0">
              <a:buNone/>
            </a:pPr>
            <a:r>
              <a:rPr lang="en-US" sz="1200" b="1" dirty="0">
                <a:solidFill>
                  <a:srgbClr val="1B2E4E"/>
                </a:solidFill>
              </a:rPr>
              <a:t>Admissibility Condition</a:t>
            </a:r>
            <a:endParaRPr lang="en-US" sz="1200" dirty="0"/>
          </a:p>
        </p:txBody>
      </p:sp>
      <p:sp>
        <p:nvSpPr>
          <p:cNvPr id="17" name="Shape 15"/>
          <p:cNvSpPr/>
          <p:nvPr/>
        </p:nvSpPr>
        <p:spPr>
          <a:xfrm>
            <a:off x="365760" y="4005072"/>
            <a:ext cx="4206240" cy="658368"/>
          </a:xfrm>
          <a:prstGeom prst="rect">
            <a:avLst/>
          </a:prstGeom>
          <a:solidFill>
            <a:srgbClr val="E8F4FD"/>
          </a:solidFill>
          <a:ln w="19050">
            <a:solidFill>
              <a:srgbClr val="90CAF9"/>
            </a:solidFill>
            <a:prstDash val="solid"/>
          </a:ln>
          <a:effectLst>
            <a:outerShdw blurRad="50800" dist="25400" dir="8100000" algn="bl" rotWithShape="0">
              <a:srgbClr val="000000">
                <a:alpha val="8000"/>
              </a:srgbClr>
            </a:outerShdw>
          </a:effectLst>
        </p:spPr>
        <p:txBody>
          <a:bodyPr/>
          <a:lstStyle/>
          <a:p>
            <a:endParaRPr lang="en-US"/>
          </a:p>
        </p:txBody>
      </p:sp>
      <p:sp>
        <p:nvSpPr>
          <p:cNvPr id="18" name="Text 16"/>
          <p:cNvSpPr/>
          <p:nvPr/>
        </p:nvSpPr>
        <p:spPr>
          <a:xfrm>
            <a:off x="457200" y="4050792"/>
            <a:ext cx="4023360" cy="566928"/>
          </a:xfrm>
          <a:prstGeom prst="rect">
            <a:avLst/>
          </a:prstGeom>
          <a:noFill/>
          <a:ln/>
        </p:spPr>
        <p:txBody>
          <a:bodyPr wrap="square" rtlCol="0" anchor="ctr"/>
          <a:lstStyle/>
          <a:p>
            <a:pPr marL="0" indent="0" algn="l">
              <a:buNone/>
            </a:pPr>
            <a:r>
              <a:rPr lang="en-US" sz="1200" dirty="0">
                <a:solidFill>
                  <a:srgbClr val="1B2E4E"/>
                </a:solidFill>
                <a:latin typeface="Courier New" pitchFamily="34" charset="0"/>
                <a:ea typeface="Courier New" pitchFamily="34" charset="-122"/>
                <a:cs typeface="Courier New" pitchFamily="34" charset="-120"/>
              </a:rPr>
              <a:t>Cψ = ∫₀^∞ |Ψ(f)|²/f df &lt; ∞  (zero mean)</a:t>
            </a:r>
            <a:r>
              <a:rPr lang="en-US" sz="1000" dirty="0">
                <a:solidFill>
                  <a:srgbClr val="546E7A"/>
                </a:solidFill>
                <a:latin typeface="Courier New" pitchFamily="34" charset="0"/>
                <a:ea typeface="Courier New" pitchFamily="34" charset="-122"/>
                <a:cs typeface="Courier New" pitchFamily="34" charset="-120"/>
              </a:rPr>
              <a:t>Ensures invertibility and energy preservation</a:t>
            </a:r>
            <a:endParaRPr lang="en-US" sz="1200" dirty="0"/>
          </a:p>
        </p:txBody>
      </p:sp>
      <p:sp>
        <p:nvSpPr>
          <p:cNvPr id="19" name="Text 17"/>
          <p:cNvSpPr/>
          <p:nvPr/>
        </p:nvSpPr>
        <p:spPr>
          <a:xfrm>
            <a:off x="4663440" y="3977640"/>
            <a:ext cx="4114800" cy="256032"/>
          </a:xfrm>
          <a:prstGeom prst="rect">
            <a:avLst/>
          </a:prstGeom>
          <a:noFill/>
          <a:ln/>
        </p:spPr>
        <p:txBody>
          <a:bodyPr wrap="square" lIns="0" tIns="0" rIns="0" bIns="0" rtlCol="0" anchor="ctr"/>
          <a:lstStyle/>
          <a:p>
            <a:pPr marL="0" indent="0">
              <a:buNone/>
            </a:pPr>
            <a:r>
              <a:rPr lang="en-US" sz="1200" b="1" dirty="0">
                <a:solidFill>
                  <a:srgbClr val="1B2E4E"/>
                </a:solidFill>
              </a:rPr>
              <a:t>Common Mother Wavelets</a:t>
            </a:r>
            <a:endParaRPr lang="en-US" sz="1200" dirty="0"/>
          </a:p>
        </p:txBody>
      </p:sp>
      <p:sp>
        <p:nvSpPr>
          <p:cNvPr id="20" name="Shape 18"/>
          <p:cNvSpPr/>
          <p:nvPr/>
        </p:nvSpPr>
        <p:spPr>
          <a:xfrm>
            <a:off x="4663440" y="4279392"/>
            <a:ext cx="4114800" cy="182880"/>
          </a:xfrm>
          <a:prstGeom prst="rect">
            <a:avLst/>
          </a:prstGeom>
          <a:solidFill>
            <a:srgbClr val="EEF2F7"/>
          </a:solidFill>
          <a:ln w="12700">
            <a:solidFill>
              <a:srgbClr val="EEF2F7"/>
            </a:solidFill>
            <a:prstDash val="solid"/>
          </a:ln>
          <a:effectLst>
            <a:outerShdw blurRad="50800" dist="25400" dir="8100000" algn="bl" rotWithShape="0">
              <a:srgbClr val="000000">
                <a:alpha val="8000"/>
              </a:srgbClr>
            </a:outerShdw>
          </a:effectLst>
        </p:spPr>
        <p:txBody>
          <a:bodyPr/>
          <a:lstStyle/>
          <a:p>
            <a:endParaRPr lang="en-US"/>
          </a:p>
        </p:txBody>
      </p:sp>
      <p:sp>
        <p:nvSpPr>
          <p:cNvPr id="21" name="Text 19"/>
          <p:cNvSpPr/>
          <p:nvPr/>
        </p:nvSpPr>
        <p:spPr>
          <a:xfrm>
            <a:off x="4736592" y="4288536"/>
            <a:ext cx="1005840" cy="164592"/>
          </a:xfrm>
          <a:prstGeom prst="rect">
            <a:avLst/>
          </a:prstGeom>
          <a:noFill/>
          <a:ln/>
        </p:spPr>
        <p:txBody>
          <a:bodyPr wrap="square" lIns="0" tIns="0" rIns="0" bIns="0" rtlCol="0" anchor="ctr"/>
          <a:lstStyle/>
          <a:p>
            <a:pPr marL="0" indent="0">
              <a:buNone/>
            </a:pPr>
            <a:r>
              <a:rPr lang="en-US" sz="1000" b="1" dirty="0">
                <a:solidFill>
                  <a:srgbClr val="00796B"/>
                </a:solidFill>
              </a:rPr>
              <a:t>Haar:</a:t>
            </a:r>
            <a:endParaRPr lang="en-US" sz="1000" dirty="0"/>
          </a:p>
        </p:txBody>
      </p:sp>
      <p:sp>
        <p:nvSpPr>
          <p:cNvPr id="22" name="Text 20"/>
          <p:cNvSpPr/>
          <p:nvPr/>
        </p:nvSpPr>
        <p:spPr>
          <a:xfrm>
            <a:off x="5806440" y="4288536"/>
            <a:ext cx="2926080" cy="164592"/>
          </a:xfrm>
          <a:prstGeom prst="rect">
            <a:avLst/>
          </a:prstGeom>
          <a:noFill/>
          <a:ln/>
        </p:spPr>
        <p:txBody>
          <a:bodyPr wrap="square" lIns="0" tIns="0" rIns="0" bIns="0" rtlCol="0" anchor="ctr"/>
          <a:lstStyle/>
          <a:p>
            <a:pPr marL="0" indent="0">
              <a:buNone/>
            </a:pPr>
            <a:r>
              <a:rPr lang="en-US" sz="900" dirty="0">
                <a:solidFill>
                  <a:srgbClr val="546E7A"/>
                </a:solidFill>
              </a:rPr>
              <a:t>Simplest; step function; poor freq resolution</a:t>
            </a:r>
            <a:endParaRPr lang="en-US" sz="900" dirty="0"/>
          </a:p>
        </p:txBody>
      </p:sp>
      <p:sp>
        <p:nvSpPr>
          <p:cNvPr id="23" name="Shape 21"/>
          <p:cNvSpPr/>
          <p:nvPr/>
        </p:nvSpPr>
        <p:spPr>
          <a:xfrm>
            <a:off x="4663440" y="4480560"/>
            <a:ext cx="4114800" cy="182880"/>
          </a:xfrm>
          <a:prstGeom prst="rect">
            <a:avLst/>
          </a:prstGeom>
          <a:solidFill>
            <a:srgbClr val="FAFBFD"/>
          </a:solidFill>
          <a:ln w="12700">
            <a:solidFill>
              <a:srgbClr val="FAFBFD"/>
            </a:solidFill>
            <a:prstDash val="solid"/>
          </a:ln>
          <a:effectLst>
            <a:outerShdw blurRad="50800" dist="25400" dir="8100000" algn="bl" rotWithShape="0">
              <a:srgbClr val="000000">
                <a:alpha val="8000"/>
              </a:srgbClr>
            </a:outerShdw>
          </a:effectLst>
        </p:spPr>
        <p:txBody>
          <a:bodyPr/>
          <a:lstStyle/>
          <a:p>
            <a:endParaRPr lang="en-US"/>
          </a:p>
        </p:txBody>
      </p:sp>
      <p:sp>
        <p:nvSpPr>
          <p:cNvPr id="24" name="Text 22"/>
          <p:cNvSpPr/>
          <p:nvPr/>
        </p:nvSpPr>
        <p:spPr>
          <a:xfrm>
            <a:off x="4736592" y="4489704"/>
            <a:ext cx="1005840" cy="164592"/>
          </a:xfrm>
          <a:prstGeom prst="rect">
            <a:avLst/>
          </a:prstGeom>
          <a:noFill/>
          <a:ln/>
        </p:spPr>
        <p:txBody>
          <a:bodyPr wrap="square" lIns="0" tIns="0" rIns="0" bIns="0" rtlCol="0" anchor="ctr"/>
          <a:lstStyle/>
          <a:p>
            <a:pPr marL="0" indent="0">
              <a:buNone/>
            </a:pPr>
            <a:r>
              <a:rPr lang="en-US" sz="1000" b="1" dirty="0">
                <a:solidFill>
                  <a:srgbClr val="00796B"/>
                </a:solidFill>
              </a:rPr>
              <a:t>Daubechies:</a:t>
            </a:r>
            <a:endParaRPr lang="en-US" sz="1000" dirty="0"/>
          </a:p>
        </p:txBody>
      </p:sp>
      <p:sp>
        <p:nvSpPr>
          <p:cNvPr id="25" name="Text 23"/>
          <p:cNvSpPr/>
          <p:nvPr/>
        </p:nvSpPr>
        <p:spPr>
          <a:xfrm>
            <a:off x="5806440" y="4489704"/>
            <a:ext cx="2926080" cy="164592"/>
          </a:xfrm>
          <a:prstGeom prst="rect">
            <a:avLst/>
          </a:prstGeom>
          <a:noFill/>
          <a:ln/>
        </p:spPr>
        <p:txBody>
          <a:bodyPr wrap="square" lIns="0" tIns="0" rIns="0" bIns="0" rtlCol="0" anchor="ctr"/>
          <a:lstStyle/>
          <a:p>
            <a:pPr marL="0" indent="0">
              <a:buNone/>
            </a:pPr>
            <a:r>
              <a:rPr lang="en-US" sz="900" dirty="0">
                <a:solidFill>
                  <a:srgbClr val="546E7A"/>
                </a:solidFill>
              </a:rPr>
              <a:t>Compact support; orthogonal; db4 popular for biosignals</a:t>
            </a:r>
            <a:endParaRPr lang="en-US" sz="900" dirty="0"/>
          </a:p>
        </p:txBody>
      </p:sp>
      <p:sp>
        <p:nvSpPr>
          <p:cNvPr id="26" name="Shape 24"/>
          <p:cNvSpPr/>
          <p:nvPr/>
        </p:nvSpPr>
        <p:spPr>
          <a:xfrm>
            <a:off x="4663440" y="4681728"/>
            <a:ext cx="4114800" cy="182880"/>
          </a:xfrm>
          <a:prstGeom prst="rect">
            <a:avLst/>
          </a:prstGeom>
          <a:solidFill>
            <a:srgbClr val="EEF2F7"/>
          </a:solidFill>
          <a:ln w="12700">
            <a:solidFill>
              <a:srgbClr val="EEF2F7"/>
            </a:solidFill>
            <a:prstDash val="solid"/>
          </a:ln>
          <a:effectLst>
            <a:outerShdw blurRad="50800" dist="25400" dir="8100000" algn="bl" rotWithShape="0">
              <a:srgbClr val="000000">
                <a:alpha val="8000"/>
              </a:srgbClr>
            </a:outerShdw>
          </a:effectLst>
        </p:spPr>
        <p:txBody>
          <a:bodyPr/>
          <a:lstStyle/>
          <a:p>
            <a:endParaRPr lang="en-US"/>
          </a:p>
        </p:txBody>
      </p:sp>
      <p:sp>
        <p:nvSpPr>
          <p:cNvPr id="27" name="Text 25"/>
          <p:cNvSpPr/>
          <p:nvPr/>
        </p:nvSpPr>
        <p:spPr>
          <a:xfrm>
            <a:off x="4736592" y="4690872"/>
            <a:ext cx="1005840" cy="164592"/>
          </a:xfrm>
          <a:prstGeom prst="rect">
            <a:avLst/>
          </a:prstGeom>
          <a:noFill/>
          <a:ln/>
        </p:spPr>
        <p:txBody>
          <a:bodyPr wrap="square" lIns="0" tIns="0" rIns="0" bIns="0" rtlCol="0" anchor="ctr"/>
          <a:lstStyle/>
          <a:p>
            <a:pPr marL="0" indent="0">
              <a:buNone/>
            </a:pPr>
            <a:r>
              <a:rPr lang="en-US" sz="1000" b="1" dirty="0">
                <a:solidFill>
                  <a:srgbClr val="00796B"/>
                </a:solidFill>
              </a:rPr>
              <a:t>Morlet:</a:t>
            </a:r>
            <a:endParaRPr lang="en-US" sz="1000" dirty="0"/>
          </a:p>
        </p:txBody>
      </p:sp>
      <p:sp>
        <p:nvSpPr>
          <p:cNvPr id="28" name="Text 26"/>
          <p:cNvSpPr/>
          <p:nvPr/>
        </p:nvSpPr>
        <p:spPr>
          <a:xfrm>
            <a:off x="5806440" y="4690872"/>
            <a:ext cx="2926080" cy="164592"/>
          </a:xfrm>
          <a:prstGeom prst="rect">
            <a:avLst/>
          </a:prstGeom>
          <a:noFill/>
          <a:ln/>
        </p:spPr>
        <p:txBody>
          <a:bodyPr wrap="square" lIns="0" tIns="0" rIns="0" bIns="0" rtlCol="0" anchor="ctr"/>
          <a:lstStyle/>
          <a:p>
            <a:pPr marL="0" indent="0">
              <a:buNone/>
            </a:pPr>
            <a:r>
              <a:rPr lang="en-US" sz="900" dirty="0">
                <a:solidFill>
                  <a:srgbClr val="546E7A"/>
                </a:solidFill>
              </a:rPr>
              <a:t>Gaussian-modulated sinusoid; good TF localization</a:t>
            </a:r>
            <a:endParaRPr lang="en-US" sz="900" dirty="0"/>
          </a:p>
        </p:txBody>
      </p:sp>
      <p:sp>
        <p:nvSpPr>
          <p:cNvPr id="29" name="Shape 27"/>
          <p:cNvSpPr/>
          <p:nvPr/>
        </p:nvSpPr>
        <p:spPr>
          <a:xfrm>
            <a:off x="4663440" y="4882896"/>
            <a:ext cx="4114800" cy="182880"/>
          </a:xfrm>
          <a:prstGeom prst="rect">
            <a:avLst/>
          </a:prstGeom>
          <a:solidFill>
            <a:srgbClr val="FAFBFD"/>
          </a:solidFill>
          <a:ln w="12700">
            <a:solidFill>
              <a:srgbClr val="FAFBFD"/>
            </a:solidFill>
            <a:prstDash val="solid"/>
          </a:ln>
          <a:effectLst>
            <a:outerShdw blurRad="50800" dist="25400" dir="8100000" algn="bl" rotWithShape="0">
              <a:srgbClr val="000000">
                <a:alpha val="8000"/>
              </a:srgbClr>
            </a:outerShdw>
          </a:effectLst>
        </p:spPr>
        <p:txBody>
          <a:bodyPr/>
          <a:lstStyle/>
          <a:p>
            <a:endParaRPr lang="en-US"/>
          </a:p>
        </p:txBody>
      </p:sp>
      <p:sp>
        <p:nvSpPr>
          <p:cNvPr id="30" name="Text 28"/>
          <p:cNvSpPr/>
          <p:nvPr/>
        </p:nvSpPr>
        <p:spPr>
          <a:xfrm>
            <a:off x="4736592" y="4892040"/>
            <a:ext cx="1005840" cy="164592"/>
          </a:xfrm>
          <a:prstGeom prst="rect">
            <a:avLst/>
          </a:prstGeom>
          <a:noFill/>
          <a:ln/>
        </p:spPr>
        <p:txBody>
          <a:bodyPr wrap="square" lIns="0" tIns="0" rIns="0" bIns="0" rtlCol="0" anchor="ctr"/>
          <a:lstStyle/>
          <a:p>
            <a:pPr marL="0" indent="0">
              <a:buNone/>
            </a:pPr>
            <a:r>
              <a:rPr lang="en-US" sz="1000" b="1" dirty="0">
                <a:solidFill>
                  <a:srgbClr val="00796B"/>
                </a:solidFill>
              </a:rPr>
              <a:t>Symlet:</a:t>
            </a:r>
            <a:endParaRPr lang="en-US" sz="1000" dirty="0"/>
          </a:p>
        </p:txBody>
      </p:sp>
      <p:sp>
        <p:nvSpPr>
          <p:cNvPr id="31" name="Text 29"/>
          <p:cNvSpPr/>
          <p:nvPr/>
        </p:nvSpPr>
        <p:spPr>
          <a:xfrm>
            <a:off x="5806440" y="4892040"/>
            <a:ext cx="2926080" cy="164592"/>
          </a:xfrm>
          <a:prstGeom prst="rect">
            <a:avLst/>
          </a:prstGeom>
          <a:noFill/>
          <a:ln/>
        </p:spPr>
        <p:txBody>
          <a:bodyPr wrap="square" lIns="0" tIns="0" rIns="0" bIns="0" rtlCol="0" anchor="ctr"/>
          <a:lstStyle/>
          <a:p>
            <a:pPr marL="0" indent="0">
              <a:buNone/>
            </a:pPr>
            <a:r>
              <a:rPr lang="en-US" sz="900" dirty="0">
                <a:solidFill>
                  <a:srgbClr val="546E7A"/>
                </a:solidFill>
              </a:rPr>
              <a:t>Near-symmetric; used in ECG/PPG analysis</a:t>
            </a:r>
            <a:endParaRPr lang="en-US" sz="900" dirty="0"/>
          </a:p>
        </p:txBody>
      </p:sp>
      <p:sp>
        <p:nvSpPr>
          <p:cNvPr id="32" name="Shape 30"/>
          <p:cNvSpPr/>
          <p:nvPr/>
        </p:nvSpPr>
        <p:spPr>
          <a:xfrm>
            <a:off x="365760" y="4709160"/>
            <a:ext cx="4206240" cy="320040"/>
          </a:xfrm>
          <a:prstGeom prst="rect">
            <a:avLst/>
          </a:prstGeom>
          <a:solidFill>
            <a:srgbClr val="E8F5E9"/>
          </a:solidFill>
          <a:ln w="12700">
            <a:solidFill>
              <a:srgbClr val="E8F5E9"/>
            </a:solidFill>
            <a:prstDash val="solid"/>
          </a:ln>
          <a:effectLst>
            <a:outerShdw blurRad="50800" dist="25400" dir="8100000" algn="bl" rotWithShape="0">
              <a:srgbClr val="000000">
                <a:alpha val="8000"/>
              </a:srgbClr>
            </a:outerShdw>
          </a:effectLst>
        </p:spPr>
        <p:txBody>
          <a:bodyPr/>
          <a:lstStyle/>
          <a:p>
            <a:endParaRPr lang="en-US"/>
          </a:p>
        </p:txBody>
      </p:sp>
      <p:sp>
        <p:nvSpPr>
          <p:cNvPr id="33" name="Shape 31"/>
          <p:cNvSpPr/>
          <p:nvPr/>
        </p:nvSpPr>
        <p:spPr>
          <a:xfrm>
            <a:off x="365760" y="4709160"/>
            <a:ext cx="73152" cy="320040"/>
          </a:xfrm>
          <a:prstGeom prst="rect">
            <a:avLst/>
          </a:prstGeom>
          <a:solidFill>
            <a:srgbClr val="2E7D32"/>
          </a:solidFill>
          <a:ln/>
        </p:spPr>
        <p:txBody>
          <a:bodyPr/>
          <a:lstStyle/>
          <a:p>
            <a:endParaRPr lang="en-US"/>
          </a:p>
        </p:txBody>
      </p:sp>
      <p:sp>
        <p:nvSpPr>
          <p:cNvPr id="34" name="Text 32"/>
          <p:cNvSpPr/>
          <p:nvPr/>
        </p:nvSpPr>
        <p:spPr>
          <a:xfrm>
            <a:off x="502920" y="4754880"/>
            <a:ext cx="3931920" cy="256032"/>
          </a:xfrm>
          <a:prstGeom prst="rect">
            <a:avLst/>
          </a:prstGeom>
          <a:noFill/>
          <a:ln/>
        </p:spPr>
        <p:txBody>
          <a:bodyPr wrap="square" lIns="0" tIns="0" rIns="0" bIns="0" rtlCol="0" anchor="ctr"/>
          <a:lstStyle/>
          <a:p>
            <a:pPr marL="0" indent="0">
              <a:buNone/>
            </a:pPr>
            <a:r>
              <a:rPr lang="en-US" sz="1000" b="1" dirty="0">
                <a:solidFill>
                  <a:srgbClr val="2E7D32"/>
                </a:solidFill>
              </a:rPr>
              <a:t>✔  Adaptive resolution: high time res at high freq, high freq res at low freq — unlike STFT!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1B2E4E"/>
          </a:solidFill>
          <a:ln/>
        </p:spPr>
        <p:txBody>
          <a:bodyPr/>
          <a:lstStyle/>
          <a:p>
            <a:endParaRPr lang="en-US"/>
          </a:p>
        </p:txBody>
      </p:sp>
      <p:sp>
        <p:nvSpPr>
          <p:cNvPr id="3" name="Text 1"/>
          <p:cNvSpPr/>
          <p:nvPr/>
        </p:nvSpPr>
        <p:spPr>
          <a:xfrm>
            <a:off x="365760" y="109728"/>
            <a:ext cx="8412480" cy="640080"/>
          </a:xfrm>
          <a:prstGeom prst="rect">
            <a:avLst/>
          </a:prstGeom>
          <a:noFill/>
          <a:ln/>
        </p:spPr>
        <p:txBody>
          <a:bodyPr wrap="square" lIns="0" tIns="0" rIns="0" bIns="0" rtlCol="0" anchor="ctr"/>
          <a:lstStyle/>
          <a:p>
            <a:pPr marL="0" indent="0">
              <a:buNone/>
            </a:pPr>
            <a:r>
              <a:rPr lang="en-US" sz="2600" b="1" dirty="0">
                <a:solidFill>
                  <a:srgbClr val="1B2E4E"/>
                </a:solidFill>
                <a:latin typeface="Calibri" pitchFamily="34" charset="0"/>
                <a:cs typeface="Calibri" pitchFamily="34" charset="-120"/>
              </a:rPr>
              <a:t>Paper Analysis</a:t>
            </a:r>
            <a:endParaRPr lang="en-US" sz="2600" dirty="0"/>
          </a:p>
        </p:txBody>
      </p:sp>
      <p:sp>
        <p:nvSpPr>
          <p:cNvPr id="5" name="Shape 3"/>
          <p:cNvSpPr/>
          <p:nvPr/>
        </p:nvSpPr>
        <p:spPr>
          <a:xfrm>
            <a:off x="365760" y="749808"/>
            <a:ext cx="8412480" cy="22860"/>
          </a:xfrm>
          <a:prstGeom prst="rect">
            <a:avLst/>
          </a:prstGeom>
          <a:solidFill>
            <a:srgbClr val="1565C0"/>
          </a:solidFill>
          <a:ln/>
        </p:spPr>
        <p:txBody>
          <a:bodyPr/>
          <a:lstStyle/>
          <a:p>
            <a:endParaRPr lang="en-US"/>
          </a:p>
        </p:txBody>
      </p:sp>
      <p:sp>
        <p:nvSpPr>
          <p:cNvPr id="7" name="Shape 4"/>
          <p:cNvSpPr/>
          <p:nvPr/>
        </p:nvSpPr>
        <p:spPr>
          <a:xfrm>
            <a:off x="78154" y="871044"/>
            <a:ext cx="8956431" cy="2115605"/>
          </a:xfrm>
          <a:prstGeom prst="rect">
            <a:avLst/>
          </a:prstGeom>
          <a:solidFill>
            <a:srgbClr val="EEF2F7"/>
          </a:solidFill>
          <a:ln w="12700">
            <a:solidFill>
              <a:srgbClr val="EEF2F7"/>
            </a:solidFill>
            <a:prstDash val="solid"/>
          </a:ln>
          <a:effectLst>
            <a:outerShdw blurRad="50800" dist="25400" dir="8100000" algn="bl" rotWithShape="0">
              <a:srgbClr val="000000">
                <a:alpha val="8000"/>
              </a:srgbClr>
            </a:outerShdw>
          </a:effectLst>
        </p:spPr>
        <p:txBody>
          <a:bodyPr/>
          <a:lstStyle/>
          <a:p>
            <a:pPr marL="285750" indent="-285750">
              <a:buFont typeface="Wingdings" pitchFamily="2" charset="2"/>
              <a:buChar char="Ø"/>
            </a:pPr>
            <a:r>
              <a:rPr lang="en-US" sz="1200" dirty="0"/>
              <a:t>In learnable wavelets, the low-pass and high-pass filters are treated as </a:t>
            </a:r>
            <a:r>
              <a:rPr lang="en-US" sz="1200" b="1" dirty="0"/>
              <a:t>trainable convolution weights</a:t>
            </a:r>
            <a:r>
              <a:rPr lang="en-US" sz="1200" dirty="0"/>
              <a:t>. </a:t>
            </a:r>
          </a:p>
          <a:p>
            <a:pPr marL="285750" indent="-285750">
              <a:buFont typeface="Wingdings" pitchFamily="2" charset="2"/>
              <a:buChar char="Ø"/>
            </a:pPr>
            <a:r>
              <a:rPr lang="en-US" sz="1200" dirty="0"/>
              <a:t>The PPG signal is passed through these filters to obtain multi-scale components. </a:t>
            </a:r>
          </a:p>
          <a:p>
            <a:pPr marL="285750" indent="-285750">
              <a:buFont typeface="Wingdings" pitchFamily="2" charset="2"/>
              <a:buChar char="Ø"/>
            </a:pPr>
            <a:r>
              <a:rPr lang="en-US" sz="1200" dirty="0"/>
              <a:t>A task loss (e.g., heart rate, BP, or SSL loss) is computed from the model output. </a:t>
            </a:r>
          </a:p>
          <a:p>
            <a:pPr marL="285750" indent="-285750">
              <a:buFont typeface="Wingdings" pitchFamily="2" charset="2"/>
              <a:buChar char="Ø"/>
            </a:pPr>
            <a:r>
              <a:rPr lang="en-US" sz="1200" dirty="0"/>
              <a:t>Using backpropagation, gradients update the filter parameters to minimize this loss. </a:t>
            </a:r>
          </a:p>
          <a:p>
            <a:pPr marL="285750" indent="-285750">
              <a:buFont typeface="Wingdings" pitchFamily="2" charset="2"/>
              <a:buChar char="Ø"/>
            </a:pPr>
            <a:r>
              <a:rPr lang="en-US" sz="1200" dirty="0"/>
              <a:t>Over training, filters automatically </a:t>
            </a:r>
            <a:r>
              <a:rPr lang="en-US" sz="1200" b="1" dirty="0"/>
              <a:t>adapt their frequency response and shape</a:t>
            </a:r>
            <a:r>
              <a:rPr lang="en-US" sz="1200" dirty="0"/>
              <a:t>. </a:t>
            </a:r>
          </a:p>
          <a:p>
            <a:pPr marL="285750" indent="-285750">
              <a:buFont typeface="Wingdings" pitchFamily="2" charset="2"/>
              <a:buChar char="Ø"/>
            </a:pPr>
            <a:r>
              <a:rPr lang="en-US" sz="1200" dirty="0"/>
              <a:t>This allows the model to focus on </a:t>
            </a:r>
            <a:r>
              <a:rPr lang="en-US" sz="1200" b="1" dirty="0"/>
              <a:t>relevant cardiac frequencies and waveform morphology</a:t>
            </a:r>
            <a:r>
              <a:rPr lang="en-US" sz="1200" dirty="0"/>
              <a:t>. </a:t>
            </a:r>
          </a:p>
          <a:p>
            <a:pPr marL="285750" indent="-285750">
              <a:buFont typeface="Wingdings" pitchFamily="2" charset="2"/>
              <a:buChar char="Ø"/>
            </a:pPr>
            <a:r>
              <a:rPr lang="en-US" sz="1200" dirty="0"/>
              <a:t>Fixed filters assume predefined bands (e.g., 0.5–4 Hz), which may not match real signals. </a:t>
            </a:r>
          </a:p>
          <a:p>
            <a:pPr marL="285750" indent="-285750">
              <a:buFont typeface="Wingdings" pitchFamily="2" charset="2"/>
              <a:buChar char="Ø"/>
            </a:pPr>
            <a:r>
              <a:rPr lang="en-US" sz="1200" dirty="0"/>
              <a:t>PPG varies across subjects, conditions, and noise, so fixed filters are often suboptimal. </a:t>
            </a:r>
          </a:p>
          <a:p>
            <a:pPr marL="285750" indent="-285750">
              <a:buFont typeface="Wingdings" pitchFamily="2" charset="2"/>
              <a:buChar char="Ø"/>
            </a:pPr>
            <a:r>
              <a:rPr lang="en-US" sz="1200" dirty="0"/>
              <a:t>Learnable wavelets overcome this by </a:t>
            </a:r>
            <a:r>
              <a:rPr lang="en-US" sz="1200" b="1" dirty="0"/>
              <a:t>discovering task-specific representations</a:t>
            </a:r>
            <a:r>
              <a:rPr lang="en-US" sz="1200" dirty="0"/>
              <a:t>. </a:t>
            </a:r>
          </a:p>
          <a:p>
            <a:pPr marL="285750" indent="-285750">
              <a:buFont typeface="Wingdings" pitchFamily="2" charset="2"/>
              <a:buChar char="Ø"/>
            </a:pPr>
            <a:r>
              <a:rPr lang="en-US" sz="1200" dirty="0"/>
              <a:t>Hence, learning is needed because </a:t>
            </a:r>
            <a:r>
              <a:rPr lang="en-US" sz="1200" b="1" dirty="0"/>
              <a:t>filters alone impose rigid assumptions, while learnable filters adapt to real physiological variability</a:t>
            </a:r>
            <a:r>
              <a:rPr lang="en-US" sz="1200" dirty="0"/>
              <a:t>. </a:t>
            </a:r>
          </a:p>
        </p:txBody>
      </p:sp>
      <p:sp>
        <p:nvSpPr>
          <p:cNvPr id="8" name="Text 5"/>
          <p:cNvSpPr/>
          <p:nvPr/>
        </p:nvSpPr>
        <p:spPr>
          <a:xfrm>
            <a:off x="502920" y="1371600"/>
            <a:ext cx="8138160" cy="3602736"/>
          </a:xfrm>
          <a:prstGeom prst="rect">
            <a:avLst/>
          </a:prstGeom>
          <a:noFill/>
          <a:ln/>
        </p:spPr>
        <p:txBody>
          <a:bodyPr wrap="square" lIns="0" tIns="0" rIns="0" bIns="0" rtlCol="0" anchor="ctr"/>
          <a:lstStyle/>
          <a:p>
            <a:pPr marL="0" indent="0">
              <a:buNone/>
            </a:pPr>
            <a:endParaRPr lang="en-US" sz="1000" dirty="0"/>
          </a:p>
        </p:txBody>
      </p:sp>
      <p:pic>
        <p:nvPicPr>
          <p:cNvPr id="6" name="Picture 5">
            <a:extLst>
              <a:ext uri="{FF2B5EF4-FFF2-40B4-BE49-F238E27FC236}">
                <a16:creationId xmlns:a16="http://schemas.microsoft.com/office/drawing/2014/main" id="{A327635D-0995-2F97-D616-DAFD6D265FCC}"/>
              </a:ext>
            </a:extLst>
          </p:cNvPr>
          <p:cNvPicPr>
            <a:picLocks noChangeAspect="1"/>
          </p:cNvPicPr>
          <p:nvPr/>
        </p:nvPicPr>
        <p:blipFill>
          <a:blip r:embed="rId3"/>
          <a:stretch>
            <a:fillRect/>
          </a:stretch>
        </p:blipFill>
        <p:spPr>
          <a:xfrm>
            <a:off x="502920" y="2986649"/>
            <a:ext cx="7772400" cy="210111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D448FCA-9176-B27F-9AD2-D9D3904CF80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7FD8DC6-A396-C84B-0D20-7F45DAA685FF}"/>
              </a:ext>
            </a:extLst>
          </p:cNvPr>
          <p:cNvSpPr/>
          <p:nvPr/>
        </p:nvSpPr>
        <p:spPr>
          <a:xfrm>
            <a:off x="0" y="0"/>
            <a:ext cx="9144000" cy="64008"/>
          </a:xfrm>
          <a:prstGeom prst="rect">
            <a:avLst/>
          </a:prstGeom>
          <a:solidFill>
            <a:srgbClr val="1B2E4E"/>
          </a:solidFill>
          <a:ln/>
        </p:spPr>
        <p:txBody>
          <a:bodyPr/>
          <a:lstStyle/>
          <a:p>
            <a:endParaRPr lang="en-US"/>
          </a:p>
        </p:txBody>
      </p:sp>
      <p:sp>
        <p:nvSpPr>
          <p:cNvPr id="3" name="Text 1">
            <a:extLst>
              <a:ext uri="{FF2B5EF4-FFF2-40B4-BE49-F238E27FC236}">
                <a16:creationId xmlns:a16="http://schemas.microsoft.com/office/drawing/2014/main" id="{E08FA452-0D9A-E32D-27A5-41021BF5AFB8}"/>
              </a:ext>
            </a:extLst>
          </p:cNvPr>
          <p:cNvSpPr/>
          <p:nvPr/>
        </p:nvSpPr>
        <p:spPr>
          <a:xfrm>
            <a:off x="365760" y="109728"/>
            <a:ext cx="8412480" cy="640080"/>
          </a:xfrm>
          <a:prstGeom prst="rect">
            <a:avLst/>
          </a:prstGeom>
          <a:noFill/>
          <a:ln/>
        </p:spPr>
        <p:txBody>
          <a:bodyPr wrap="square" lIns="0" tIns="0" rIns="0" bIns="0" rtlCol="0" anchor="ctr"/>
          <a:lstStyle/>
          <a:p>
            <a:pPr marL="0" indent="0">
              <a:buNone/>
            </a:pPr>
            <a:r>
              <a:rPr lang="en-US" sz="2600" b="1" dirty="0">
                <a:solidFill>
                  <a:srgbClr val="1B2E4E"/>
                </a:solidFill>
                <a:latin typeface="Calibri" pitchFamily="34" charset="0"/>
                <a:cs typeface="Calibri" pitchFamily="34" charset="-120"/>
              </a:rPr>
              <a:t>Paper Analysis</a:t>
            </a:r>
            <a:endParaRPr lang="en-US" sz="2600" dirty="0"/>
          </a:p>
        </p:txBody>
      </p:sp>
      <p:sp>
        <p:nvSpPr>
          <p:cNvPr id="5" name="Shape 3">
            <a:extLst>
              <a:ext uri="{FF2B5EF4-FFF2-40B4-BE49-F238E27FC236}">
                <a16:creationId xmlns:a16="http://schemas.microsoft.com/office/drawing/2014/main" id="{861C7EA1-3EB5-70F8-AD51-BA195EF11006}"/>
              </a:ext>
            </a:extLst>
          </p:cNvPr>
          <p:cNvSpPr/>
          <p:nvPr/>
        </p:nvSpPr>
        <p:spPr>
          <a:xfrm>
            <a:off x="365760" y="749808"/>
            <a:ext cx="8412480" cy="22860"/>
          </a:xfrm>
          <a:prstGeom prst="rect">
            <a:avLst/>
          </a:prstGeom>
          <a:solidFill>
            <a:srgbClr val="1565C0"/>
          </a:solidFill>
          <a:ln/>
        </p:spPr>
        <p:txBody>
          <a:bodyPr/>
          <a:lstStyle/>
          <a:p>
            <a:endParaRPr lang="en-US"/>
          </a:p>
        </p:txBody>
      </p:sp>
      <p:sp>
        <p:nvSpPr>
          <p:cNvPr id="7" name="Shape 4">
            <a:extLst>
              <a:ext uri="{FF2B5EF4-FFF2-40B4-BE49-F238E27FC236}">
                <a16:creationId xmlns:a16="http://schemas.microsoft.com/office/drawing/2014/main" id="{74182131-2147-CD42-58FB-BCE954EC3394}"/>
              </a:ext>
            </a:extLst>
          </p:cNvPr>
          <p:cNvSpPr/>
          <p:nvPr/>
        </p:nvSpPr>
        <p:spPr>
          <a:xfrm>
            <a:off x="78154" y="871044"/>
            <a:ext cx="8956431" cy="2115605"/>
          </a:xfrm>
          <a:prstGeom prst="rect">
            <a:avLst/>
          </a:prstGeom>
          <a:solidFill>
            <a:srgbClr val="EEF2F7"/>
          </a:solidFill>
          <a:ln w="12700">
            <a:solidFill>
              <a:srgbClr val="EEF2F7"/>
            </a:solidFill>
            <a:prstDash val="solid"/>
          </a:ln>
          <a:effectLst>
            <a:outerShdw blurRad="50800" dist="25400" dir="8100000" algn="bl" rotWithShape="0">
              <a:srgbClr val="000000">
                <a:alpha val="8000"/>
              </a:srgbClr>
            </a:outerShdw>
          </a:effectLst>
        </p:spPr>
        <p:txBody>
          <a:bodyPr/>
          <a:lstStyle/>
          <a:p>
            <a:pPr marL="285750" indent="-285750">
              <a:buFont typeface="Wingdings" pitchFamily="2" charset="2"/>
              <a:buChar char="Ø"/>
            </a:pPr>
            <a:r>
              <a:rPr lang="en-US" sz="1200" dirty="0"/>
              <a:t>In learnable wavelets, the low-pass and high-pass filters are treated as trainable convolution weights. </a:t>
            </a:r>
          </a:p>
          <a:p>
            <a:pPr marL="285750" indent="-285750">
              <a:buFont typeface="Wingdings" pitchFamily="2" charset="2"/>
              <a:buChar char="Ø"/>
            </a:pPr>
            <a:r>
              <a:rPr lang="en-US" sz="1200" dirty="0"/>
              <a:t>The PPG signal is passed through these filters to obtain multi-scale components. </a:t>
            </a:r>
          </a:p>
          <a:p>
            <a:pPr marL="285750" indent="-285750">
              <a:buFont typeface="Wingdings" pitchFamily="2" charset="2"/>
              <a:buChar char="Ø"/>
            </a:pPr>
            <a:r>
              <a:rPr lang="en-US" sz="1200" dirty="0"/>
              <a:t>A task loss (e.g., heart rate, BP, or SSL loss) is computed from the model output. </a:t>
            </a:r>
          </a:p>
          <a:p>
            <a:pPr marL="285750" indent="-285750">
              <a:buFont typeface="Wingdings" pitchFamily="2" charset="2"/>
              <a:buChar char="Ø"/>
            </a:pPr>
            <a:r>
              <a:rPr lang="en-US" sz="1200" dirty="0"/>
              <a:t>Using backpropagation, gradients update the filter parameters to minimize this loss. </a:t>
            </a:r>
          </a:p>
          <a:p>
            <a:pPr marL="285750" indent="-285750">
              <a:buFont typeface="Wingdings" pitchFamily="2" charset="2"/>
              <a:buChar char="Ø"/>
            </a:pPr>
            <a:r>
              <a:rPr lang="en-US" sz="1200" dirty="0"/>
              <a:t>Over training, filters automatically adapt their frequency response and shape. </a:t>
            </a:r>
          </a:p>
          <a:p>
            <a:pPr marL="285750" indent="-285750">
              <a:buFont typeface="Wingdings" pitchFamily="2" charset="2"/>
              <a:buChar char="Ø"/>
            </a:pPr>
            <a:r>
              <a:rPr lang="en-US" sz="1200" dirty="0"/>
              <a:t>This allows the model to focus on relevant cardiac frequencies and waveform morphology. </a:t>
            </a:r>
          </a:p>
          <a:p>
            <a:pPr marL="285750" indent="-285750">
              <a:buFont typeface="Wingdings" pitchFamily="2" charset="2"/>
              <a:buChar char="Ø"/>
            </a:pPr>
            <a:r>
              <a:rPr lang="en-US" sz="1200" dirty="0"/>
              <a:t>Fixed filters assume predefined bands (e.g., 0.5–4 Hz), which may not match real signals. </a:t>
            </a:r>
          </a:p>
          <a:p>
            <a:pPr marL="285750" indent="-285750">
              <a:buFont typeface="Wingdings" pitchFamily="2" charset="2"/>
              <a:buChar char="Ø"/>
            </a:pPr>
            <a:r>
              <a:rPr lang="en-US" sz="1200" dirty="0"/>
              <a:t>PPG varies across subjects, conditions, and noise, so fixed filters are often suboptimal. </a:t>
            </a:r>
          </a:p>
          <a:p>
            <a:pPr marL="285750" indent="-285750">
              <a:buFont typeface="Wingdings" pitchFamily="2" charset="2"/>
              <a:buChar char="Ø"/>
            </a:pPr>
            <a:r>
              <a:rPr lang="en-US" sz="1200" dirty="0"/>
              <a:t>Learnable wavelets overcome this by discovering task-specific representations. </a:t>
            </a:r>
          </a:p>
          <a:p>
            <a:pPr marL="285750" indent="-285750">
              <a:buFont typeface="Wingdings" pitchFamily="2" charset="2"/>
              <a:buChar char="Ø"/>
            </a:pPr>
            <a:r>
              <a:rPr lang="en-US" sz="1200" dirty="0"/>
              <a:t>Hence, learning is needed because filters alone impose rigid assumptions, while learnable filters adapt to real physiological variability. </a:t>
            </a:r>
          </a:p>
        </p:txBody>
      </p:sp>
      <p:sp>
        <p:nvSpPr>
          <p:cNvPr id="8" name="Text 5">
            <a:extLst>
              <a:ext uri="{FF2B5EF4-FFF2-40B4-BE49-F238E27FC236}">
                <a16:creationId xmlns:a16="http://schemas.microsoft.com/office/drawing/2014/main" id="{CF16CA49-244F-EE9A-0129-63AA381E37D6}"/>
              </a:ext>
            </a:extLst>
          </p:cNvPr>
          <p:cNvSpPr/>
          <p:nvPr/>
        </p:nvSpPr>
        <p:spPr>
          <a:xfrm>
            <a:off x="502920" y="1371600"/>
            <a:ext cx="8138160" cy="3602736"/>
          </a:xfrm>
          <a:prstGeom prst="rect">
            <a:avLst/>
          </a:prstGeom>
          <a:noFill/>
          <a:ln/>
        </p:spPr>
        <p:txBody>
          <a:bodyPr wrap="square" lIns="0" tIns="0" rIns="0" bIns="0" rtlCol="0" anchor="ctr"/>
          <a:lstStyle/>
          <a:p>
            <a:pPr marL="0" indent="0">
              <a:buNone/>
            </a:pPr>
            <a:endParaRPr lang="en-US" sz="1000" dirty="0"/>
          </a:p>
        </p:txBody>
      </p:sp>
      <p:pic>
        <p:nvPicPr>
          <p:cNvPr id="6" name="Picture 5">
            <a:extLst>
              <a:ext uri="{FF2B5EF4-FFF2-40B4-BE49-F238E27FC236}">
                <a16:creationId xmlns:a16="http://schemas.microsoft.com/office/drawing/2014/main" id="{EB0D6CDC-5B56-9E3A-22FE-50735B5B343A}"/>
              </a:ext>
            </a:extLst>
          </p:cNvPr>
          <p:cNvPicPr>
            <a:picLocks noChangeAspect="1"/>
          </p:cNvPicPr>
          <p:nvPr/>
        </p:nvPicPr>
        <p:blipFill>
          <a:blip r:embed="rId3"/>
          <a:stretch>
            <a:fillRect/>
          </a:stretch>
        </p:blipFill>
        <p:spPr>
          <a:xfrm>
            <a:off x="502920" y="2986649"/>
            <a:ext cx="7772400" cy="2101110"/>
          </a:xfrm>
          <a:prstGeom prst="rect">
            <a:avLst/>
          </a:prstGeom>
        </p:spPr>
      </p:pic>
    </p:spTree>
    <p:extLst>
      <p:ext uri="{BB962C8B-B14F-4D97-AF65-F5344CB8AC3E}">
        <p14:creationId xmlns:p14="http://schemas.microsoft.com/office/powerpoint/2010/main" val="26437070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1C0010E-0E45-7CED-105C-F87B1BA4D63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62B200E-1488-69FE-C879-72B3A2595CDF}"/>
              </a:ext>
            </a:extLst>
          </p:cNvPr>
          <p:cNvSpPr/>
          <p:nvPr/>
        </p:nvSpPr>
        <p:spPr>
          <a:xfrm>
            <a:off x="0" y="0"/>
            <a:ext cx="9144000" cy="64008"/>
          </a:xfrm>
          <a:prstGeom prst="rect">
            <a:avLst/>
          </a:prstGeom>
          <a:solidFill>
            <a:srgbClr val="1B2E4E"/>
          </a:solidFill>
          <a:ln/>
        </p:spPr>
        <p:txBody>
          <a:bodyPr/>
          <a:lstStyle/>
          <a:p>
            <a:endParaRPr lang="en-US"/>
          </a:p>
        </p:txBody>
      </p:sp>
      <p:sp>
        <p:nvSpPr>
          <p:cNvPr id="3" name="Text 1">
            <a:extLst>
              <a:ext uri="{FF2B5EF4-FFF2-40B4-BE49-F238E27FC236}">
                <a16:creationId xmlns:a16="http://schemas.microsoft.com/office/drawing/2014/main" id="{412E0CAD-C247-9DD0-732B-A61994A41B46}"/>
              </a:ext>
            </a:extLst>
          </p:cNvPr>
          <p:cNvSpPr/>
          <p:nvPr/>
        </p:nvSpPr>
        <p:spPr>
          <a:xfrm>
            <a:off x="365760" y="109728"/>
            <a:ext cx="8412480" cy="640080"/>
          </a:xfrm>
          <a:prstGeom prst="rect">
            <a:avLst/>
          </a:prstGeom>
          <a:noFill/>
          <a:ln/>
        </p:spPr>
        <p:txBody>
          <a:bodyPr wrap="square" lIns="0" tIns="0" rIns="0" bIns="0" rtlCol="0" anchor="ctr"/>
          <a:lstStyle/>
          <a:p>
            <a:pPr marL="0" indent="0">
              <a:buNone/>
            </a:pPr>
            <a:r>
              <a:rPr lang="en-US" sz="2600" b="1" dirty="0">
                <a:solidFill>
                  <a:srgbClr val="1B2E4E"/>
                </a:solidFill>
                <a:latin typeface="Calibri" pitchFamily="34" charset="0"/>
                <a:cs typeface="Calibri" pitchFamily="34" charset="-120"/>
              </a:rPr>
              <a:t>Paper Analysis</a:t>
            </a:r>
            <a:endParaRPr lang="en-US" sz="2600" dirty="0"/>
          </a:p>
        </p:txBody>
      </p:sp>
      <p:sp>
        <p:nvSpPr>
          <p:cNvPr id="5" name="Shape 3">
            <a:extLst>
              <a:ext uri="{FF2B5EF4-FFF2-40B4-BE49-F238E27FC236}">
                <a16:creationId xmlns:a16="http://schemas.microsoft.com/office/drawing/2014/main" id="{BE92DF6D-9CFC-5091-5301-4F9D97FFE01E}"/>
              </a:ext>
            </a:extLst>
          </p:cNvPr>
          <p:cNvSpPr/>
          <p:nvPr/>
        </p:nvSpPr>
        <p:spPr>
          <a:xfrm>
            <a:off x="365760" y="749808"/>
            <a:ext cx="8412480" cy="22860"/>
          </a:xfrm>
          <a:prstGeom prst="rect">
            <a:avLst/>
          </a:prstGeom>
          <a:solidFill>
            <a:srgbClr val="1565C0"/>
          </a:solidFill>
          <a:ln/>
        </p:spPr>
        <p:txBody>
          <a:bodyPr/>
          <a:lstStyle/>
          <a:p>
            <a:endParaRPr lang="en-US"/>
          </a:p>
        </p:txBody>
      </p:sp>
      <p:sp>
        <p:nvSpPr>
          <p:cNvPr id="7" name="Shape 4">
            <a:extLst>
              <a:ext uri="{FF2B5EF4-FFF2-40B4-BE49-F238E27FC236}">
                <a16:creationId xmlns:a16="http://schemas.microsoft.com/office/drawing/2014/main" id="{0840FC02-3C61-D285-C186-9B4210B97B74}"/>
              </a:ext>
            </a:extLst>
          </p:cNvPr>
          <p:cNvSpPr/>
          <p:nvPr/>
        </p:nvSpPr>
        <p:spPr>
          <a:xfrm>
            <a:off x="78154" y="871044"/>
            <a:ext cx="3221637" cy="3757609"/>
          </a:xfrm>
          <a:prstGeom prst="rect">
            <a:avLst/>
          </a:prstGeom>
          <a:solidFill>
            <a:srgbClr val="EEF2F7"/>
          </a:solidFill>
          <a:ln w="12700">
            <a:solidFill>
              <a:srgbClr val="EEF2F7"/>
            </a:solidFill>
            <a:prstDash val="solid"/>
          </a:ln>
          <a:effectLst>
            <a:outerShdw blurRad="50800" dist="25400" dir="8100000" algn="bl" rotWithShape="0">
              <a:srgbClr val="000000">
                <a:alpha val="8000"/>
              </a:srgbClr>
            </a:outerShdw>
          </a:effectLst>
        </p:spPr>
        <p:txBody>
          <a:bodyPr/>
          <a:lstStyle/>
          <a:p>
            <a:pPr marL="285750" indent="-285750">
              <a:buFont typeface="Wingdings" pitchFamily="2" charset="2"/>
              <a:buChar char="Ø"/>
            </a:pPr>
            <a:r>
              <a:rPr lang="en-US" sz="1200" dirty="0"/>
              <a:t>The diagram shows the </a:t>
            </a:r>
            <a:r>
              <a:rPr lang="en-US" sz="1200" dirty="0" err="1"/>
              <a:t>WavTSK</a:t>
            </a:r>
            <a:r>
              <a:rPr lang="en-US" sz="1200" dirty="0"/>
              <a:t> framework with two main parts: feature extraction (left) and fuzzy classification (right). The raw EEG signal is first passed through learnable wavelet filters, which perform multi-level decomposition into different frequency components.</a:t>
            </a:r>
          </a:p>
          <a:p>
            <a:pPr marL="285750" indent="-285750">
              <a:buFont typeface="Wingdings" pitchFamily="2" charset="2"/>
              <a:buChar char="Ø"/>
            </a:pPr>
            <a:r>
              <a:rPr lang="en-US" sz="1200" dirty="0"/>
              <a:t> These components are denoised and converted into statistical features such as energy and amplitude. A band weighting module then learns which frequency bands are most important. </a:t>
            </a:r>
          </a:p>
          <a:p>
            <a:pPr marL="285750" indent="-285750">
              <a:buFont typeface="Wingdings" pitchFamily="2" charset="2"/>
              <a:buChar char="Ø"/>
            </a:pPr>
            <a:r>
              <a:rPr lang="en-US" sz="1200" dirty="0"/>
              <a:t>The resulting feature vector is fed into a TSK fuzzy classifier, where features are converted into fuzzy memberships. Multiple fuzzy rules are activated, normalized, and combined to produce the final output. Overall, the model combines learnable signal processing with interpretable decision-making.</a:t>
            </a:r>
          </a:p>
        </p:txBody>
      </p:sp>
      <p:sp>
        <p:nvSpPr>
          <p:cNvPr id="8" name="Text 5">
            <a:extLst>
              <a:ext uri="{FF2B5EF4-FFF2-40B4-BE49-F238E27FC236}">
                <a16:creationId xmlns:a16="http://schemas.microsoft.com/office/drawing/2014/main" id="{FAA1A9A8-8C80-8D00-2931-E708BDC0F6F8}"/>
              </a:ext>
            </a:extLst>
          </p:cNvPr>
          <p:cNvSpPr/>
          <p:nvPr/>
        </p:nvSpPr>
        <p:spPr>
          <a:xfrm>
            <a:off x="502920" y="1371600"/>
            <a:ext cx="8138160" cy="3602736"/>
          </a:xfrm>
          <a:prstGeom prst="rect">
            <a:avLst/>
          </a:prstGeom>
          <a:noFill/>
          <a:ln/>
        </p:spPr>
        <p:txBody>
          <a:bodyPr wrap="square" lIns="0" tIns="0" rIns="0" bIns="0" rtlCol="0" anchor="ctr"/>
          <a:lstStyle/>
          <a:p>
            <a:pPr marL="0" indent="0">
              <a:buNone/>
            </a:pPr>
            <a:endParaRPr lang="en-US" sz="1000" dirty="0"/>
          </a:p>
        </p:txBody>
      </p:sp>
      <p:pic>
        <p:nvPicPr>
          <p:cNvPr id="4" name="Picture 3">
            <a:extLst>
              <a:ext uri="{FF2B5EF4-FFF2-40B4-BE49-F238E27FC236}">
                <a16:creationId xmlns:a16="http://schemas.microsoft.com/office/drawing/2014/main" id="{AC2A2C8B-FF91-3AC9-3F45-23A8D01CD17D}"/>
              </a:ext>
            </a:extLst>
          </p:cNvPr>
          <p:cNvPicPr>
            <a:picLocks noChangeAspect="1"/>
          </p:cNvPicPr>
          <p:nvPr/>
        </p:nvPicPr>
        <p:blipFill>
          <a:blip r:embed="rId3"/>
          <a:stretch>
            <a:fillRect/>
          </a:stretch>
        </p:blipFill>
        <p:spPr>
          <a:xfrm>
            <a:off x="3363402" y="795528"/>
            <a:ext cx="5702444" cy="3035392"/>
          </a:xfrm>
          <a:prstGeom prst="rect">
            <a:avLst/>
          </a:prstGeom>
        </p:spPr>
      </p:pic>
    </p:spTree>
    <p:extLst>
      <p:ext uri="{BB962C8B-B14F-4D97-AF65-F5344CB8AC3E}">
        <p14:creationId xmlns:p14="http://schemas.microsoft.com/office/powerpoint/2010/main" val="42068558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29DFE8E-5940-82A8-1FA7-46A4AA48A04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CF9904E-99C8-D913-A2CC-72757653A0D2}"/>
              </a:ext>
            </a:extLst>
          </p:cNvPr>
          <p:cNvSpPr/>
          <p:nvPr/>
        </p:nvSpPr>
        <p:spPr>
          <a:xfrm>
            <a:off x="0" y="0"/>
            <a:ext cx="9144000" cy="64008"/>
          </a:xfrm>
          <a:prstGeom prst="rect">
            <a:avLst/>
          </a:prstGeom>
          <a:solidFill>
            <a:srgbClr val="1B2E4E"/>
          </a:solidFill>
          <a:ln/>
        </p:spPr>
        <p:txBody>
          <a:bodyPr/>
          <a:lstStyle/>
          <a:p>
            <a:endParaRPr lang="en-US"/>
          </a:p>
        </p:txBody>
      </p:sp>
      <p:sp>
        <p:nvSpPr>
          <p:cNvPr id="3" name="Text 1">
            <a:extLst>
              <a:ext uri="{FF2B5EF4-FFF2-40B4-BE49-F238E27FC236}">
                <a16:creationId xmlns:a16="http://schemas.microsoft.com/office/drawing/2014/main" id="{268091AA-92D1-8C6F-3643-44571C3ECEAA}"/>
              </a:ext>
            </a:extLst>
          </p:cNvPr>
          <p:cNvSpPr/>
          <p:nvPr/>
        </p:nvSpPr>
        <p:spPr>
          <a:xfrm>
            <a:off x="365760" y="109728"/>
            <a:ext cx="8412480" cy="640080"/>
          </a:xfrm>
          <a:prstGeom prst="rect">
            <a:avLst/>
          </a:prstGeom>
          <a:noFill/>
          <a:ln/>
        </p:spPr>
        <p:txBody>
          <a:bodyPr wrap="square" lIns="0" tIns="0" rIns="0" bIns="0" rtlCol="0" anchor="ctr"/>
          <a:lstStyle/>
          <a:p>
            <a:pPr marL="0" indent="0">
              <a:buNone/>
            </a:pPr>
            <a:r>
              <a:rPr lang="en-US" sz="2600" b="1" dirty="0">
                <a:solidFill>
                  <a:srgbClr val="1B2E4E"/>
                </a:solidFill>
                <a:latin typeface="Calibri" pitchFamily="34" charset="0"/>
                <a:cs typeface="Calibri" pitchFamily="34" charset="-120"/>
              </a:rPr>
              <a:t>Paper Analysis</a:t>
            </a:r>
            <a:endParaRPr lang="en-US" sz="2600" dirty="0"/>
          </a:p>
        </p:txBody>
      </p:sp>
      <p:sp>
        <p:nvSpPr>
          <p:cNvPr id="5" name="Shape 3">
            <a:extLst>
              <a:ext uri="{FF2B5EF4-FFF2-40B4-BE49-F238E27FC236}">
                <a16:creationId xmlns:a16="http://schemas.microsoft.com/office/drawing/2014/main" id="{9B42BE45-D2DA-F603-27B4-215867D5A55E}"/>
              </a:ext>
            </a:extLst>
          </p:cNvPr>
          <p:cNvSpPr/>
          <p:nvPr/>
        </p:nvSpPr>
        <p:spPr>
          <a:xfrm>
            <a:off x="365760" y="749808"/>
            <a:ext cx="8412480" cy="22860"/>
          </a:xfrm>
          <a:prstGeom prst="rect">
            <a:avLst/>
          </a:prstGeom>
          <a:solidFill>
            <a:srgbClr val="1565C0"/>
          </a:solidFill>
          <a:ln/>
        </p:spPr>
        <p:txBody>
          <a:bodyPr/>
          <a:lstStyle/>
          <a:p>
            <a:endParaRPr lang="en-US"/>
          </a:p>
        </p:txBody>
      </p:sp>
      <p:sp>
        <p:nvSpPr>
          <p:cNvPr id="7" name="Shape 4">
            <a:extLst>
              <a:ext uri="{FF2B5EF4-FFF2-40B4-BE49-F238E27FC236}">
                <a16:creationId xmlns:a16="http://schemas.microsoft.com/office/drawing/2014/main" id="{F0D5E547-C9EA-15DB-4899-14827D530E32}"/>
              </a:ext>
            </a:extLst>
          </p:cNvPr>
          <p:cNvSpPr/>
          <p:nvPr/>
        </p:nvSpPr>
        <p:spPr>
          <a:xfrm>
            <a:off x="78154" y="871044"/>
            <a:ext cx="8700086" cy="3757609"/>
          </a:xfrm>
          <a:prstGeom prst="rect">
            <a:avLst/>
          </a:prstGeom>
          <a:solidFill>
            <a:srgbClr val="EEF2F7"/>
          </a:solidFill>
          <a:ln w="12700">
            <a:solidFill>
              <a:srgbClr val="EEF2F7"/>
            </a:solidFill>
            <a:prstDash val="solid"/>
          </a:ln>
          <a:effectLst>
            <a:outerShdw blurRad="50800" dist="25400" dir="8100000" algn="bl" rotWithShape="0">
              <a:srgbClr val="000000">
                <a:alpha val="8000"/>
              </a:srgbClr>
            </a:outerShdw>
          </a:effectLst>
        </p:spPr>
        <p:txBody>
          <a:bodyPr/>
          <a:lstStyle/>
          <a:p>
            <a:pPr marL="285750" indent="-285750">
              <a:buFont typeface="Wingdings" pitchFamily="2" charset="2"/>
              <a:buChar char="Ø"/>
            </a:pPr>
            <a:endParaRPr lang="en-US" sz="1200" dirty="0"/>
          </a:p>
          <a:p>
            <a:pPr marL="285750" indent="-285750">
              <a:buFont typeface="Wingdings" pitchFamily="2" charset="2"/>
              <a:buChar char="Ø"/>
            </a:pPr>
            <a:endParaRPr lang="en-US" sz="1200" dirty="0"/>
          </a:p>
          <a:p>
            <a:pPr marL="285750" indent="-285750">
              <a:buFont typeface="Wingdings" pitchFamily="2" charset="2"/>
              <a:buChar char="Ø"/>
            </a:pPr>
            <a:endParaRPr lang="en-US" sz="1200" dirty="0"/>
          </a:p>
          <a:p>
            <a:pPr marL="285750" indent="-285750">
              <a:buFont typeface="Wingdings" pitchFamily="2" charset="2"/>
              <a:buChar char="Ø"/>
            </a:pPr>
            <a:endParaRPr lang="en-US" sz="1200" dirty="0"/>
          </a:p>
          <a:p>
            <a:pPr lvl="0" eaLnBrk="0" fontAlgn="base" hangingPunct="0">
              <a:spcBef>
                <a:spcPct val="0"/>
              </a:spcBef>
              <a:spcAft>
                <a:spcPct val="0"/>
              </a:spcAft>
            </a:pPr>
            <a:endParaRPr lang="en-US" altLang="en-US" sz="1200" dirty="0">
              <a:latin typeface="Arial" panose="020B0604020202020204" pitchFamily="34" charset="0"/>
            </a:endParaRPr>
          </a:p>
          <a:p>
            <a:pPr lvl="0" eaLnBrk="0" fontAlgn="base" hangingPunct="0">
              <a:spcBef>
                <a:spcPct val="0"/>
              </a:spcBef>
              <a:spcAft>
                <a:spcPct val="0"/>
              </a:spcAft>
              <a:buFontTx/>
              <a:buChar char="•"/>
            </a:pPr>
            <a:r>
              <a:rPr lang="en-US" altLang="en-US" sz="1200" dirty="0">
                <a:latin typeface="Arial" panose="020B0604020202020204" pitchFamily="34" charset="0"/>
              </a:rPr>
              <a:t>The paper proposes </a:t>
            </a:r>
            <a:r>
              <a:rPr lang="en-US" altLang="en-US" sz="1200" b="1" dirty="0" err="1">
                <a:latin typeface="Arial" panose="020B0604020202020204" pitchFamily="34" charset="0"/>
              </a:rPr>
              <a:t>WavTSK</a:t>
            </a:r>
            <a:r>
              <a:rPr lang="en-US" altLang="en-US" sz="1200" dirty="0">
                <a:latin typeface="Arial" panose="020B0604020202020204" pitchFamily="34" charset="0"/>
              </a:rPr>
              <a:t>, an end-to-end EEG decoding framework combining </a:t>
            </a:r>
            <a:r>
              <a:rPr lang="en-US" altLang="en-US" sz="1200" b="1" dirty="0">
                <a:latin typeface="Arial" panose="020B0604020202020204" pitchFamily="34" charset="0"/>
              </a:rPr>
              <a:t>learnable wavelet feature extraction</a:t>
            </a:r>
            <a:r>
              <a:rPr lang="en-US" altLang="en-US" sz="1200" dirty="0">
                <a:latin typeface="Arial" panose="020B0604020202020204" pitchFamily="34" charset="0"/>
              </a:rPr>
              <a:t> with a </a:t>
            </a:r>
            <a:r>
              <a:rPr lang="en-US" altLang="en-US" sz="1200" b="1" dirty="0">
                <a:latin typeface="Arial" panose="020B0604020202020204" pitchFamily="34" charset="0"/>
              </a:rPr>
              <a:t>TSK fuzzy classifier</a:t>
            </a:r>
            <a:r>
              <a:rPr lang="en-US" altLang="en-US" sz="1200" dirty="0">
                <a:latin typeface="Arial" panose="020B0604020202020204" pitchFamily="34" charset="0"/>
              </a:rPr>
              <a:t>. </a:t>
            </a:r>
          </a:p>
          <a:p>
            <a:pPr lvl="0" eaLnBrk="0" fontAlgn="base" hangingPunct="0">
              <a:spcBef>
                <a:spcPct val="0"/>
              </a:spcBef>
              <a:spcAft>
                <a:spcPct val="0"/>
              </a:spcAft>
              <a:buFontTx/>
              <a:buChar char="•"/>
            </a:pPr>
            <a:r>
              <a:rPr lang="en-US" altLang="en-US" sz="1200" dirty="0">
                <a:latin typeface="Arial" panose="020B0604020202020204" pitchFamily="34" charset="0"/>
              </a:rPr>
              <a:t>It replaces fixed wavelet filters with </a:t>
            </a:r>
            <a:r>
              <a:rPr lang="en-US" altLang="en-US" sz="1200" b="1" dirty="0">
                <a:latin typeface="Arial" panose="020B0604020202020204" pitchFamily="34" charset="0"/>
              </a:rPr>
              <a:t>trainable filters</a:t>
            </a:r>
            <a:r>
              <a:rPr lang="en-US" altLang="en-US" sz="1200" dirty="0">
                <a:latin typeface="Arial" panose="020B0604020202020204" pitchFamily="34" charset="0"/>
              </a:rPr>
              <a:t> to learn task-specific time-frequency representations. </a:t>
            </a:r>
          </a:p>
          <a:p>
            <a:pPr lvl="0" eaLnBrk="0" fontAlgn="base" hangingPunct="0">
              <a:spcBef>
                <a:spcPct val="0"/>
              </a:spcBef>
              <a:spcAft>
                <a:spcPct val="0"/>
              </a:spcAft>
              <a:buFontTx/>
              <a:buChar char="•"/>
            </a:pPr>
            <a:r>
              <a:rPr lang="en-US" altLang="en-US" sz="1200" dirty="0">
                <a:latin typeface="Arial" panose="020B0604020202020204" pitchFamily="34" charset="0"/>
              </a:rPr>
              <a:t>Includes </a:t>
            </a:r>
            <a:r>
              <a:rPr lang="en-US" altLang="en-US" sz="1200" b="1" dirty="0">
                <a:latin typeface="Arial" panose="020B0604020202020204" pitchFamily="34" charset="0"/>
              </a:rPr>
              <a:t>statistical feature extraction</a:t>
            </a:r>
            <a:r>
              <a:rPr lang="en-US" altLang="en-US" sz="1200" dirty="0">
                <a:latin typeface="Arial" panose="020B0604020202020204" pitchFamily="34" charset="0"/>
              </a:rPr>
              <a:t> and </a:t>
            </a:r>
            <a:r>
              <a:rPr lang="en-US" altLang="en-US" sz="1200" b="1" dirty="0">
                <a:latin typeface="Arial" panose="020B0604020202020204" pitchFamily="34" charset="0"/>
              </a:rPr>
              <a:t>band weighting</a:t>
            </a:r>
            <a:r>
              <a:rPr lang="en-US" altLang="en-US" sz="1200" dirty="0">
                <a:latin typeface="Arial" panose="020B0604020202020204" pitchFamily="34" charset="0"/>
              </a:rPr>
              <a:t> to highlight important frequency bands. </a:t>
            </a:r>
          </a:p>
          <a:p>
            <a:pPr lvl="0" eaLnBrk="0" fontAlgn="base" hangingPunct="0">
              <a:spcBef>
                <a:spcPct val="0"/>
              </a:spcBef>
              <a:spcAft>
                <a:spcPct val="0"/>
              </a:spcAft>
              <a:buFontTx/>
              <a:buChar char="•"/>
            </a:pPr>
            <a:r>
              <a:rPr lang="en-US" altLang="en-US" sz="1200" dirty="0">
                <a:latin typeface="Arial" panose="020B0604020202020204" pitchFamily="34" charset="0"/>
              </a:rPr>
              <a:t>Uses a </a:t>
            </a:r>
            <a:r>
              <a:rPr lang="en-US" altLang="en-US" sz="1200" b="1" dirty="0">
                <a:latin typeface="Arial" panose="020B0604020202020204" pitchFamily="34" charset="0"/>
              </a:rPr>
              <a:t>fuzzy rule-based classifier</a:t>
            </a:r>
            <a:r>
              <a:rPr lang="en-US" altLang="en-US" sz="1200" dirty="0">
                <a:latin typeface="Arial" panose="020B0604020202020204" pitchFamily="34" charset="0"/>
              </a:rPr>
              <a:t> to provide interpretability alongside accuracy. </a:t>
            </a:r>
          </a:p>
          <a:p>
            <a:pPr lvl="0" eaLnBrk="0" fontAlgn="base" hangingPunct="0">
              <a:spcBef>
                <a:spcPct val="0"/>
              </a:spcBef>
              <a:spcAft>
                <a:spcPct val="0"/>
              </a:spcAft>
              <a:buFontTx/>
              <a:buChar char="•"/>
            </a:pPr>
            <a:r>
              <a:rPr lang="en-US" altLang="en-US" sz="1200" dirty="0">
                <a:latin typeface="Arial" panose="020B0604020202020204" pitchFamily="34" charset="0"/>
              </a:rPr>
              <a:t>Evaluated on the </a:t>
            </a:r>
            <a:r>
              <a:rPr lang="en-US" altLang="en-US" sz="1200" b="1" dirty="0">
                <a:latin typeface="Arial" panose="020B0604020202020204" pitchFamily="34" charset="0"/>
              </a:rPr>
              <a:t>BCI Competition IV-2a dataset</a:t>
            </a:r>
            <a:r>
              <a:rPr lang="en-US" altLang="en-US" sz="1200" dirty="0">
                <a:latin typeface="Arial" panose="020B0604020202020204" pitchFamily="34" charset="0"/>
              </a:rPr>
              <a:t> for motor imagery classification. </a:t>
            </a:r>
          </a:p>
          <a:p>
            <a:pPr lvl="0" eaLnBrk="0" fontAlgn="base" hangingPunct="0">
              <a:spcBef>
                <a:spcPct val="0"/>
              </a:spcBef>
              <a:spcAft>
                <a:spcPct val="0"/>
              </a:spcAft>
              <a:buFontTx/>
              <a:buChar char="•"/>
            </a:pPr>
            <a:r>
              <a:rPr lang="en-US" altLang="en-US" sz="1200" dirty="0">
                <a:latin typeface="Arial" panose="020B0604020202020204" pitchFamily="34" charset="0"/>
              </a:rPr>
              <a:t>Achieves about </a:t>
            </a:r>
            <a:r>
              <a:rPr lang="en-US" altLang="en-US" sz="1200" b="1" dirty="0">
                <a:latin typeface="Arial" panose="020B0604020202020204" pitchFamily="34" charset="0"/>
              </a:rPr>
              <a:t>71.6% accuracy (cross-validation)</a:t>
            </a:r>
            <a:r>
              <a:rPr lang="en-US" altLang="en-US" sz="1200" dirty="0">
                <a:latin typeface="Arial" panose="020B0604020202020204" pitchFamily="34" charset="0"/>
              </a:rPr>
              <a:t> and </a:t>
            </a:r>
            <a:r>
              <a:rPr lang="en-US" altLang="en-US" sz="1200" b="1" dirty="0">
                <a:latin typeface="Arial" panose="020B0604020202020204" pitchFamily="34" charset="0"/>
              </a:rPr>
              <a:t>70.5% (cross-session)</a:t>
            </a:r>
            <a:r>
              <a:rPr lang="en-US" altLang="en-US" sz="1200" dirty="0">
                <a:latin typeface="Arial" panose="020B0604020202020204" pitchFamily="34" charset="0"/>
              </a:rPr>
              <a:t>. </a:t>
            </a:r>
          </a:p>
          <a:p>
            <a:pPr lvl="0" eaLnBrk="0" fontAlgn="base" hangingPunct="0">
              <a:spcBef>
                <a:spcPct val="0"/>
              </a:spcBef>
              <a:spcAft>
                <a:spcPct val="0"/>
              </a:spcAft>
              <a:buFontTx/>
              <a:buChar char="•"/>
            </a:pPr>
            <a:r>
              <a:rPr lang="en-US" altLang="en-US" sz="1200" dirty="0">
                <a:latin typeface="Arial" panose="020B0604020202020204" pitchFamily="34" charset="0"/>
              </a:rPr>
              <a:t>Outperforms baseline models like </a:t>
            </a:r>
            <a:r>
              <a:rPr lang="en-US" altLang="en-US" sz="1200" b="1" dirty="0" err="1">
                <a:latin typeface="Arial" panose="020B0604020202020204" pitchFamily="34" charset="0"/>
              </a:rPr>
              <a:t>EEGNet</a:t>
            </a:r>
            <a:r>
              <a:rPr lang="en-US" altLang="en-US" sz="1200" b="1" dirty="0">
                <a:latin typeface="Arial" panose="020B0604020202020204" pitchFamily="34" charset="0"/>
              </a:rPr>
              <a:t>, FBCSP, and </a:t>
            </a:r>
            <a:r>
              <a:rPr lang="en-US" altLang="en-US" sz="1200" b="1" dirty="0" err="1">
                <a:latin typeface="Arial" panose="020B0604020202020204" pitchFamily="34" charset="0"/>
              </a:rPr>
              <a:t>ShallowConvNet</a:t>
            </a:r>
            <a:r>
              <a:rPr lang="en-US" altLang="en-US" sz="1200" dirty="0">
                <a:latin typeface="Arial" panose="020B0604020202020204" pitchFamily="34" charset="0"/>
              </a:rPr>
              <a:t>. </a:t>
            </a:r>
          </a:p>
          <a:p>
            <a:pPr lvl="0" eaLnBrk="0" fontAlgn="base" hangingPunct="0">
              <a:spcBef>
                <a:spcPct val="0"/>
              </a:spcBef>
              <a:spcAft>
                <a:spcPct val="0"/>
              </a:spcAft>
              <a:buFontTx/>
              <a:buChar char="•"/>
            </a:pPr>
            <a:r>
              <a:rPr lang="en-US" altLang="en-US" sz="1200" dirty="0">
                <a:latin typeface="Arial" panose="020B0604020202020204" pitchFamily="34" charset="0"/>
              </a:rPr>
              <a:t>Ablation study shows the feature extraction module significantly boosts performance. </a:t>
            </a:r>
          </a:p>
          <a:p>
            <a:pPr lvl="0" eaLnBrk="0" fontAlgn="base" hangingPunct="0">
              <a:spcBef>
                <a:spcPct val="0"/>
              </a:spcBef>
              <a:spcAft>
                <a:spcPct val="0"/>
              </a:spcAft>
              <a:buFontTx/>
              <a:buChar char="•"/>
            </a:pPr>
            <a:r>
              <a:rPr lang="en-US" altLang="en-US" sz="1200" dirty="0">
                <a:latin typeface="Arial" panose="020B0604020202020204" pitchFamily="34" charset="0"/>
              </a:rPr>
              <a:t>Learned band weights align with </a:t>
            </a:r>
            <a:r>
              <a:rPr lang="en-US" altLang="en-US" sz="1200" b="1" dirty="0">
                <a:latin typeface="Arial" panose="020B0604020202020204" pitchFamily="34" charset="0"/>
              </a:rPr>
              <a:t>alpha and beta rhythms</a:t>
            </a:r>
            <a:r>
              <a:rPr lang="en-US" altLang="en-US" sz="1200" dirty="0">
                <a:latin typeface="Arial" panose="020B0604020202020204" pitchFamily="34" charset="0"/>
              </a:rPr>
              <a:t>, matching neuroscience insights. </a:t>
            </a:r>
          </a:p>
          <a:p>
            <a:pPr lvl="0" eaLnBrk="0" fontAlgn="base" hangingPunct="0">
              <a:spcBef>
                <a:spcPct val="0"/>
              </a:spcBef>
              <a:spcAft>
                <a:spcPct val="0"/>
              </a:spcAft>
              <a:buFontTx/>
              <a:buChar char="•"/>
            </a:pPr>
            <a:r>
              <a:rPr lang="en-US" altLang="en-US" sz="1200" dirty="0">
                <a:latin typeface="Arial" panose="020B0604020202020204" pitchFamily="34" charset="0"/>
              </a:rPr>
              <a:t>Overall, the model balances </a:t>
            </a:r>
            <a:r>
              <a:rPr lang="en-US" altLang="en-US" sz="1200" b="1" dirty="0">
                <a:latin typeface="Arial" panose="020B0604020202020204" pitchFamily="34" charset="0"/>
              </a:rPr>
              <a:t>performance, adaptability, and </a:t>
            </a:r>
            <a:r>
              <a:rPr lang="en-US" altLang="en-US" sz="1200" b="1">
                <a:latin typeface="Arial" panose="020B0604020202020204" pitchFamily="34" charset="0"/>
              </a:rPr>
              <a:t>interpretability</a:t>
            </a:r>
            <a:r>
              <a:rPr lang="en-US" altLang="en-US" sz="1200">
                <a:latin typeface="Arial" panose="020B0604020202020204" pitchFamily="34" charset="0"/>
              </a:rPr>
              <a:t> effectively</a:t>
            </a:r>
            <a:endParaRPr lang="en-US" altLang="en-US" sz="1200" dirty="0">
              <a:latin typeface="Arial" panose="020B0604020202020204" pitchFamily="34" charset="0"/>
            </a:endParaRPr>
          </a:p>
        </p:txBody>
      </p:sp>
      <p:sp>
        <p:nvSpPr>
          <p:cNvPr id="8" name="Text 5">
            <a:extLst>
              <a:ext uri="{FF2B5EF4-FFF2-40B4-BE49-F238E27FC236}">
                <a16:creationId xmlns:a16="http://schemas.microsoft.com/office/drawing/2014/main" id="{F5D61257-A329-C9BC-75B0-C5F816A150D6}"/>
              </a:ext>
            </a:extLst>
          </p:cNvPr>
          <p:cNvSpPr/>
          <p:nvPr/>
        </p:nvSpPr>
        <p:spPr>
          <a:xfrm>
            <a:off x="502920" y="1371600"/>
            <a:ext cx="8138160" cy="3602736"/>
          </a:xfrm>
          <a:prstGeom prst="rect">
            <a:avLst/>
          </a:prstGeom>
          <a:noFill/>
          <a:ln/>
        </p:spPr>
        <p:txBody>
          <a:bodyPr wrap="square" lIns="0" tIns="0" rIns="0" bIns="0" rtlCol="0" anchor="ctr"/>
          <a:lstStyle/>
          <a:p>
            <a:pPr marL="0" indent="0">
              <a:buNone/>
            </a:pPr>
            <a:endParaRPr lang="en-US" sz="1000" dirty="0"/>
          </a:p>
        </p:txBody>
      </p:sp>
      <p:sp>
        <p:nvSpPr>
          <p:cNvPr id="11" name="Rectangle 4">
            <a:extLst>
              <a:ext uri="{FF2B5EF4-FFF2-40B4-BE49-F238E27FC236}">
                <a16:creationId xmlns:a16="http://schemas.microsoft.com/office/drawing/2014/main" id="{7B450093-F2D3-4F1A-66A7-253EA50E4A0C}"/>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127055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143</TotalTime>
  <Words>1540</Words>
  <Application>Microsoft Macintosh PowerPoint</Application>
  <PresentationFormat>On-screen Show (16:9)</PresentationFormat>
  <Paragraphs>164</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Courier New</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Fourier to Learnable Dynamic Wavelets</dc:title>
  <dc:subject>PptxGenJS Presentation</dc:subject>
  <dc:creator>PptxGenJS</dc:creator>
  <cp:lastModifiedBy>Anand Mohan</cp:lastModifiedBy>
  <cp:revision>4</cp:revision>
  <dcterms:created xsi:type="dcterms:W3CDTF">2026-04-05T12:37:06Z</dcterms:created>
  <dcterms:modified xsi:type="dcterms:W3CDTF">2026-04-06T04:55:03Z</dcterms:modified>
</cp:coreProperties>
</file>