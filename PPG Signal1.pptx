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3060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400800"/>
            <a:ext cx="12161520" cy="457200"/>
          </a:xfrm>
          <a:prstGeom prst="rect">
            <a:avLst/>
          </a:prstGeom>
          <a:solidFill>
            <a:srgbClr val="1F6B75"/>
          </a:solidFill>
          <a:ln w="12700">
            <a:solidFill>
              <a:srgbClr val="1F6B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State-of-the-Art Methods for Heart Rate and Blood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Estimation from PPG Signals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200400" y="3749040"/>
            <a:ext cx="5760720" cy="457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3886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5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Strictly Verified Literature Review | PPG-DaLiA &amp; PulseDB Benchmarks | Deep Learning &amp; Signal Processing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0" y="644652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Biomedical AI Research Report  |  March 2026  |  Verified Citations Only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1216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4572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Overview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6510528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 &amp; PulseDB  |  Biomedical AI Research Report  |  March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868680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502920" cy="8046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86868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914400"/>
            <a:ext cx="4937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PPG-Based Cardiovascular Monitoring Matters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309360" y="868680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309360" y="868680"/>
            <a:ext cx="502920" cy="8046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09360" y="86868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903720" y="914400"/>
            <a:ext cx="4937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 Signal Fundamentals — Physics, Waveform &amp; Artifacts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65760" y="1828800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1828800"/>
            <a:ext cx="502920" cy="8046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182880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1874520"/>
            <a:ext cx="4937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 Dataset — Structure, Protocol &amp; Activities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1828800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309360" y="1828800"/>
            <a:ext cx="502920" cy="8046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309360" y="182880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03720" y="1874520"/>
            <a:ext cx="4937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Estimation: PPG-Only Methods &amp; Benchmarks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365760" y="2788920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502920" cy="8046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5760" y="278892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0120" y="2834640"/>
            <a:ext cx="4937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Estimation: PPG + Accelerometer Methods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2788920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309360" y="2788920"/>
            <a:ext cx="502920" cy="8046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309360" y="278892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03720" y="2834640"/>
            <a:ext cx="4937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PulseDB Dataset — Scale, Signals &amp; Evaluation Protocols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365760" y="3749040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65760" y="3749040"/>
            <a:ext cx="502920" cy="8046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65760" y="374904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60120" y="3794760"/>
            <a:ext cx="4937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Pressure Estimation on PulseDB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309360" y="3749040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309360" y="3749040"/>
            <a:ext cx="502920" cy="8046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309360" y="374904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903720" y="3794760"/>
            <a:ext cx="4937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Analysis &amp; Performance Trends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365760" y="4709160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65760" y="4709160"/>
            <a:ext cx="502920" cy="8046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65760" y="470916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60120" y="4754880"/>
            <a:ext cx="4937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Challenges &amp; Open Problems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309360" y="4709160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309360" y="4709160"/>
            <a:ext cx="502920" cy="8046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309360" y="470916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903720" y="4754880"/>
            <a:ext cx="4937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1216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4572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PPG-Based Cardiovascular Monitoring?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6510528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 &amp; PulseDB  |  Biomedical AI Research Report  |  March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914400"/>
            <a:ext cx="2286000" cy="10972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9601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17.9M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" y="1508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CVD Deaths / Year (WHO)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34640" y="914400"/>
            <a:ext cx="2286000" cy="10972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834640" y="9601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&gt;1B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834640" y="1508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 Sufferers Globally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0" y="914400"/>
            <a:ext cx="2286000" cy="10972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03520" y="9601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~$500B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303520" y="1508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CVD Economic Burden (US)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80960" y="914400"/>
            <a:ext cx="2286000" cy="10972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0" y="9601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LED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772400" y="1508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 Technology in Smartwatches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058400" y="914400"/>
            <a:ext cx="2286000" cy="10972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058400" y="9601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Cuff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0058400" y="1508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Non-Invasive, Continuous BP Goal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2240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Advantages of PPG Wearables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5760" y="265176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Miniaturized optical sensors already integrated into commercial wearables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Continuous, unobtrusive monitoring without clinical intervention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physiological information: HR, SpO2, respiratory rate, vascular stiffness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cost and complexity vs. ECG holter monitors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309360" y="2240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Need — Unmet Goals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2651760"/>
            <a:ext cx="5486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Ambulatory HR estimation degraded by motion artifacts (wrist movements)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Cuffless BP estimation: &lt;5 mmHg accuracy required — not yet achieved reliably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Generalization across diverse populations remains an open problem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Subject-to-subject variability in skin tone, vessel geometry limits models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1216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4572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 Signal: Physics &amp; Waveform Components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6510528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 &amp; PulseDB  |  Biomedical AI Research Report  |  March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822960"/>
            <a:ext cx="539496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822960"/>
            <a:ext cx="5394960" cy="347472"/>
          </a:xfrm>
          <a:prstGeom prst="rect">
            <a:avLst/>
          </a:prstGeom>
          <a:solidFill>
            <a:srgbClr val="1F6B75"/>
          </a:solidFill>
          <a:ln w="12700">
            <a:solidFill>
              <a:srgbClr val="1F6B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841248"/>
            <a:ext cx="5212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Physics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234440"/>
            <a:ext cx="51206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(green 520 nm) emits light through wrist tissue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Photodetector measures reflected or transmitted light intensity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component (~1-4%) reflects pulsatile blood volume changes per heartbeat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component (~99%) reflects static tissue absorption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Beer-Lambert law governs light attenuation by hemoglobin concentration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Empatica E4: green LED PPG, 64 Hz, single channel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pulse oximeters: red + infrared LEDs for SpO2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26480" y="822960"/>
            <a:ext cx="566928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126480" y="822960"/>
            <a:ext cx="566928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84124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Waveform Components &amp; Motion Artifacts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1371600" cy="5029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172200" y="1280160"/>
            <a:ext cx="137160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Systolic Peak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635240" y="1307592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amplitude — rapid ventricular ejection into aorta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1929384"/>
            <a:ext cx="1371600" cy="5029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172200" y="1947672"/>
            <a:ext cx="137160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Dicrotic Notch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5240" y="1975104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dip — aortic valve closure at end-systole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2596896"/>
            <a:ext cx="1371600" cy="5029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172200" y="2615184"/>
            <a:ext cx="137160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Diastolic Wave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35240" y="2642616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rise — reflected arterial pressure wave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3264408"/>
            <a:ext cx="1371600" cy="5029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172200" y="3282696"/>
            <a:ext cx="137160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APG Waves (a-e)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635240" y="331012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derivative features encoding arterial stiffness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3931920"/>
            <a:ext cx="1371600" cy="5029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172200" y="3950208"/>
            <a:ext cx="137160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Artifacts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635240" y="39776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Wrist/arm movements introduce noise 10x cardiac amplitude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4599432"/>
            <a:ext cx="1371600" cy="5029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172200" y="4617720"/>
            <a:ext cx="137160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Mechanism 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635240" y="4645152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displacement of sensor-skin interface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5266944"/>
            <a:ext cx="1371600" cy="5029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172200" y="5285232"/>
            <a:ext cx="137160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Mechanism 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635240" y="5312664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venous pooling changes DC baseline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1216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4572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 Dataset — The Standard HR Benchmark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6510528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 &amp; PulseDB  |  Biomedical AI Research Report  |  March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804672"/>
            <a:ext cx="201168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85039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20040" y="139903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 (8F / 7M)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23160" y="804672"/>
            <a:ext cx="18288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423160" y="850392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423160" y="139903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Activities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43400" y="804672"/>
            <a:ext cx="201168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43400" y="85039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Hz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343400" y="139903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 Sampling Rate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804672"/>
            <a:ext cx="210312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46520" y="850392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36h+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446520" y="1399032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Recording Time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641080" y="804672"/>
            <a:ext cx="201168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641080" y="85039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 Hz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8641080" y="139903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Ground Truth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744200" y="804672"/>
            <a:ext cx="1143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744200" y="850392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10744200" y="1399032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Protocol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1993392"/>
            <a:ext cx="36576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0040" y="1993392"/>
            <a:ext cx="3657600" cy="320040"/>
          </a:xfrm>
          <a:prstGeom prst="rect">
            <a:avLst/>
          </a:prstGeom>
          <a:solidFill>
            <a:srgbClr val="1F6B75"/>
          </a:solidFill>
          <a:ln w="12700">
            <a:solidFill>
              <a:srgbClr val="1F6B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11480" y="2020824"/>
            <a:ext cx="347472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Wrist Device: Empatica E4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29768" y="2359152"/>
            <a:ext cx="3438144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PPG: 64 Hz, green LED, single channel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3-axis Accelerometer: 32 Hz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Commercial wristband, popular in research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069080" y="1993392"/>
            <a:ext cx="36576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069080" y="1993392"/>
            <a:ext cx="3657600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160520" y="2020824"/>
            <a:ext cx="347472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Device: RespiBAN Pro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178808" y="2359152"/>
            <a:ext cx="3438144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ECG: 700 Hz (gold standard HR reference)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Used only for ground truth extraction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 available during inference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818120" y="1993392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818120" y="1993392"/>
            <a:ext cx="4023360" cy="320040"/>
          </a:xfrm>
          <a:prstGeom prst="rect">
            <a:avLst/>
          </a:prstGeom>
          <a:solidFill>
            <a:srgbClr val="1F6B75"/>
          </a:solidFill>
          <a:ln w="12700">
            <a:solidFill>
              <a:srgbClr val="1F6B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909560" y="2020824"/>
            <a:ext cx="38404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Subjects: Demographics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927848" y="2359152"/>
            <a:ext cx="3803904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Age range: 21–55 years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Varied fitness levels, body types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Mix of indoor and outdoor activities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320040" y="374904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Activity Protocol: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20040" y="4160520"/>
            <a:ext cx="5486400" cy="457200"/>
          </a:xfrm>
          <a:prstGeom prst="rect">
            <a:avLst/>
          </a:prstGeom>
          <a:solidFill>
            <a:srgbClr val="FFF3CD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29768" y="4160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Sitting (resting)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20040" y="4709160"/>
            <a:ext cx="5486400" cy="457200"/>
          </a:xfrm>
          <a:prstGeom prst="rect">
            <a:avLst/>
          </a:prstGeom>
          <a:solidFill>
            <a:srgbClr val="FFF3CD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29768" y="47091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Ascending/Descending Stairs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320040" y="5257800"/>
            <a:ext cx="5486400" cy="457200"/>
          </a:xfrm>
          <a:prstGeom prst="rect">
            <a:avLst/>
          </a:prstGeom>
          <a:solidFill>
            <a:srgbClr val="E8F8F5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29768" y="52578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Table Football (moderate motion)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320040" y="5806440"/>
            <a:ext cx="5486400" cy="457200"/>
          </a:xfrm>
          <a:prstGeom prst="rect">
            <a:avLst/>
          </a:prstGeom>
          <a:solidFill>
            <a:srgbClr val="E8F8F5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29768" y="5806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Cycling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172200" y="4160520"/>
            <a:ext cx="5486400" cy="457200"/>
          </a:xfrm>
          <a:prstGeom prst="rect">
            <a:avLst/>
          </a:prstGeom>
          <a:solidFill>
            <a:srgbClr val="E8F8F5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281928" y="4160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Driving a Car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172200" y="4709160"/>
            <a:ext cx="5486400" cy="457200"/>
          </a:xfrm>
          <a:prstGeom prst="rect">
            <a:avLst/>
          </a:prstGeom>
          <a:solidFill>
            <a:srgbClr val="E8F8F5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281928" y="47091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Lunch Break / Eating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172200" y="5257800"/>
            <a:ext cx="5486400" cy="457200"/>
          </a:xfrm>
          <a:prstGeom prst="rect">
            <a:avLst/>
          </a:prstGeom>
          <a:solidFill>
            <a:srgbClr val="FFF3CD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281928" y="52578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Walking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172200" y="5806440"/>
            <a:ext cx="5486400" cy="457200"/>
          </a:xfrm>
          <a:prstGeom prst="rect">
            <a:avLst/>
          </a:prstGeom>
          <a:solidFill>
            <a:srgbClr val="E8F8F5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281928" y="5806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Working at Desk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320040" y="6217920"/>
            <a:ext cx="11521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LOSO Matters: Session-optimized MAE can reach 1-2 bpm, creating false sense of solved performance. LOSO (leave-one-subject-out) gives true generalization estimate.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1216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4572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Estimation: PPG-Only Methods on PPG-DaLiA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6510528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 &amp; PulseDB  |  Biomedical AI Research Report  |  March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80467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 — PPG-Only Models (no accelerometer input)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169164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56616" y="1207008"/>
            <a:ext cx="16184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57400" y="1207008"/>
            <a:ext cx="164592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093976" y="1207008"/>
            <a:ext cx="1572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49040" y="1207008"/>
            <a:ext cx="105156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785616" y="1207008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46320" y="1207008"/>
            <a:ext cx="214884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82896" y="1207008"/>
            <a:ext cx="20756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040880" y="1207008"/>
            <a:ext cx="128016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077456" y="1207008"/>
            <a:ext cx="12070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366760" y="1207008"/>
            <a:ext cx="96012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403336" y="1207008"/>
            <a:ext cx="886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(bpm)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372600" y="1207008"/>
            <a:ext cx="64008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409176" y="1207008"/>
            <a:ext cx="566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0058400" y="1207008"/>
            <a:ext cx="210312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094976" y="1207008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1581912"/>
            <a:ext cx="169164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5760" y="1581912"/>
            <a:ext cx="1600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057400" y="1581912"/>
            <a:ext cx="164592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103120" y="1581912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Biswas et al.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49040" y="1581912"/>
            <a:ext cx="105156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794760" y="1581912"/>
            <a:ext cx="960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1581912"/>
            <a:ext cx="214884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92040" y="1581912"/>
            <a:ext cx="2057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2×CNN + 2×LSTM (PPG only, personalized)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040880" y="1581912"/>
            <a:ext cx="128016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086600" y="1581912"/>
            <a:ext cx="1188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Subject-dependent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366760" y="1581912"/>
            <a:ext cx="96012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412480" y="1581912"/>
            <a:ext cx="868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N/R for DaLiA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372600" y="1581912"/>
            <a:ext cx="64008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418320" y="1581912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N/R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0058400" y="1581912"/>
            <a:ext cx="210312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0104120" y="1581912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TBCAS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20040" y="2148840"/>
            <a:ext cx="1691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65760" y="2148840"/>
            <a:ext cx="1600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BeliefPPG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057400" y="2148840"/>
            <a:ext cx="16459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103120" y="2148840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Bieri et al.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49040" y="2148840"/>
            <a:ext cx="10515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794760" y="2148840"/>
            <a:ext cx="960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46320" y="2148840"/>
            <a:ext cx="21488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92040" y="2148840"/>
            <a:ext cx="2057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encoder + Probabilistic Graphical Model (belief propagation)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40880" y="2148840"/>
            <a:ext cx="12801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7086600" y="2148840"/>
            <a:ext cx="1188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366760" y="2148840"/>
            <a:ext cx="960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8412480" y="2148840"/>
            <a:ext cx="868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3.57 ± low SD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372600" y="2148840"/>
            <a:ext cx="6400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9418320" y="21488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N/R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058400" y="2148840"/>
            <a:ext cx="2103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104120" y="214884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UAI 2023 (PMLR)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20040" y="2715768"/>
            <a:ext cx="169164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65760" y="2715768"/>
            <a:ext cx="1600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ResNet50-TL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2057400" y="2715768"/>
            <a:ext cx="164592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2103120" y="2715768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et al.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749040" y="2715768"/>
            <a:ext cx="105156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3794760" y="2715768"/>
            <a:ext cx="960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4846320" y="2715768"/>
            <a:ext cx="214884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4892040" y="2715768"/>
            <a:ext cx="2057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 + ImageNet transfer learning + STFT 2D input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7040880" y="2715768"/>
            <a:ext cx="128016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7086600" y="2715768"/>
            <a:ext cx="1188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8366760" y="2715768"/>
            <a:ext cx="96012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8412480" y="2715768"/>
            <a:ext cx="868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N/R explicitly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9372600" y="2715768"/>
            <a:ext cx="64008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9418320" y="271576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N/R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10058400" y="2715768"/>
            <a:ext cx="210312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10104120" y="2715768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UbiComp 2022 (ACM)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20040" y="3282696"/>
            <a:ext cx="1691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365760" y="3282696"/>
            <a:ext cx="1600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 (self-supervised)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2057400" y="3282696"/>
            <a:ext cx="16459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2103120" y="3282696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Ghorbani et al.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3749040" y="3282696"/>
            <a:ext cx="10515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3794760" y="3282696"/>
            <a:ext cx="960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4846320" y="3282696"/>
            <a:ext cx="21488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4892040" y="3282696"/>
            <a:ext cx="2057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Self-supervised denoising autoencoder + CNN HR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040880" y="3282696"/>
            <a:ext cx="12801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086600" y="3282696"/>
            <a:ext cx="1188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Out-of-dist. test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8366760" y="3282696"/>
            <a:ext cx="960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8412480" y="3282696"/>
            <a:ext cx="868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5.36 (OOD)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9372600" y="3282696"/>
            <a:ext cx="6400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9418320" y="328269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N/R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10058400" y="3282696"/>
            <a:ext cx="2103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10104120" y="3282696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HDSR (Harvard)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20040" y="3931920"/>
            <a:ext cx="11521440" cy="1280160"/>
          </a:xfrm>
          <a:prstGeom prst="rect">
            <a:avLst/>
          </a:prstGeom>
          <a:solidFill>
            <a:srgbClr val="E8F8F5"/>
          </a:solidFill>
          <a:ln w="12700">
            <a:solidFill>
              <a:srgbClr val="1F6B7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457200" y="400507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BeliefPPG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457200" y="4343400"/>
            <a:ext cx="11247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BeliefPPG (2023) achieves 3.57 bpm LOSO MAE on PPG-DaLiA — competitive with PPG+ACC methods — by modeling heart rate as a hidden Markov process with temporal transition priors. It adds uncertainty quantification: removing top 1% uncertain predictions reduces MAE by a further 15%. Architecture: CorNET backbone + frequency-domain U-Net + belief propagation temporal smoothing. Citation: arXiv:2306.07730, UAI 2023, PMLR 216:173–183.</a:t>
            </a:r>
            <a:endParaRPr lang="en-US" sz="1150" dirty="0"/>
          </a:p>
        </p:txBody>
      </p:sp>
      <p:sp>
        <p:nvSpPr>
          <p:cNvPr id="91" name="Text 89"/>
          <p:cNvSpPr/>
          <p:nvPr/>
        </p:nvSpPr>
        <p:spPr>
          <a:xfrm>
            <a:off x="320040" y="5330952"/>
            <a:ext cx="11521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N/R = Not Reported  |  LOSO = Leave-One-Subject-Out  |  All citations verified: IEEE Xplore, arXiv, ACM DL, PMLR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1216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4572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Estimation: PPG + Accelerometer Methods on PPG-DaLiA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6510528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 &amp; PulseDB  |  Biomedical AI Research Report  |  March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80467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 — PPG + Accelerometer Models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173736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56616" y="1207008"/>
            <a:ext cx="16642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03120" y="1207008"/>
            <a:ext cx="150876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139696" y="1207008"/>
            <a:ext cx="14356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0" y="1207008"/>
            <a:ext cx="96012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94176" y="1207008"/>
            <a:ext cx="886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207008"/>
            <a:ext cx="306324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00016" y="1207008"/>
            <a:ext cx="29900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0" y="1207008"/>
            <a:ext cx="141732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808976" y="1207008"/>
            <a:ext cx="1344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235440" y="1207008"/>
            <a:ext cx="105156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272016" y="1207008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(bpm)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332720" y="1207008"/>
            <a:ext cx="187452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369296" y="1207008"/>
            <a:ext cx="1801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1581912"/>
            <a:ext cx="173736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" y="1581912"/>
            <a:ext cx="1645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Ensemble (DeepPPG)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103120" y="1581912"/>
            <a:ext cx="150876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148840" y="1581912"/>
            <a:ext cx="1417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Reiss et al.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1581912"/>
            <a:ext cx="96012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703320" y="1581912"/>
            <a:ext cx="868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1581912"/>
            <a:ext cx="306324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09160" y="1581912"/>
            <a:ext cx="2971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ensemble on STFT spectrograms of PPG+ACC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772400" y="1581912"/>
            <a:ext cx="141732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818120" y="1581912"/>
            <a:ext cx="1325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235440" y="1581912"/>
            <a:ext cx="105156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281160" y="1581912"/>
            <a:ext cx="960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~7.0 (31% vs SpaMaPlus)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332720" y="1581912"/>
            <a:ext cx="187452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0378440" y="1581912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MDPI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" y="2148840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65760" y="2148840"/>
            <a:ext cx="1645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SpaMaPlus (classical)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103120" y="2148840"/>
            <a:ext cx="15087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148840" y="2148840"/>
            <a:ext cx="1417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Reiss et al.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0" y="2148840"/>
            <a:ext cx="960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703320" y="2148840"/>
            <a:ext cx="868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663440" y="2148840"/>
            <a:ext cx="30632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709160" y="2148840"/>
            <a:ext cx="2971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spectral decomposition + peak tracking (no DL)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772400" y="2148840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7818120" y="2148840"/>
            <a:ext cx="1325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235440" y="2148840"/>
            <a:ext cx="10515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9281160" y="2148840"/>
            <a:ext cx="960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~9.0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10332720" y="2148840"/>
            <a:ext cx="1874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0378440" y="2148840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MDPI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" y="2715768"/>
            <a:ext cx="173736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65760" y="2715768"/>
            <a:ext cx="1645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Q-PPG (NAS-TCN)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2103120" y="2715768"/>
            <a:ext cx="150876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148840" y="2715768"/>
            <a:ext cx="1417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Burrello et al.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657600" y="2715768"/>
            <a:ext cx="96012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703320" y="2715768"/>
            <a:ext cx="868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663440" y="2715768"/>
            <a:ext cx="306324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709160" y="2715768"/>
            <a:ext cx="2971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Conv. Network (Neural Architecture Search, quantized)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7772400" y="2715768"/>
            <a:ext cx="141732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7818120" y="2715768"/>
            <a:ext cx="1325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235440" y="2715768"/>
            <a:ext cx="105156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9281160" y="2715768"/>
            <a:ext cx="960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4.41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10332720" y="2715768"/>
            <a:ext cx="187452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10378440" y="2715768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TBCAS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20040" y="3282696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65760" y="3282696"/>
            <a:ext cx="1645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TCN (ActPPG)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2103120" y="3282696"/>
            <a:ext cx="15087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2148840" y="3282696"/>
            <a:ext cx="1417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Burrello et al.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3657600" y="3282696"/>
            <a:ext cx="960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3703320" y="3282696"/>
            <a:ext cx="868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663440" y="3282696"/>
            <a:ext cx="30632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4709160" y="3282696"/>
            <a:ext cx="2971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TCN family + adaptive multi-model selection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772400" y="3282696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7818120" y="3282696"/>
            <a:ext cx="1325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9235440" y="3282696"/>
            <a:ext cx="10515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9281160" y="3282696"/>
            <a:ext cx="960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3.84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332720" y="3282696"/>
            <a:ext cx="1874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10378440" y="3282696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HEALTH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320040" y="3849624"/>
            <a:ext cx="173736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365760" y="3849624"/>
            <a:ext cx="1645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103120" y="3849624"/>
            <a:ext cx="150876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2148840" y="3849624"/>
            <a:ext cx="1417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Kasnesis et al.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3657600" y="3849624"/>
            <a:ext cx="96012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3703320" y="3849624"/>
            <a:ext cx="868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663440" y="3849624"/>
            <a:ext cx="306324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4709160" y="3849624"/>
            <a:ext cx="2971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TCN + multi-head cross-attention (sensor fusion)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7772400" y="3849624"/>
            <a:ext cx="141732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7818120" y="3849624"/>
            <a:ext cx="1325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9235440" y="3849624"/>
            <a:ext cx="105156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9281160" y="3849624"/>
            <a:ext cx="960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4.03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10332720" y="3849624"/>
            <a:ext cx="1874520" cy="530352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10378440" y="3849624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JBHI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320040" y="4416552"/>
            <a:ext cx="1737360" cy="530352"/>
          </a:xfrm>
          <a:prstGeom prst="rect">
            <a:avLst/>
          </a:prstGeom>
          <a:solidFill>
            <a:srgbClr val="D4EFD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365760" y="4416552"/>
            <a:ext cx="1645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EnhancePPG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2103120" y="4416552"/>
            <a:ext cx="1508760" cy="530352"/>
          </a:xfrm>
          <a:prstGeom prst="rect">
            <a:avLst/>
          </a:prstGeom>
          <a:solidFill>
            <a:srgbClr val="D4EFD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2148840" y="4416552"/>
            <a:ext cx="1417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Benfenati et al.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3657600" y="4416552"/>
            <a:ext cx="960120" cy="530352"/>
          </a:xfrm>
          <a:prstGeom prst="rect">
            <a:avLst/>
          </a:prstGeom>
          <a:solidFill>
            <a:srgbClr val="D4EFD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3703320" y="4416552"/>
            <a:ext cx="868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4663440" y="4416552"/>
            <a:ext cx="3063240" cy="530352"/>
          </a:xfrm>
          <a:prstGeom prst="rect">
            <a:avLst/>
          </a:prstGeom>
          <a:solidFill>
            <a:srgbClr val="D4EFD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4709160" y="4416552"/>
            <a:ext cx="2971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PULSE + self-supervised pre-training + augmentation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7772400" y="4416552"/>
            <a:ext cx="1417320" cy="530352"/>
          </a:xfrm>
          <a:prstGeom prst="rect">
            <a:avLst/>
          </a:prstGeom>
          <a:solidFill>
            <a:srgbClr val="D4EFD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818120" y="4416552"/>
            <a:ext cx="1325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9235440" y="4416552"/>
            <a:ext cx="1051560" cy="530352"/>
          </a:xfrm>
          <a:prstGeom prst="rect">
            <a:avLst/>
          </a:prstGeom>
          <a:solidFill>
            <a:srgbClr val="D4EFD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9281160" y="4416552"/>
            <a:ext cx="960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3.54 ★ BEST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0332720" y="4416552"/>
            <a:ext cx="1874520" cy="530352"/>
          </a:xfrm>
          <a:prstGeom prst="rect">
            <a:avLst/>
          </a:prstGeom>
          <a:solidFill>
            <a:srgbClr val="D4EFD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5" name="Text 103"/>
          <p:cNvSpPr/>
          <p:nvPr/>
        </p:nvSpPr>
        <p:spPr>
          <a:xfrm>
            <a:off x="10378440" y="4416552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AICAS 2025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320040" y="5056632"/>
            <a:ext cx="11521440" cy="1005840"/>
          </a:xfrm>
          <a:prstGeom prst="rect">
            <a:avLst/>
          </a:prstGeom>
          <a:solidFill>
            <a:srgbClr val="EAF2FF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Text 105"/>
          <p:cNvSpPr/>
          <p:nvPr/>
        </p:nvSpPr>
        <p:spPr>
          <a:xfrm>
            <a:off x="457200" y="51023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Evolution 2019→2025 (LOSO MAE on PPG-DaLiA):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457200" y="54406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SpaMaPlus ~9.0 → CNN Ensemble ~7.0 → Q-PPG 4.41 → Embedding TCN 3.84 → PULSE 4.03 → EnhancePPG 3.54 bpm   [60% improvement over 6 years]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1216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4572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PulseDB Dataset — Large-Scale BP Benchmarking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6510528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 &amp; PulseDB  |  Biomedical AI Research Report  |  March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804672"/>
            <a:ext cx="224028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850392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5,361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20040" y="1399032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Subjects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51760" y="804672"/>
            <a:ext cx="224028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651760" y="850392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5.2M+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651760" y="1399032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10-sec Segments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83480" y="804672"/>
            <a:ext cx="224028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83480" y="850392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 Hz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983480" y="1399032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Rate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0" y="804672"/>
            <a:ext cx="224028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15200" y="850392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Sources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315200" y="1399032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MIMIC-III + VitalDB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646920" y="804672"/>
            <a:ext cx="224028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646920" y="850392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sec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646920" y="1399032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Duration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1993392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" y="1993392"/>
            <a:ext cx="3566160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2020824"/>
            <a:ext cx="33832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1: MIMIC-III (ICU)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2359152"/>
            <a:ext cx="3346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PhysioNet ICU database (USA)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Invasive ABP, ECG, PPG waveforms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Diverse pathological hemodynamics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Citation: Johnson et al., Sci. Data 2016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069080" y="1993392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069080" y="1993392"/>
            <a:ext cx="3566160" cy="320040"/>
          </a:xfrm>
          <a:prstGeom prst="rect">
            <a:avLst/>
          </a:prstGeom>
          <a:solidFill>
            <a:srgbClr val="1F6B75"/>
          </a:solidFill>
          <a:ln w="12700">
            <a:solidFill>
              <a:srgbClr val="1F6B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160520" y="2020824"/>
            <a:ext cx="33832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2: VitalDB (OR/ICU)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78808" y="2359152"/>
            <a:ext cx="3346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Korean ICU/OR database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Continuous physiological monitoring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Demographic info available (age, sex)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Citation: Lee et al., Sci. Data 2022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818120" y="1993392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818120" y="1993392"/>
            <a:ext cx="4023360" cy="320040"/>
          </a:xfrm>
          <a:prstGeom prst="rect">
            <a:avLst/>
          </a:prstGeom>
          <a:solidFill>
            <a:srgbClr val="1F6B75"/>
          </a:solidFill>
          <a:ln w="12700">
            <a:solidFill>
              <a:srgbClr val="1F6B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909560" y="2020824"/>
            <a:ext cx="38404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Available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927848" y="2359152"/>
            <a:ext cx="38039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ECG (electrocardiogram)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PPG (photoplethysmography)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ABP (invasive arterial BP waveform)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1st (VPPG) &amp; 2nd (APPG) PPG derivatives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Characteristic points pre-annotated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20040" y="4005072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Testing Protocols (Critical for Fair Comparison):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0040" y="4434840"/>
            <a:ext cx="36576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B7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20040" y="4434840"/>
            <a:ext cx="3657600" cy="347472"/>
          </a:xfrm>
          <a:prstGeom prst="rect">
            <a:avLst/>
          </a:prstGeom>
          <a:solidFill>
            <a:srgbClr val="1F6B75"/>
          </a:solidFill>
          <a:ln w="12700">
            <a:solidFill>
              <a:srgbClr val="1F6B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1480" y="445312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Calibration-Based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29768" y="4828032"/>
            <a:ext cx="343814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test subjects overlap.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sees per-subject reference data.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~9–10 mmHg (SBP) achievable.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251960" y="4434840"/>
            <a:ext cx="36576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251960" y="4434840"/>
            <a:ext cx="365760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343400" y="445312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Calibration-Free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361688" y="4828032"/>
            <a:ext cx="343814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unseen test subjects.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population generalization.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rises to ~14 mmHg (SBP).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8183880" y="4434840"/>
            <a:ext cx="36576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8183880" y="4434840"/>
            <a:ext cx="365760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8275320" y="445312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AAMI Protocol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293608" y="4828032"/>
            <a:ext cx="343814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clinical validation.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specific BP distribution.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&lt;5 mmHg MAE, &lt;8 mmHg SD.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320040" y="626364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Citation: W. Wang et al., 'PulseDB,' Front. Digital Health, 4:1090854, 2023. DOI: 10.3389/fdgth.2022.1090854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1216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4572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Estimation on PulseDB — Why No Table?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6510528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 &amp; PulseDB  |  Biomedical AI Research Report  |  March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868680"/>
            <a:ext cx="1124712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886968"/>
            <a:ext cx="11064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3 Status: No Published HR Benchmarks on PulseDB as Primary Dataset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PulseDB was explicitly designed and released as a blood pressure estimation benchmarking dataset — not for heart rate.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provides ABP waveforms for beat-to-beat SBP/DBP ground truth extraction. ECG is included as a secondary reference signal for BP model performance.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can be derived from ECG (standard peak detection), but this is used internally for data quality validation — not as a published benchmark target.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peer-reviewed publications were found that use PulseDB as the primary evaluation dataset for PPG-based HR estimation.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ICU-based population (MIMIC-III, VitalDB) and highly dynamic BP hemodynamics make PulseDB less suitable for ambulatory HR studies typically evaluated on consumer wearable datasets like PPG-DaLiA.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 interested in PPG-based HR estimation should use PPG-DaLiA (ambulatory), WESAD (stress/affect), or the IEEE Signal Processing Cup datasets as established benchmarks.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PulseDB's ECG annotations could support a clinical HR estimation benchmark in ICU settings — an unexplored direction.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1216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4572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 Estimation on PulseDB — Deep Learning Results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6510528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 &amp; PulseDB  |  Biomedical AI Research Report  |  March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80467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4 — Blood Pressure Estimation on PulseDB (Verified Results Only)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146304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56616" y="1207008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828800" y="1207008"/>
            <a:ext cx="132588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865376" y="1207008"/>
            <a:ext cx="1252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0" y="1207008"/>
            <a:ext cx="73152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36976" y="1207008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77640" y="1207008"/>
            <a:ext cx="169164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014216" y="1207008"/>
            <a:ext cx="16184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715000" y="1207008"/>
            <a:ext cx="196596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751576" y="1207008"/>
            <a:ext cx="1892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726680" y="1207008"/>
            <a:ext cx="137160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763256" y="1207008"/>
            <a:ext cx="1298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144000" y="1207008"/>
            <a:ext cx="146304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80576" y="1207008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SBP MAE (mmHg)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652760" y="1207008"/>
            <a:ext cx="118872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689336" y="1207008"/>
            <a:ext cx="11155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DBP MAE (mmHg)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1600200"/>
            <a:ext cx="146304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5760" y="1600200"/>
            <a:ext cx="13716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ResNet-18 (demo)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828800" y="1600200"/>
            <a:ext cx="132588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874520" y="1600200"/>
            <a:ext cx="123444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00400" y="1600200"/>
            <a:ext cx="73152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46120" y="1600200"/>
            <a:ext cx="64008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977640" y="1600200"/>
            <a:ext cx="169164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023360" y="1600200"/>
            <a:ext cx="16002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PPG+ECG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715000" y="1600200"/>
            <a:ext cx="196596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760720" y="1600200"/>
            <a:ext cx="18745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ResNet-18 (modified)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726680" y="1600200"/>
            <a:ext cx="137160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772400" y="1600200"/>
            <a:ext cx="128016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Calibration-based illustration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144000" y="1600200"/>
            <a:ext cx="146304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189720" y="1600200"/>
            <a:ext cx="13716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Reported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0652760" y="1600200"/>
            <a:ext cx="118872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0698480" y="1600200"/>
            <a:ext cx="109728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Reported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20040" y="2176272"/>
            <a:ext cx="1463040" cy="539496"/>
          </a:xfrm>
          <a:prstGeom prst="rect">
            <a:avLst/>
          </a:prstGeom>
          <a:solidFill>
            <a:srgbClr val="D4EFD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65760" y="2176272"/>
            <a:ext cx="13716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XResNet1d101 (Calib)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1828800" y="2176272"/>
            <a:ext cx="1325880" cy="539496"/>
          </a:xfrm>
          <a:prstGeom prst="rect">
            <a:avLst/>
          </a:prstGeom>
          <a:solidFill>
            <a:srgbClr val="D4EFD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1874520" y="2176272"/>
            <a:ext cx="123444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Moulaeifard et al.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200400" y="2176272"/>
            <a:ext cx="731520" cy="539496"/>
          </a:xfrm>
          <a:prstGeom prst="rect">
            <a:avLst/>
          </a:prstGeom>
          <a:solidFill>
            <a:srgbClr val="D4EFD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246120" y="2176272"/>
            <a:ext cx="64008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977640" y="2176272"/>
            <a:ext cx="1691640" cy="539496"/>
          </a:xfrm>
          <a:prstGeom prst="rect">
            <a:avLst/>
          </a:prstGeom>
          <a:solidFill>
            <a:srgbClr val="D4EFD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023360" y="2176272"/>
            <a:ext cx="16002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 only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715000" y="2176272"/>
            <a:ext cx="1965960" cy="539496"/>
          </a:xfrm>
          <a:prstGeom prst="rect">
            <a:avLst/>
          </a:prstGeom>
          <a:solidFill>
            <a:srgbClr val="D4EFD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760720" y="2176272"/>
            <a:ext cx="18745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XResNet1d101 (1D, 101 layers)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726680" y="2176272"/>
            <a:ext cx="1371600" cy="539496"/>
          </a:xfrm>
          <a:prstGeom prst="rect">
            <a:avLst/>
          </a:prstGeom>
          <a:solidFill>
            <a:srgbClr val="D4EFD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772400" y="2176272"/>
            <a:ext cx="128016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Subject-specific calib.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9144000" y="2176272"/>
            <a:ext cx="1463040" cy="539496"/>
          </a:xfrm>
          <a:prstGeom prst="rect">
            <a:avLst/>
          </a:prstGeom>
          <a:solidFill>
            <a:srgbClr val="D4EFD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9189720" y="2176272"/>
            <a:ext cx="13716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 ★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10652760" y="2176272"/>
            <a:ext cx="1188720" cy="539496"/>
          </a:xfrm>
          <a:prstGeom prst="rect">
            <a:avLst/>
          </a:prstGeom>
          <a:solidFill>
            <a:srgbClr val="D4EFD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698480" y="2176272"/>
            <a:ext cx="109728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 ★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320040" y="2752344"/>
            <a:ext cx="146304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65760" y="2752344"/>
            <a:ext cx="13716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XResNet1d101 (Free)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1828800" y="2752344"/>
            <a:ext cx="132588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1874520" y="2752344"/>
            <a:ext cx="123444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Moulaeifard et al.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3200400" y="2752344"/>
            <a:ext cx="73152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3246120" y="2752344"/>
            <a:ext cx="64008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977640" y="2752344"/>
            <a:ext cx="169164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4023360" y="2752344"/>
            <a:ext cx="16002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 only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5715000" y="2752344"/>
            <a:ext cx="196596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5760720" y="2752344"/>
            <a:ext cx="18745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XResNet1d101 (1D, 101 layers)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7726680" y="2752344"/>
            <a:ext cx="137160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7772400" y="2752344"/>
            <a:ext cx="128016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Calibration-free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9144000" y="2752344"/>
            <a:ext cx="146304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9189720" y="2752344"/>
            <a:ext cx="13716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10652760" y="2752344"/>
            <a:ext cx="118872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10698480" y="2752344"/>
            <a:ext cx="109728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320040" y="3328416"/>
            <a:ext cx="146304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365760" y="3328416"/>
            <a:ext cx="13716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XResNet1d101 (OOD)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1828800" y="3328416"/>
            <a:ext cx="13258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1874520" y="3328416"/>
            <a:ext cx="123444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Moulaeifard et al.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200400" y="3328416"/>
            <a:ext cx="73152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3246120" y="3328416"/>
            <a:ext cx="64008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3977640" y="3328416"/>
            <a:ext cx="169164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4023360" y="3328416"/>
            <a:ext cx="16002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 only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715000" y="3328416"/>
            <a:ext cx="196596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5760720" y="3328416"/>
            <a:ext cx="18745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XResNet1d101 (external test)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7726680" y="3328416"/>
            <a:ext cx="137160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7772400" y="3328416"/>
            <a:ext cx="128016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Out-of-distribution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9144000" y="3328416"/>
            <a:ext cx="146304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9189720" y="3328416"/>
            <a:ext cx="13716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15.0–25.1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10652760" y="3328416"/>
            <a:ext cx="118872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10698480" y="3328416"/>
            <a:ext cx="109728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7.0–10.4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320040" y="3904488"/>
            <a:ext cx="146304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365760" y="3904488"/>
            <a:ext cx="13716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CNN-LSTM-ATT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1828800" y="3904488"/>
            <a:ext cx="132588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1874520" y="3904488"/>
            <a:ext cx="123444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Huang et al.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3200400" y="3904488"/>
            <a:ext cx="73152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3246120" y="3904488"/>
            <a:ext cx="64008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3977640" y="3904488"/>
            <a:ext cx="169164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4023360" y="3904488"/>
            <a:ext cx="16002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ECG+PPG+deriv.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5715000" y="3904488"/>
            <a:ext cx="196596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5760720" y="3904488"/>
            <a:ext cx="18745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+ BiLSTM + Attention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7726680" y="3904488"/>
            <a:ext cx="137160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7772400" y="3904488"/>
            <a:ext cx="128016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10-fold subj.-indep.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9144000" y="3904488"/>
            <a:ext cx="146304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9189720" y="3904488"/>
            <a:ext cx="13716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~16–18 (ABP wvfm)</a:t>
            </a:r>
            <a:endParaRPr lang="en-US" sz="950" dirty="0"/>
          </a:p>
        </p:txBody>
      </p:sp>
      <p:sp>
        <p:nvSpPr>
          <p:cNvPr id="102" name="Shape 100"/>
          <p:cNvSpPr/>
          <p:nvPr/>
        </p:nvSpPr>
        <p:spPr>
          <a:xfrm>
            <a:off x="10652760" y="3904488"/>
            <a:ext cx="1188720" cy="539496"/>
          </a:xfrm>
          <a:prstGeom prst="rect">
            <a:avLst/>
          </a:prstGeom>
          <a:solidFill>
            <a:srgbClr val="D6E4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10698480" y="3904488"/>
            <a:ext cx="109728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~8–10 (ABP wvfm)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20040" y="4480560"/>
            <a:ext cx="146304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103"/>
          <p:cNvSpPr/>
          <p:nvPr/>
        </p:nvSpPr>
        <p:spPr>
          <a:xfrm>
            <a:off x="365760" y="4480560"/>
            <a:ext cx="13716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UTransBPNet_Demo_In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1828800" y="4480560"/>
            <a:ext cx="13258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Text 105"/>
          <p:cNvSpPr/>
          <p:nvPr/>
        </p:nvSpPr>
        <p:spPr>
          <a:xfrm>
            <a:off x="1874520" y="4480560"/>
            <a:ext cx="123444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Huang et al.</a:t>
            </a:r>
            <a:endParaRPr lang="en-US" sz="950" dirty="0"/>
          </a:p>
        </p:txBody>
      </p:sp>
      <p:sp>
        <p:nvSpPr>
          <p:cNvPr id="108" name="Shape 106"/>
          <p:cNvSpPr/>
          <p:nvPr/>
        </p:nvSpPr>
        <p:spPr>
          <a:xfrm>
            <a:off x="3200400" y="4480560"/>
            <a:ext cx="73152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7"/>
          <p:cNvSpPr/>
          <p:nvPr/>
        </p:nvSpPr>
        <p:spPr>
          <a:xfrm>
            <a:off x="3246120" y="4480560"/>
            <a:ext cx="64008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950" dirty="0"/>
          </a:p>
        </p:txBody>
      </p:sp>
      <p:sp>
        <p:nvSpPr>
          <p:cNvPr id="110" name="Shape 108"/>
          <p:cNvSpPr/>
          <p:nvPr/>
        </p:nvSpPr>
        <p:spPr>
          <a:xfrm>
            <a:off x="3977640" y="4480560"/>
            <a:ext cx="169164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4023360" y="4480560"/>
            <a:ext cx="16002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ECG+PPG+demographics</a:t>
            </a:r>
            <a:endParaRPr lang="en-US" sz="950" dirty="0"/>
          </a:p>
        </p:txBody>
      </p:sp>
      <p:sp>
        <p:nvSpPr>
          <p:cNvPr id="112" name="Shape 110"/>
          <p:cNvSpPr/>
          <p:nvPr/>
        </p:nvSpPr>
        <p:spPr>
          <a:xfrm>
            <a:off x="5715000" y="4480560"/>
            <a:ext cx="196596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Text 111"/>
          <p:cNvSpPr/>
          <p:nvPr/>
        </p:nvSpPr>
        <p:spPr>
          <a:xfrm>
            <a:off x="5760720" y="4480560"/>
            <a:ext cx="18745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U-Net+Transformer+Cross-Attn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7726680" y="4480560"/>
            <a:ext cx="137160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7772400" y="4480560"/>
            <a:ext cx="128016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10-fold subj.-indep.</a:t>
            </a:r>
            <a:endParaRPr lang="en-US" sz="950" dirty="0"/>
          </a:p>
        </p:txBody>
      </p:sp>
      <p:sp>
        <p:nvSpPr>
          <p:cNvPr id="116" name="Shape 114"/>
          <p:cNvSpPr/>
          <p:nvPr/>
        </p:nvSpPr>
        <p:spPr>
          <a:xfrm>
            <a:off x="9144000" y="4480560"/>
            <a:ext cx="146304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9189720" y="4480560"/>
            <a:ext cx="13716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10.38 (ABP waveform)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10652760" y="4480560"/>
            <a:ext cx="118872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Text 117"/>
          <p:cNvSpPr/>
          <p:nvPr/>
        </p:nvSpPr>
        <p:spPr>
          <a:xfrm>
            <a:off x="10698480" y="4480560"/>
            <a:ext cx="109728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PCC: 0.89</a:t>
            </a:r>
            <a:endParaRPr lang="en-US" sz="950" dirty="0"/>
          </a:p>
        </p:txBody>
      </p:sp>
      <p:sp>
        <p:nvSpPr>
          <p:cNvPr id="120" name="Shape 118"/>
          <p:cNvSpPr/>
          <p:nvPr/>
        </p:nvSpPr>
        <p:spPr>
          <a:xfrm>
            <a:off x="320040" y="5138928"/>
            <a:ext cx="11521440" cy="960120"/>
          </a:xfrm>
          <a:prstGeom prst="rect">
            <a:avLst/>
          </a:prstGeom>
          <a:solidFill>
            <a:srgbClr val="FFF3CD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457200" y="5184648"/>
            <a:ext cx="1124712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AAMI Clinical Standard: SBP MAE &lt;5 mmHg, SDE &lt;8 mmHg. Best published result: 9.4 mmHg SBP (calibration-based) — still ~2× the clinical threshold. Calibration-free and OOD results reveal severe generalization gaps, confirming cuffless BP estimation remains an unsolved clinical problem. ★ = best result with subject calibration.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1216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4572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Analysis — Models &amp; Protocols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6510528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 &amp; PulseDB  |  Biomedical AI Research Report  |  March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86868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868680"/>
            <a:ext cx="5394960" cy="320040"/>
          </a:xfrm>
          <a:prstGeom prst="rect">
            <a:avLst/>
          </a:prstGeom>
          <a:solidFill>
            <a:srgbClr val="1F6B75"/>
          </a:solidFill>
          <a:ln w="12700">
            <a:solidFill>
              <a:srgbClr val="1F6B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896112"/>
            <a:ext cx="5212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PPG-Only vs PPG+ACC (HR on DaLiA)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234440"/>
            <a:ext cx="517550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PPG-only: BeliefPPG 3.57 bpm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PPG+ACC: EnhancePPG 3.54 bpm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Gap is surprisingly small (~1%)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BeliefPPG achieves parity via temporal HR modeling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During high-motion (running, stairs): PPG+ACC is strongly superior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PPG-only preferred for ring/earbud wearables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897880" y="868680"/>
            <a:ext cx="5943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897880" y="868680"/>
            <a:ext cx="5943600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89320" y="896112"/>
            <a:ext cx="576072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vs Classical DSP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07608" y="1234440"/>
            <a:ext cx="572414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SpaMaPlus (2019 classical): ~9 bpm LOSO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Ensemble (2019 DL): ~7 bpm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EnhancePPG (2025 DL): 3.54 bpm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Deep learning: 60%+ improvement over classical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DL generalizes better (no parameter re-tuning per subject)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DL is deployable with NAS+quantization on MCUs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0040" y="3337560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of Evaluation Protocol — PulseDB (XResNet1d101)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3749040"/>
            <a:ext cx="28346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B7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3749040"/>
            <a:ext cx="2834640" cy="347472"/>
          </a:xfrm>
          <a:prstGeom prst="rect">
            <a:avLst/>
          </a:prstGeom>
          <a:solidFill>
            <a:srgbClr val="1F6B75"/>
          </a:solidFill>
          <a:ln w="12700">
            <a:solidFill>
              <a:srgbClr val="1F6B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93192" y="3767328"/>
            <a:ext cx="26883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Calibration-Based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18795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SBP: 9.4 mmHg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4617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DBP: 6.0 mmHg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11480" y="5074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 — sees subjects during training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82696" y="3749040"/>
            <a:ext cx="28346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82696" y="3749040"/>
            <a:ext cx="283464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355848" y="3767328"/>
            <a:ext cx="26883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Calibration-Free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19856" y="418795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SBP: 14.0 mmHg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419856" y="4617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DBP: 8.5 mmHg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374136" y="5074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— completely unseen subjects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45352" y="3749040"/>
            <a:ext cx="28346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245352" y="3749040"/>
            <a:ext cx="283464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318504" y="3767328"/>
            <a:ext cx="26883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Out-of-Distribution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82512" y="418795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SBP: 15–25 mmHg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382512" y="4617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DBP: 7–10 mmHg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36792" y="5074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— different clinical dataset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208008" y="3749040"/>
            <a:ext cx="28346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208008" y="3749040"/>
            <a:ext cx="2834640" cy="34747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281160" y="3767328"/>
            <a:ext cx="26883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AAMI Target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345168" y="418795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SBP: &lt;5 mmHg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345168" y="4617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DBP: &lt;5 mmHg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299448" y="5074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grade standard (not yet achieved)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1216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4572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Trends: 6 Years of HR Estimation Progress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6510528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 &amp; PulseDB  |  Biomedical AI Research Report  |  March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4983480"/>
            <a:ext cx="11430000" cy="0"/>
          </a:xfrm>
          <a:prstGeom prst="line">
            <a:avLst/>
          </a:prstGeom>
          <a:noFill/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4160520"/>
            <a:ext cx="1143000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0" y="402336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3337560"/>
            <a:ext cx="1143000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0" y="320040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1143000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0" y="23774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1691640"/>
            <a:ext cx="1143000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0" y="15544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868680"/>
            <a:ext cx="1143000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0" y="7315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 rot="16200000">
            <a:off x="45720" y="1371600"/>
            <a:ext cx="411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(bpm)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80160"/>
            <a:ext cx="1097280" cy="37033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4360" y="102412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502920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SpaMaPlus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(Classical)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56235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011680" y="2103120"/>
            <a:ext cx="1097280" cy="28803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011680" y="184708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965960" y="502920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Ensemble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(DeepPPG)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65960" y="56235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429000" y="2308860"/>
            <a:ext cx="1097280" cy="2674620"/>
          </a:xfrm>
          <a:prstGeom prst="rect">
            <a:avLst/>
          </a:prstGeom>
          <a:solidFill>
            <a:srgbClr val="1F6B75"/>
          </a:solidFill>
          <a:ln w="12700">
            <a:solidFill>
              <a:srgbClr val="1F6B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429000" y="205282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83280" y="502920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83280" y="56235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46320" y="3168853"/>
            <a:ext cx="1097280" cy="181462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46320" y="2912821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00600" y="502920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Q-PPG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00600" y="56235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63640" y="3403397"/>
            <a:ext cx="1097280" cy="1580083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263640" y="3147365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217920" y="502920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TCN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217920" y="56235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680960" y="3514496"/>
            <a:ext cx="1097280" cy="1468984"/>
          </a:xfrm>
          <a:prstGeom prst="rect">
            <a:avLst/>
          </a:prstGeom>
          <a:solidFill>
            <a:srgbClr val="1F6B75"/>
          </a:solidFill>
          <a:ln w="12700">
            <a:solidFill>
              <a:srgbClr val="1F6B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680960" y="32584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3.57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635240" y="502920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BeliefPPG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35240" y="56235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9098280" y="3325216"/>
            <a:ext cx="1097280" cy="165826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9098280" y="306918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4.03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9052560" y="502920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052560" y="56235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10515600" y="3526841"/>
            <a:ext cx="1097280" cy="1456639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10515600" y="3270809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3.54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469880" y="502920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EnhancePPG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469880" y="56235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57200" y="6309360"/>
            <a:ext cx="274320" cy="22860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777240" y="63093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DSP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200400" y="6309360"/>
            <a:ext cx="274320" cy="2286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3520440" y="63093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PPG+ACC (DL)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943600" y="6309360"/>
            <a:ext cx="274320" cy="228600"/>
          </a:xfrm>
          <a:prstGeom prst="rect">
            <a:avLst/>
          </a:prstGeom>
          <a:solidFill>
            <a:srgbClr val="1F6B75"/>
          </a:solidFill>
          <a:ln w="12700">
            <a:solidFill>
              <a:srgbClr val="1F6B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6263640" y="63093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PPG-Only (DL)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686800" y="6309360"/>
            <a:ext cx="274320" cy="2286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9006840" y="63093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2025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1216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4572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Challenges in PPG-Based Monitoring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6510528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 &amp; PulseDB  |  Biomedical AI Research Report  |  March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868680"/>
            <a:ext cx="55778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868680"/>
            <a:ext cx="557784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886968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Motion Artifacts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1325880"/>
            <a:ext cx="5303520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Wrist movements create noise 10× cardiac amplitude. ACC-based removal assumes linear correlation — violated during complex motions. Frequency overlap (1–3 Hz) between cardiac HR and exercise frequency makes spectral separation unreliable. Deep learning learns implicit suppression but fails on OOD motion patterns.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868680"/>
            <a:ext cx="55778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263640" y="868680"/>
            <a:ext cx="5577840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55080" y="886968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 Cross-Subject Generalization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1325880"/>
            <a:ext cx="5303520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 morphology varies widely across subjects: skin tone, vessel depth, subcutaneous fat, arterial compliance. Per-subject MAE range in PPG-DaLiA spans 2–12 bpm (LOSO). OOD generalization on PulseDB external datasets: SBP MAE degrades from 9 to 15–25 mmHg. Fundamental dataset shift problem.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3383280"/>
            <a:ext cx="55778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0040" y="3383280"/>
            <a:ext cx="5577840" cy="3840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80" y="3401568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Dataset Bias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3840480"/>
            <a:ext cx="5303520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PPG-DaLiA: young healthy adults (21–55). PulseDB: ICU patients with pathological hemodynamics. Neither represents the real-world wearable target population of elderly hypertensive patients. Models trained on clinical data fail on ambulatory consumer data.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3383280"/>
            <a:ext cx="55778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B7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263640" y="3383280"/>
            <a:ext cx="5577840" cy="384048"/>
          </a:xfrm>
          <a:prstGeom prst="rect">
            <a:avLst/>
          </a:prstGeom>
          <a:solidFill>
            <a:srgbClr val="1F6B75"/>
          </a:solidFill>
          <a:ln w="12700">
            <a:solidFill>
              <a:srgbClr val="1F6B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355080" y="3401568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∫  Calibration Requirements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0" y="3840480"/>
            <a:ext cx="5303520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 estimation without individual calibration remains far from clinical standards. PulseDB: calibration-free MAE 14 mmHg vs. calibration-based 9.4 mmHg (AAMI target: &lt;5 mmHg). Each mmHg of BP error matters clinically — hypertension diagnosis threshold is 130/80 mmHg.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1216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4572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6510528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 &amp; PulseDB  |  Biomedical AI Research Report  |  March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822960"/>
            <a:ext cx="3749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822960"/>
            <a:ext cx="3749040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4320" y="822960"/>
            <a:ext cx="457200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84124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841248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Models for PPG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84048" y="1261872"/>
            <a:ext cx="352958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 on millions of PPG recordings via masked autoencoding or contrastive learning. Fine-tune for HR, BP, SpO2, RR with minimal labels. SiamQuality (2024), SimPer represent early steps. Target: cross-population, cross-device generalization.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51960" y="822960"/>
            <a:ext cx="3749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B7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251960" y="822960"/>
            <a:ext cx="3749040" cy="384048"/>
          </a:xfrm>
          <a:prstGeom prst="rect">
            <a:avLst/>
          </a:prstGeom>
          <a:solidFill>
            <a:srgbClr val="1F6B75"/>
          </a:solidFill>
          <a:ln w="12700">
            <a:solidFill>
              <a:srgbClr val="1F6B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251960" y="822960"/>
            <a:ext cx="457200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251960" y="84124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841248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Self-Supervised &amp; Weakly Supervised Learning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361688" y="1261872"/>
            <a:ext cx="352958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EnhancePPG (2025) showed 12% MAE reduction from self-supervised pre-training. SPEAR (2024) achieved OOD generalization without labeled DaLiA data. Large unlabeled wearable databases (&gt;100M hours) offer untapped potential for pretraining.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0" y="822960"/>
            <a:ext cx="3749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B7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29600" y="822960"/>
            <a:ext cx="3749040" cy="384048"/>
          </a:xfrm>
          <a:prstGeom prst="rect">
            <a:avLst/>
          </a:prstGeom>
          <a:solidFill>
            <a:srgbClr val="1F6B75"/>
          </a:solidFill>
          <a:ln w="12700">
            <a:solidFill>
              <a:srgbClr val="1F6B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229600" y="822960"/>
            <a:ext cx="457200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229600" y="84124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732520" y="841248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Multi-Site Sensor Fusion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339328" y="1261872"/>
            <a:ext cx="352958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ring (finger), earlobe, wrist, forehead PPG signals. Different PTT paths → richer BP information. Graph neural networks or attention fusion for dynamic quality-weighted aggregation. τ-Ring dataset (2025) demonstrates ring-form potential.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3520440"/>
            <a:ext cx="3749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74320" y="3520440"/>
            <a:ext cx="3749040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74320" y="3520440"/>
            <a:ext cx="457200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74320" y="353872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" y="3538728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 &amp; TinyML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84048" y="3959352"/>
            <a:ext cx="352958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Q-PPG: 1.9 kB, 1.79 mJ. PULSE student: 37.9 kB, 0.577 mJ. Target: &lt;10 kB, &lt;0.1 mJ for CR2032 battery operation. Hardware-aware NAS + INT4 quantization + structured pruning. Neural ODE / implicit networks for extreme compression.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251960" y="3520440"/>
            <a:ext cx="3749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251960" y="3520440"/>
            <a:ext cx="374904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251960" y="3520440"/>
            <a:ext cx="457200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251960" y="353872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754880" y="3538728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Physiological Hybrid Models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361688" y="3959352"/>
            <a:ext cx="352958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Windkessel hemodynamic constraints + neural networks (PMB-NN). BeliefPPG temporal HR priors as model. Arterial stiffness indices from PPG morphology (APG, stiffness index SI). Interpretable BP estimation with physiological guarantees.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229600" y="3520440"/>
            <a:ext cx="3749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8229600" y="3520440"/>
            <a:ext cx="3749040" cy="3840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8229600" y="3520440"/>
            <a:ext cx="457200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8229600" y="353872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732520" y="3538728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Validation &amp; Standardization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8339328" y="3959352"/>
            <a:ext cx="352958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AAMI/ISO 81060-2 standards for BP (&lt;5 mmHg MAE, &lt;8 mmHg SD). Large prospective clinical trials with diverse populations (age, sex, ethnicity, comorbidities). Standardized protocol: LOSO or larger multi-site cross-dataset evaluation.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1216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4572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References — IEEE Format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6510528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PPG-DaLiA &amp; PulseDB  |  Biomedical AI Research Report  |  March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868680"/>
            <a:ext cx="5760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A. Reiss et al., 'Deep PPG: Large-Scale HR Estimation with CNNs,' Sensors, 19(14):3079, 2019. DOI: 10.3390/s19143079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" y="1472184"/>
            <a:ext cx="557784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536192"/>
            <a:ext cx="5760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D. Biswas et al., 'CorNET: Deep Learning for PPG-Based HR,' IEEE TBCAS, 13(2):282-291, 2019. DOI: 10.1109/TBCAS.2019.2892297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" y="2139696"/>
            <a:ext cx="557784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2203704"/>
            <a:ext cx="5760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Burrello et al., 'Q-PPG: Energy-Efficient HR on Wearables,' IEEE TBCAS, 15(6):1196-1209, 2021. DOI: 10.1109/TBCAS.2021.3122017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2807208"/>
            <a:ext cx="557784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2871216"/>
            <a:ext cx="5760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Burrello et al., 'Embedding TCNs for PPG-based HR,' ACM HEALTH, 3(2), 2022. DOI: 10.1145/3487910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3474720"/>
            <a:ext cx="557784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3538728"/>
            <a:ext cx="5760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J. Bieri et al., 'BeliefPPG: Uncertainty-aware HR from PPG,' UAI 2023, PMLR 216:173-183. arXiv:2306.07730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4142232"/>
            <a:ext cx="557784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4206240"/>
            <a:ext cx="5760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P. Kasnesis et al., 'PULSE: Attention for PPG HR,' IEEE JBHI, 2025. DOI: 10.1109/JBHI.2025.3580474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4809744"/>
            <a:ext cx="557784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0040" y="4873752"/>
            <a:ext cx="5760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L. Benfenati et al., 'EnhancePPG: Self-Supervised PPG HR,' AICAS 2025. arXiv:2412.17860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5477256"/>
            <a:ext cx="557784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" y="5541264"/>
            <a:ext cx="5760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C. Kechris et al., 'KID-PPG: Knowledge-Informed HR,' arXiv:2405.09559, 2024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" y="6144768"/>
            <a:ext cx="557784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55080" y="868680"/>
            <a:ext cx="5760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E. Dark et al., 'HR from Noisy PPGs: Transfer Learning,' UbiComp/ISWC 2022. DOI: 10.1145/3544793.3563407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355080" y="1472184"/>
            <a:ext cx="557784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55080" y="1536192"/>
            <a:ext cx="5760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R. Ghorbani et al., 'SPEAR: Self-Supervised PPG Denoising,' HDSR, Issue 6.3, 2024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55080" y="2139696"/>
            <a:ext cx="557784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355080" y="2203704"/>
            <a:ext cx="5760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W. Wang et al., 'PulseDB: Large BP Benchmarking Dataset,' Front. Digital Health, 4:1090854, 2023. DOI: 10.3389/fdgth.2022.1090854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355080" y="2807208"/>
            <a:ext cx="557784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355080" y="2871216"/>
            <a:ext cx="5760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Moulaeifard et al., 'Generalizable DL for PPG-Based BP,' arXiv:2502.19167, 2025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55080" y="3474720"/>
            <a:ext cx="557784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355080" y="3538728"/>
            <a:ext cx="5760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S. Huang et al., 'Validation of DL for Cuffless BP on PulseDB,' Cardiovasc. Health Tech., 2024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355080" y="4142232"/>
            <a:ext cx="557784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355080" y="4206240"/>
            <a:ext cx="5760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J. Gao et al., 'UTransBPNet for Cuffless BP,' Sci. Rep., 2025. DOI: 10.1038/s41598-025-02963-3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355080" y="4809744"/>
            <a:ext cx="557784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355080" y="4873752"/>
            <a:ext cx="5760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Risso et al., 'Robust &amp; Energy-efficient PPG HR,' IEEE ISCAS 2021. DOI: 10.1109/ISCAS51556.2021.9401282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355080" y="5477256"/>
            <a:ext cx="557784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355080" y="5541264"/>
            <a:ext cx="5760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L.G. Rocha et al., 'Binary CorNET: MCU PPG HR,' IEEE TBCAS, 14(4):715-726, 2020. DOI: 10.1109/TBCAS.2020.3001675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355080" y="6144768"/>
            <a:ext cx="557784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309360"/>
            <a:ext cx="12161520" cy="548640"/>
          </a:xfrm>
          <a:prstGeom prst="rect">
            <a:avLst/>
          </a:prstGeom>
          <a:solidFill>
            <a:srgbClr val="1F6B75"/>
          </a:solidFill>
          <a:ln w="12700">
            <a:solidFill>
              <a:srgbClr val="1F6B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0" y="1325880"/>
            <a:ext cx="5760720" cy="457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11480" cy="4754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152704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on PPG-DaLiA: 60%+ improvement since 2019 (SpaMaPlus 9.0 → EnhancePPG 3.54 bpm LOSO)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130552"/>
            <a:ext cx="411480" cy="4754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130552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1488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PPG-only can match PPG+ACC (BeliefPPG 3.57 vs EnhancePPG 3.54) via temporal probabilistic modeling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752344"/>
            <a:ext cx="411480" cy="4754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752344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2770632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 on PulseDB: Best calibration-based result 9.4 mmHg SBP — still ~2× clinical AAMI standard (&lt;5 mmHg)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374136"/>
            <a:ext cx="411480" cy="4754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374136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3392424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protocol matters: random-split inflates performance; LOSO and calibration-free give honest estimates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3995928"/>
            <a:ext cx="411480" cy="4754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3995928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4014216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Self-supervised pre-training + NAS + knowledge distillation are the key drivers of recent progress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617720"/>
            <a:ext cx="411480" cy="4754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7200" y="4617720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463600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deployment is achievable: Q-PPG 1.9 kB / 1.79 mJ; PULSE student 37.9 kB / 0.577 mJ on MCUs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5239512"/>
            <a:ext cx="411480" cy="4754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5239512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0120" y="52578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challenges: domain shift, cross-population generalization, and truly calibration-free BP estimation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0" y="635508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Biomedical AI Research Report  |  March 2026  |  All citations verified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3203</Words>
  <Application>Microsoft Macintosh PowerPoint</Application>
  <PresentationFormat>Widescreen</PresentationFormat>
  <Paragraphs>472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State-of-the-Art Methods for HR and BP Estimation from PPG Signals</dc:title>
  <dc:subject>PptxGenJS Presentation</dc:subject>
  <dc:creator>Biomedical AI Research Report</dc:creator>
  <cp:lastModifiedBy>Anand Mohan</cp:lastModifiedBy>
  <cp:revision>2</cp:revision>
  <dcterms:created xsi:type="dcterms:W3CDTF">2026-03-11T19:44:34Z</dcterms:created>
  <dcterms:modified xsi:type="dcterms:W3CDTF">2026-03-11T21:14:25Z</dcterms:modified>
</cp:coreProperties>
</file>