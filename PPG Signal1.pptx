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2" r:id="rId15"/>
    <p:sldId id="273" r:id="rId16"/>
    <p:sldId id="274" r:id="rId17"/>
    <p:sldId id="269" r:id="rId18"/>
    <p:sldId id="270" r:id="rId19"/>
    <p:sldId id="271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3060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400800"/>
            <a:ext cx="12161520" cy="4572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064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State-of-the-Art Methods for Heart Rate and Blood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 Estimation from PPG Signals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200400" y="3749040"/>
            <a:ext cx="57607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5D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Strictly Verified Literature Review | PPG-DaLiA &amp; PulseDB Benchmarks | Deep Learning &amp; Signal Processing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0" y="644652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AI Research Report  |  March 2026  |  Verified Citations Only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Overview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65760" y="86868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5760" y="8686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60120" y="91440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PPG-Based Cardiovascular Monitoring Matters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86868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309360" y="86868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09360" y="86868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91440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Signal Fundamentals — Physics, Waveform &amp; Artifacts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65760" y="182880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5760" y="182880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5760" y="18288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187452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Dataset — Structure, Protocol &amp; Activities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09360" y="182880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309360" y="182880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09360" y="182880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87452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Estimation: PPG-Only Methods &amp; Benchmarks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65760" y="278892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65760" y="278892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2788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283464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Estimation: PPG + Accelerometer Methods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309360" y="278892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309360" y="278892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09360" y="278892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03720" y="283464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PulseDB Dataset — Scale, Signals &amp; Evaluation Protocols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65760" y="374904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365760" y="374904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65760" y="37490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60120" y="379476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 Estimation on PulseDB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6309360" y="374904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309360" y="374904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09360" y="374904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903720" y="379476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&amp; Performance Trends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365760" y="470916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365760" y="470916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47091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960120" y="475488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Challenges &amp; Open Problems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6309360" y="4709160"/>
            <a:ext cx="566928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6309360" y="4709160"/>
            <a:ext cx="502920" cy="8046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309360" y="4709160"/>
            <a:ext cx="5029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903720" y="4754880"/>
            <a:ext cx="49377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PPG-Based Cardiovascular Monitoring?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2286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17.9M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CVD Deaths / Year (WHO)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34640" y="914400"/>
            <a:ext cx="2286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83464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&gt;1B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83464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Hypertension Sufferers Globally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303520" y="914400"/>
            <a:ext cx="2286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30352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~$500B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0352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CVD Economic Burden (US)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680960" y="914400"/>
            <a:ext cx="2286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77240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LED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7724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Technology in Smartwatches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0" y="914400"/>
            <a:ext cx="2286000" cy="109728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058400" y="96012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Cuff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058400" y="1508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Non-Invasive, Continuous BP Goal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65760" y="2240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Advantages of PPG Wearables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65760" y="2651760"/>
            <a:ext cx="530352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Miniaturized optical sensors already integrated into commercial wearables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unobtrusive monitoring without clinical intervention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 physiological information: HR, SpO2, respiratory rate, vascular stiffness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cost and complexity vs. ECG holter monitors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309360" y="22402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Need — Unmet Goals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309360" y="2651760"/>
            <a:ext cx="548640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Ambulatory HR estimation degraded by motion artifacts (wrist movements)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Cuffless BP estimation: &lt;5 mmHg accuracy required — not yet achieved reliably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Generalization across diverse populations remains an open problem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Subject-to-subject variability in skin tone, vessel geometry limits models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Signal: Physics &amp; Waveform Components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22960"/>
            <a:ext cx="539496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22960"/>
            <a:ext cx="5394960" cy="347472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841248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Measurement Physics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234440"/>
            <a:ext cx="512064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(green 520 nm) emits light through wrist tissue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Photodetector measures reflected or transmitted light intensity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component (~1-4%) reflects pulsatile blood volume changes per heartbeat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 component (~99%) reflects static tissue absorption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Beer-Lambert law governs light attenuation by hemoglobin concentration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Empatica E4: green LED PPG, 64 Hz, single channel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pulse oximeters: red + infrared LEDs for SpO2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126480" y="822960"/>
            <a:ext cx="5669280" cy="5394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126480" y="822960"/>
            <a:ext cx="56692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217920" y="841248"/>
            <a:ext cx="5486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Waveform Components &amp; Motion Artifacts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72200" y="1261872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72200" y="128016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Peak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635240" y="130759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amplitude — rapid ventricular ejection into aorta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72200" y="1929384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2200" y="1947672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Dicrotic Notch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635240" y="197510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dip — aortic valve closure at end-systole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172200" y="2596896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172200" y="2615184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Diastolic Wave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635240" y="264261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rise — reflected arterial pressure wave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72200" y="3264408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172200" y="3282696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APG Waves (a-e)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635240" y="331012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derivative features encoding arterial stiffness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72200" y="3931920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172200" y="3950208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Artifacts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635240" y="39776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Wrist/arm movements introduce noise 10x cardiac amplitude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172200" y="4599432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72200" y="4617720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Mechanism 1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635240" y="4645152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displacement of sensor-skin interface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72200" y="5266944"/>
            <a:ext cx="1371600" cy="502920"/>
          </a:xfrm>
          <a:prstGeom prst="rect">
            <a:avLst/>
          </a:prstGeom>
          <a:solidFill>
            <a:srgbClr val="D6E4F0"/>
          </a:solidFill>
          <a:ln w="12700">
            <a:solidFill>
              <a:srgbClr val="D6E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72200" y="5285232"/>
            <a:ext cx="1371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Mechanism 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635240" y="5312664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 venous pooling changes DC baseline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Dataset — The Standard HR Benchmark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0116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503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3990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 (8F / 7M)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423160" y="804672"/>
            <a:ext cx="18288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423160" y="85039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23160" y="1399032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Activities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804672"/>
            <a:ext cx="20116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343400" y="8503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Hz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343400" y="13990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Sampling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46520" y="804672"/>
            <a:ext cx="210312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46520" y="850392"/>
            <a:ext cx="2103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36h+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46520" y="1399032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Recording Time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641080" y="804672"/>
            <a:ext cx="20116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641080" y="850392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700 Hz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8641080" y="139903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 Ground Truth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744200" y="804672"/>
            <a:ext cx="114300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744200" y="850392"/>
            <a:ext cx="1143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10744200" y="1399032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0040" y="1993392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320040" y="1993392"/>
            <a:ext cx="3657600" cy="3200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11480" y="2020824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Device: Empatica E4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29768" y="2359152"/>
            <a:ext cx="34381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PPG: 64 Hz, green LED, single channel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3-axis Accelerometer: 32 Hz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Commercial wristband, popular in research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069080" y="1993392"/>
            <a:ext cx="365760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4069080" y="1993392"/>
            <a:ext cx="36576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160520" y="2020824"/>
            <a:ext cx="3474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Chest Device: RespiBAN Pro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178808" y="2359152"/>
            <a:ext cx="343814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ECG: 700 Hz (gold standard HR reference)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Used only for ground truth extraction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 available during inference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7818120" y="1993392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7818120" y="1993392"/>
            <a:ext cx="4023360" cy="3200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09560" y="202082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Subjects: Demographics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927848" y="2359152"/>
            <a:ext cx="3803904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Age range: 21–55 years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Varied fitness levels, body types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Mix of indoor and outdoor activities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320040" y="3749040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Activity Protocol: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0040" y="4160520"/>
            <a:ext cx="548640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29768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Sitting (resting)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20040" y="4709160"/>
            <a:ext cx="548640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29768" y="4709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Ascending/Descending Stairs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320040" y="5257800"/>
            <a:ext cx="548640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29768" y="5257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Table Football (moderate motion)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320040" y="5806440"/>
            <a:ext cx="548640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429768" y="5806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Cycling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6172200" y="4160520"/>
            <a:ext cx="548640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281928" y="416052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Driving a Car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172200" y="4709160"/>
            <a:ext cx="548640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281928" y="470916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Lunch Break / Eating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72200" y="5257800"/>
            <a:ext cx="5486400" cy="457200"/>
          </a:xfrm>
          <a:prstGeom prst="rect">
            <a:avLst/>
          </a:prstGeom>
          <a:solidFill>
            <a:srgbClr val="FFF3CD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6281928" y="525780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Walking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6172200" y="5806440"/>
            <a:ext cx="5486400" cy="457200"/>
          </a:xfrm>
          <a:prstGeom prst="rect">
            <a:avLst/>
          </a:prstGeom>
          <a:solidFill>
            <a:srgbClr val="E8F8F5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6281928" y="5806440"/>
            <a:ext cx="5212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Working at Desk</a:t>
            </a:r>
            <a:endParaRPr lang="en-US" sz="1150" dirty="0"/>
          </a:p>
        </p:txBody>
      </p:sp>
      <p:sp>
        <p:nvSpPr>
          <p:cNvPr id="54" name="Text 52"/>
          <p:cNvSpPr/>
          <p:nvPr/>
        </p:nvSpPr>
        <p:spPr>
          <a:xfrm>
            <a:off x="320040" y="6217920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LOSO Matters: Session-optimized MAE can reach 1-2 bpm, creating false sense of solved performance. LOSO (leave-one-subject-out) gives true generalization estimate.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Estimation: PPG-Only Methods on PPG-DaLiA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PPG-Only Models (no accelerometer input)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16916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" y="1207008"/>
            <a:ext cx="161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057400" y="1207008"/>
            <a:ext cx="16459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093976" y="1207008"/>
            <a:ext cx="15727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749040" y="1207008"/>
            <a:ext cx="10515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785616" y="120700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207008"/>
            <a:ext cx="21488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82896" y="1207008"/>
            <a:ext cx="20756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040880" y="1207008"/>
            <a:ext cx="12801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077456" y="1207008"/>
            <a:ext cx="12070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366760" y="1207008"/>
            <a:ext cx="9601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403336" y="1207008"/>
            <a:ext cx="886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(bpm)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372600" y="1207008"/>
            <a:ext cx="64008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409176" y="1207008"/>
            <a:ext cx="56692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0058400" y="1207008"/>
            <a:ext cx="21031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094976" y="1207008"/>
            <a:ext cx="2029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" y="1581912"/>
            <a:ext cx="16916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1581912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057400" y="1581912"/>
            <a:ext cx="16459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103120" y="1581912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Biswas et al.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749040" y="1581912"/>
            <a:ext cx="10515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794760" y="158191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1581912"/>
            <a:ext cx="21488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892040" y="1581912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2×CNN + 2×LSTM (PPG only, personalized)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40880" y="1581912"/>
            <a:ext cx="12801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7086600" y="158191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Subject-dependent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366760" y="1581912"/>
            <a:ext cx="960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8412480" y="1581912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 for DaLiA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372600" y="1581912"/>
            <a:ext cx="64008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418320" y="1581912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10058400" y="1581912"/>
            <a:ext cx="2103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104120" y="1581912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TBCAS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20040" y="2148840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2148840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BeliefPPG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2057400" y="2148840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2103120" y="2148840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Bieri et al.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749040" y="2148840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794760" y="2148840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846320" y="2148840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892040" y="2148840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encoder + Probabilistic Graphical Model (belief propagation)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040880" y="2148840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086600" y="2148840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8366760" y="2148840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12480" y="214884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3.57 ± low SD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372600" y="2148840"/>
            <a:ext cx="640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418320" y="2148840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10058400" y="2148840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104120" y="2148840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UAI 2023 (PMLR)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320040" y="2715768"/>
            <a:ext cx="16916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2715768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ResNet50-TL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057400" y="2715768"/>
            <a:ext cx="16459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2103120" y="2715768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et al.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3749040" y="2715768"/>
            <a:ext cx="10515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794760" y="2715768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4846320" y="2715768"/>
            <a:ext cx="21488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892040" y="2715768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ResNet50 + ImageNet transfer learning + STFT 2D input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7040880" y="2715768"/>
            <a:ext cx="12801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7086600" y="2715768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8366760" y="2715768"/>
            <a:ext cx="960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8412480" y="2715768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 explicitly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9372600" y="2715768"/>
            <a:ext cx="64008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418320" y="2715768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10058400" y="2715768"/>
            <a:ext cx="2103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104120" y="2715768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UbiComp 2022 (ACM)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320040" y="3282696"/>
            <a:ext cx="16916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3282696"/>
            <a:ext cx="16002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 (self-supervised)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2057400" y="3282696"/>
            <a:ext cx="16459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2103120" y="3282696"/>
            <a:ext cx="1554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Ghorbani et al.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3749040" y="3282696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794760" y="328269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4846320" y="3282696"/>
            <a:ext cx="21488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892040" y="3282696"/>
            <a:ext cx="20574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denoising autoencoder + CNN HR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040880" y="3282696"/>
            <a:ext cx="12801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086600" y="3282696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Out-of-dist. test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8366760" y="3282696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8412480" y="3282696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5.36 (OOD)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372600" y="3282696"/>
            <a:ext cx="64008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418320" y="3282696"/>
            <a:ext cx="548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10058400" y="3282696"/>
            <a:ext cx="2103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0104120" y="3282696"/>
            <a:ext cx="2011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HDSR (Harvard)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20040" y="3931920"/>
            <a:ext cx="11521440" cy="1280160"/>
          </a:xfrm>
          <a:prstGeom prst="rect">
            <a:avLst/>
          </a:prstGeom>
          <a:solidFill>
            <a:srgbClr val="E8F8F5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457200" y="400507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BeliefPPG</a:t>
            </a:r>
            <a:endParaRPr lang="en-US" sz="1200" dirty="0"/>
          </a:p>
        </p:txBody>
      </p:sp>
      <p:sp>
        <p:nvSpPr>
          <p:cNvPr id="90" name="Text 88"/>
          <p:cNvSpPr/>
          <p:nvPr/>
        </p:nvSpPr>
        <p:spPr>
          <a:xfrm>
            <a:off x="457200" y="4343400"/>
            <a:ext cx="112471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BeliefPPG (2023) achieves 3.57 bpm LOSO MAE on PPG-DaLiA — competitive with PPG+ACC methods — by modeling heart rate as a hidden Markov process with temporal transition priors. It adds uncertainty quantification: removing top 1% uncertain predictions reduces MAE by a further 15%. Architecture: CorNET backbone + frequency-domain U-Net + belief propagation temporal smoothing. Citation: arXiv:2306.07730, UAI 2023, PMLR 216:173–183.</a:t>
            </a:r>
            <a:endParaRPr lang="en-US" sz="1150" dirty="0"/>
          </a:p>
        </p:txBody>
      </p:sp>
      <p:sp>
        <p:nvSpPr>
          <p:cNvPr id="91" name="Text 89"/>
          <p:cNvSpPr/>
          <p:nvPr/>
        </p:nvSpPr>
        <p:spPr>
          <a:xfrm>
            <a:off x="320040" y="5330952"/>
            <a:ext cx="11521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 = Not Reported  |  LOSO = Leave-One-Subject-Out  |  All citations verified: IEEE Xplore, arXiv, ACM DL, PMLR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Estimation: PPG + Accelerometer Methods on PPG-DaLiA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— PPG + Accelerometer Models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17373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" y="1207008"/>
            <a:ext cx="16642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103120" y="1207008"/>
            <a:ext cx="15087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139696" y="1207008"/>
            <a:ext cx="14356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1207008"/>
            <a:ext cx="9601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694176" y="1207008"/>
            <a:ext cx="8869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207008"/>
            <a:ext cx="30632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700016" y="1207008"/>
            <a:ext cx="29900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772400" y="1207008"/>
            <a:ext cx="14173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808976" y="1207008"/>
            <a:ext cx="13441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9235440" y="1207008"/>
            <a:ext cx="105156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9272016" y="1207008"/>
            <a:ext cx="97840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(bpm)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0332720" y="1207008"/>
            <a:ext cx="187452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0369296" y="1207008"/>
            <a:ext cx="180136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Venue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1581912"/>
            <a:ext cx="17373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365760" y="158191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Ensemble (DeepPPG)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103120" y="1581912"/>
            <a:ext cx="15087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15819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Reiss et al.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0" y="1581912"/>
            <a:ext cx="960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703320" y="1581912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1581912"/>
            <a:ext cx="30632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09160" y="158191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ensemble on STFT spectrograms of PPG+ACC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772400" y="1581912"/>
            <a:ext cx="14173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7818120" y="1581912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235440" y="1581912"/>
            <a:ext cx="10515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281160" y="158191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~7.0 (31% vs SpaMaPlus)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332720" y="1581912"/>
            <a:ext cx="18745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10378440" y="158191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MDPI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320040" y="2148840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365760" y="2148840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SpaMaPlus (classical)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103120" y="2148840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2148840" y="2148840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Reiss et al.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657600" y="2148840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703320" y="2148840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663440" y="2148840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4709160" y="2148840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spectral decomposition + peak tracking (no DL)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772400" y="2148840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7818120" y="2148840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9235440" y="2148840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9281160" y="2148840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~9.0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10332720" y="2148840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10378440" y="2148840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 MDPI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320040" y="2715768"/>
            <a:ext cx="17373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65760" y="2715768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Q-PPG (NAS-TCN)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2103120" y="2715768"/>
            <a:ext cx="15087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2148840" y="2715768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Burrello et al.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0" y="2715768"/>
            <a:ext cx="960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3703320" y="2715768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4663440" y="2715768"/>
            <a:ext cx="30632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709160" y="2715768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Temporal Conv. Network (Neural Architecture Search, quantized)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7772400" y="2715768"/>
            <a:ext cx="14173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7818120" y="2715768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9235440" y="2715768"/>
            <a:ext cx="10515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9281160" y="2715768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10332720" y="2715768"/>
            <a:ext cx="18745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3" name="Text 61"/>
          <p:cNvSpPr/>
          <p:nvPr/>
        </p:nvSpPr>
        <p:spPr>
          <a:xfrm>
            <a:off x="10378440" y="2715768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TBCAS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20040" y="3282696"/>
            <a:ext cx="17373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365760" y="3282696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TCN (ActPPG)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103120" y="3282696"/>
            <a:ext cx="15087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2148840" y="3282696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Burrello et al.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657600" y="3282696"/>
            <a:ext cx="9601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3703320" y="3282696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4663440" y="328269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4709160" y="3282696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TCN family + adaptive multi-model selection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772400" y="3282696"/>
            <a:ext cx="1417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7818120" y="3282696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9235440" y="3282696"/>
            <a:ext cx="105156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9281160" y="3282696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10332720" y="3282696"/>
            <a:ext cx="18745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378440" y="3282696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 HEALTH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20040" y="3849624"/>
            <a:ext cx="17373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365760" y="3849624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2103120" y="3849624"/>
            <a:ext cx="15087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2148840" y="3849624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Kasnesis et al.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3657600" y="3849624"/>
            <a:ext cx="9601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3703320" y="3849624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4663440" y="3849624"/>
            <a:ext cx="306324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4709160" y="3849624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TCN + multi-head cross-attention (sensor fusion)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772400" y="3849624"/>
            <a:ext cx="14173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818120" y="3849624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9235440" y="3849624"/>
            <a:ext cx="105156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9281160" y="3849624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10332720" y="3849624"/>
            <a:ext cx="1874520" cy="530352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0378440" y="3849624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JBHI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320040" y="4416552"/>
            <a:ext cx="173736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65760" y="4416552"/>
            <a:ext cx="1645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EnhancePPG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2103120" y="4416552"/>
            <a:ext cx="150876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2148840" y="441655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Benfenati et al.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3657600" y="4416552"/>
            <a:ext cx="96012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3703320" y="4416552"/>
            <a:ext cx="8686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4663440" y="4416552"/>
            <a:ext cx="306324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4709160" y="4416552"/>
            <a:ext cx="29718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Modified PULSE + self-supervised pre-training + augmentation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7772400" y="4416552"/>
            <a:ext cx="141732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7818120" y="4416552"/>
            <a:ext cx="13258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LOSO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9235440" y="4416552"/>
            <a:ext cx="105156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9281160" y="4416552"/>
            <a:ext cx="9601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 ★ BEST</a:t>
            </a:r>
            <a:endParaRPr lang="en-US" sz="1000" dirty="0"/>
          </a:p>
        </p:txBody>
      </p:sp>
      <p:sp>
        <p:nvSpPr>
          <p:cNvPr id="104" name="Shape 102"/>
          <p:cNvSpPr/>
          <p:nvPr/>
        </p:nvSpPr>
        <p:spPr>
          <a:xfrm>
            <a:off x="10332720" y="4416552"/>
            <a:ext cx="1874520" cy="530352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05" name="Text 103"/>
          <p:cNvSpPr/>
          <p:nvPr/>
        </p:nvSpPr>
        <p:spPr>
          <a:xfrm>
            <a:off x="10378440" y="4416552"/>
            <a:ext cx="17830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AICAS 2025</a:t>
            </a:r>
            <a:endParaRPr lang="en-US" sz="1000" dirty="0"/>
          </a:p>
        </p:txBody>
      </p:sp>
      <p:sp>
        <p:nvSpPr>
          <p:cNvPr id="106" name="Shape 104"/>
          <p:cNvSpPr/>
          <p:nvPr/>
        </p:nvSpPr>
        <p:spPr>
          <a:xfrm>
            <a:off x="320040" y="5056632"/>
            <a:ext cx="11521440" cy="1005840"/>
          </a:xfrm>
          <a:prstGeom prst="rect">
            <a:avLst/>
          </a:prstGeom>
          <a:solidFill>
            <a:srgbClr val="EAF2FF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457200" y="5102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Evolution 2019→2025 (LOSO MAE on PPG-DaLiA):</a:t>
            </a:r>
            <a:endParaRPr lang="en-US" sz="1100" dirty="0"/>
          </a:p>
        </p:txBody>
      </p:sp>
      <p:sp>
        <p:nvSpPr>
          <p:cNvPr id="108" name="Text 106"/>
          <p:cNvSpPr/>
          <p:nvPr/>
        </p:nvSpPr>
        <p:spPr>
          <a:xfrm>
            <a:off x="457200" y="54406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SpaMaPlus ~9.0 → CNN Ensemble ~7.0 → Q-PPG 4.41 → Embedding TCN 3.84 → PULSE 4.03 → EnhancePPG 3.54 bpm   [60% improvement over 6 years]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PulseDB Dataset — Large-Scale BP Benchmarking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04672"/>
            <a:ext cx="22402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8503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5,361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399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Subjects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651760" y="804672"/>
            <a:ext cx="22402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8503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5.2M+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51760" y="1399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10-sec Segments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83480" y="804672"/>
            <a:ext cx="22402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983480" y="8503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 Hz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983480" y="1399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Rate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804672"/>
            <a:ext cx="22402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315200" y="8503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Sources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7315200" y="1399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MIMIC-III + VitalDB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646920" y="804672"/>
            <a:ext cx="2240280" cy="10058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9646920" y="850392"/>
            <a:ext cx="2240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sec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646920" y="1399032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Duration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1993392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0040" y="1993392"/>
            <a:ext cx="356616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11480" y="2020824"/>
            <a:ext cx="3383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1: MIMIC-III (ICU)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29768" y="2359152"/>
            <a:ext cx="3346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PhysioNet ICU database (USA)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Invasive ABP, ECG, PPG waveforms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Diverse pathological hemodynamics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Citation: Johnson et al., Sci. Data 2016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069080" y="1993392"/>
            <a:ext cx="35661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069080" y="1993392"/>
            <a:ext cx="3566160" cy="3200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60520" y="2020824"/>
            <a:ext cx="33832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2: VitalDB (OR/ICU)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178808" y="2359152"/>
            <a:ext cx="33467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Korean ICU/OR database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Continuous physiological monitoring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Demographic info available (age, sex)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Citation: Lee et al., Sci. Data 2022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818120" y="1993392"/>
            <a:ext cx="402336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7818120" y="1993392"/>
            <a:ext cx="4023360" cy="3200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7909560" y="2020824"/>
            <a:ext cx="38404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Available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7927848" y="2359152"/>
            <a:ext cx="3803904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ECG (electrocardiogram)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PPG (photoplethysmography)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ABP (invasive arterial BP waveform)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1st (VPPG) &amp; 2nd (APPG) PPG derivatives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Characteristic points pre-annotated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320040" y="4005072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Testing Protocols (Critical for Fair Comparison):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0040" y="44348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320040" y="4434840"/>
            <a:ext cx="3657600" cy="347472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11480" y="44531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Calibration-Based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29768" y="4828032"/>
            <a:ext cx="3438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&amp; test subjects overlap.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sees per-subject reference data.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~9–10 mmHg (SBP) achievable.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4251960" y="44348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4251960" y="4434840"/>
            <a:ext cx="365760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343400" y="44531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Calibration-Free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361688" y="4828032"/>
            <a:ext cx="3438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Completely unseen test subjects.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population generalization.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rises to ~14 mmHg (SBP).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8183880" y="4434840"/>
            <a:ext cx="365760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8183880" y="4434840"/>
            <a:ext cx="365760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75320" y="4453128"/>
            <a:ext cx="3474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Protocol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293608" y="4828032"/>
            <a:ext cx="3438144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clinical validation.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specific BP distribution.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&lt;5 mmHg MAE, &lt;8 mmHg SD.</a:t>
            </a:r>
            <a:endParaRPr lang="en-US" sz="1150" dirty="0"/>
          </a:p>
        </p:txBody>
      </p:sp>
      <p:sp>
        <p:nvSpPr>
          <p:cNvPr id="47" name="Text 45"/>
          <p:cNvSpPr/>
          <p:nvPr/>
        </p:nvSpPr>
        <p:spPr>
          <a:xfrm>
            <a:off x="320040" y="6263640"/>
            <a:ext cx="11521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Citation: W. Wang et al., 'PulseDB,' Front. Digital Health, 4:1090854, 2023. DOI: 10.3389/fdgth.2022.1090854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Estimation on PulseDB — Why No Table?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112471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868680"/>
            <a:ext cx="11247120" cy="4572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886968"/>
            <a:ext cx="11064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3 Status: No Published HR Benchmarks on PulseDB as Primary Dataset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1088136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PulseDB was explicitly designed and released as a blood pressure estimation benchmarking dataset — not for heart rate.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provides ABP waveforms for beat-to-beat SBP/DBP ground truth extraction. ECG is included as a secondary reference signal for BP model performance.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can be derived from ECG (standard peak detection), but this is used internally for data quality validation — not as a published benchmark target.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peer-reviewed publications were found that use PulseDB as the primary evaluation dataset for PPG-based HR estimation.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ICU-based population (MIMIC-III, VitalDB) and highly dynamic BP hemodynamics make PulseDB less suitable for ambulatory HR studies typically evaluated on consumer wearable datasets like PPG-DaLiA.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Researchers interested in PPG-based HR estimation should use PPG-DaLiA (ambulatory), WESAD (stress/affect), or the IEEE Signal Processing Cup datasets as established benchmarks.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PulseDB's ECG annotations could support a clinical HR estimation benchmark in ICU settings — an unexplored direction.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Estimation on PulseDB — Deep Learning Results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04672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4 — Blood Pressure Estimation on PulseDB (Verified Results Only)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14630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56616" y="120700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828800" y="1207008"/>
            <a:ext cx="132588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865376" y="1207008"/>
            <a:ext cx="1252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0" y="1207008"/>
            <a:ext cx="7315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36976" y="1207008"/>
            <a:ext cx="6583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977640" y="1207008"/>
            <a:ext cx="16916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14216" y="1207008"/>
            <a:ext cx="16184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15000" y="1207008"/>
            <a:ext cx="196596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751576" y="1207008"/>
            <a:ext cx="18928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726680" y="1207008"/>
            <a:ext cx="137160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763256" y="1207008"/>
            <a:ext cx="1298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144000" y="1207008"/>
            <a:ext cx="146304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180576" y="1207008"/>
            <a:ext cx="13898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 MAE (mmHg)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652760" y="1207008"/>
            <a:ext cx="1188720" cy="365760"/>
          </a:xfrm>
          <a:prstGeom prst="rect">
            <a:avLst/>
          </a:prstGeom>
          <a:solidFill>
            <a:srgbClr val="1F3864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0689336" y="1207008"/>
            <a:ext cx="111556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 MAE (mmHg)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1600200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1600200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ResNet-18 (demo)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28800" y="1600200"/>
            <a:ext cx="132588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74520" y="1600200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Wang et al.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1600200"/>
            <a:ext cx="7315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46120" y="1600200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977640" y="1600200"/>
            <a:ext cx="16916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023360" y="1600200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PPG+ECG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715000" y="1600200"/>
            <a:ext cx="196596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760720" y="1600200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ResNet-18 (modified)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726680" y="1600200"/>
            <a:ext cx="137160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772400" y="1600200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Calibration-based illustration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144000" y="1600200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9189720" y="1600200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0652760" y="1600200"/>
            <a:ext cx="11887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10698480" y="1600200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Reported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320040" y="2176272"/>
            <a:ext cx="146304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365760" y="2176272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(Calib)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1828800" y="2176272"/>
            <a:ext cx="132588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1874520" y="2176272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Moulaeifard et al.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0" y="2176272"/>
            <a:ext cx="73152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46120" y="2176272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977640" y="2176272"/>
            <a:ext cx="169164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4023360" y="2176272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only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715000" y="2176272"/>
            <a:ext cx="196596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5760720" y="2176272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(1D, 101 layers)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7726680" y="2176272"/>
            <a:ext cx="137160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7772400" y="2176272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Subject-specific calib.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9144000" y="2176272"/>
            <a:ext cx="146304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9189720" y="2176272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9.4 ★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0652760" y="2176272"/>
            <a:ext cx="1188720" cy="539496"/>
          </a:xfrm>
          <a:prstGeom prst="rect">
            <a:avLst/>
          </a:prstGeom>
          <a:solidFill>
            <a:srgbClr val="D4EFD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10698480" y="2176272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 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320040" y="2752344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65760" y="2752344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(Free)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1828800" y="2752344"/>
            <a:ext cx="132588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1874520" y="2752344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Moulaeifard et al.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200400" y="2752344"/>
            <a:ext cx="7315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246120" y="2752344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3977640" y="2752344"/>
            <a:ext cx="16916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023360" y="2752344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only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715000" y="2752344"/>
            <a:ext cx="196596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Text 63"/>
          <p:cNvSpPr/>
          <p:nvPr/>
        </p:nvSpPr>
        <p:spPr>
          <a:xfrm>
            <a:off x="5760720" y="2752344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(1D, 101 layers)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7726680" y="2752344"/>
            <a:ext cx="137160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7" name="Text 65"/>
          <p:cNvSpPr/>
          <p:nvPr/>
        </p:nvSpPr>
        <p:spPr>
          <a:xfrm>
            <a:off x="7772400" y="2752344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Calibration-free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9144000" y="2752344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9189720" y="2752344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14.0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10652760" y="2752344"/>
            <a:ext cx="11887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Text 69"/>
          <p:cNvSpPr/>
          <p:nvPr/>
        </p:nvSpPr>
        <p:spPr>
          <a:xfrm>
            <a:off x="10698480" y="2752344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320040" y="3328416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3" name="Text 71"/>
          <p:cNvSpPr/>
          <p:nvPr/>
        </p:nvSpPr>
        <p:spPr>
          <a:xfrm>
            <a:off x="365760" y="3328416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(OOD)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1828800" y="3328416"/>
            <a:ext cx="13258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1874520" y="3328416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Moulaeifard et al.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3200400" y="3328416"/>
            <a:ext cx="7315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3246120" y="3328416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3977640" y="3328416"/>
            <a:ext cx="1691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9" name="Text 77"/>
          <p:cNvSpPr/>
          <p:nvPr/>
        </p:nvSpPr>
        <p:spPr>
          <a:xfrm>
            <a:off x="4023360" y="3328416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only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5715000" y="3328416"/>
            <a:ext cx="19659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5760720" y="3328416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XResNet1d101 (external test)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7726680" y="3328416"/>
            <a:ext cx="13716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7772400" y="3328416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9144000" y="3328416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9189720" y="3328416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15.0–25.1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10652760" y="3328416"/>
            <a:ext cx="1188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10698480" y="3328416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7.0–10.4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320040" y="3904488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365760" y="3904488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CNN-LSTM-ATT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1828800" y="3904488"/>
            <a:ext cx="132588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1874520" y="3904488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3200400" y="3904488"/>
            <a:ext cx="7315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3246120" y="3904488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3977640" y="3904488"/>
            <a:ext cx="16916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023360" y="3904488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ECG+PPG+deriv.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5715000" y="3904488"/>
            <a:ext cx="196596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7" name="Text 95"/>
          <p:cNvSpPr/>
          <p:nvPr/>
        </p:nvSpPr>
        <p:spPr>
          <a:xfrm>
            <a:off x="5760720" y="3904488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+ BiLSTM + Attention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7726680" y="3904488"/>
            <a:ext cx="137160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9" name="Text 97"/>
          <p:cNvSpPr/>
          <p:nvPr/>
        </p:nvSpPr>
        <p:spPr>
          <a:xfrm>
            <a:off x="7772400" y="3904488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subj.-indep.</a:t>
            </a:r>
            <a:endParaRPr lang="en-US" sz="950" dirty="0"/>
          </a:p>
        </p:txBody>
      </p:sp>
      <p:sp>
        <p:nvSpPr>
          <p:cNvPr id="100" name="Shape 98"/>
          <p:cNvSpPr/>
          <p:nvPr/>
        </p:nvSpPr>
        <p:spPr>
          <a:xfrm>
            <a:off x="9144000" y="3904488"/>
            <a:ext cx="146304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1" name="Text 99"/>
          <p:cNvSpPr/>
          <p:nvPr/>
        </p:nvSpPr>
        <p:spPr>
          <a:xfrm>
            <a:off x="9189720" y="3904488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~16–18 (ABP wvfm)</a:t>
            </a:r>
            <a:endParaRPr lang="en-US" sz="950" dirty="0"/>
          </a:p>
        </p:txBody>
      </p:sp>
      <p:sp>
        <p:nvSpPr>
          <p:cNvPr id="102" name="Shape 100"/>
          <p:cNvSpPr/>
          <p:nvPr/>
        </p:nvSpPr>
        <p:spPr>
          <a:xfrm>
            <a:off x="10652760" y="3904488"/>
            <a:ext cx="1188720" cy="539496"/>
          </a:xfrm>
          <a:prstGeom prst="rect">
            <a:avLst/>
          </a:prstGeom>
          <a:solidFill>
            <a:srgbClr val="D6E4F0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3" name="Text 101"/>
          <p:cNvSpPr/>
          <p:nvPr/>
        </p:nvSpPr>
        <p:spPr>
          <a:xfrm>
            <a:off x="10698480" y="3904488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(ABP wvfm)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320040" y="4480560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5" name="Text 103"/>
          <p:cNvSpPr/>
          <p:nvPr/>
        </p:nvSpPr>
        <p:spPr>
          <a:xfrm>
            <a:off x="365760" y="4480560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UTransBPNet_Demo_In</a:t>
            </a:r>
            <a:endParaRPr lang="en-US" sz="950" dirty="0"/>
          </a:p>
        </p:txBody>
      </p:sp>
      <p:sp>
        <p:nvSpPr>
          <p:cNvPr id="106" name="Shape 104"/>
          <p:cNvSpPr/>
          <p:nvPr/>
        </p:nvSpPr>
        <p:spPr>
          <a:xfrm>
            <a:off x="1828800" y="4480560"/>
            <a:ext cx="132588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7" name="Text 105"/>
          <p:cNvSpPr/>
          <p:nvPr/>
        </p:nvSpPr>
        <p:spPr>
          <a:xfrm>
            <a:off x="1874520" y="4480560"/>
            <a:ext cx="12344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Huang et al.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3200400" y="4480560"/>
            <a:ext cx="7315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9" name="Text 107"/>
          <p:cNvSpPr/>
          <p:nvPr/>
        </p:nvSpPr>
        <p:spPr>
          <a:xfrm>
            <a:off x="3246120" y="4480560"/>
            <a:ext cx="6400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950" dirty="0"/>
          </a:p>
        </p:txBody>
      </p:sp>
      <p:sp>
        <p:nvSpPr>
          <p:cNvPr id="110" name="Shape 108"/>
          <p:cNvSpPr/>
          <p:nvPr/>
        </p:nvSpPr>
        <p:spPr>
          <a:xfrm>
            <a:off x="3977640" y="4480560"/>
            <a:ext cx="16916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1" name="Text 109"/>
          <p:cNvSpPr/>
          <p:nvPr/>
        </p:nvSpPr>
        <p:spPr>
          <a:xfrm>
            <a:off x="4023360" y="4480560"/>
            <a:ext cx="16002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ECG+PPG+demographics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5715000" y="4480560"/>
            <a:ext cx="196596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3" name="Text 111"/>
          <p:cNvSpPr/>
          <p:nvPr/>
        </p:nvSpPr>
        <p:spPr>
          <a:xfrm>
            <a:off x="5760720" y="4480560"/>
            <a:ext cx="187452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U-Net+Transformer+Cross-Attn</a:t>
            </a:r>
            <a:endParaRPr lang="en-US" sz="950" dirty="0"/>
          </a:p>
        </p:txBody>
      </p:sp>
      <p:sp>
        <p:nvSpPr>
          <p:cNvPr id="114" name="Shape 112"/>
          <p:cNvSpPr/>
          <p:nvPr/>
        </p:nvSpPr>
        <p:spPr>
          <a:xfrm>
            <a:off x="7726680" y="4480560"/>
            <a:ext cx="137160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5" name="Text 113"/>
          <p:cNvSpPr/>
          <p:nvPr/>
        </p:nvSpPr>
        <p:spPr>
          <a:xfrm>
            <a:off x="7772400" y="4480560"/>
            <a:ext cx="128016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10-fold subj.-indep.</a:t>
            </a:r>
            <a:endParaRPr lang="en-US" sz="950" dirty="0"/>
          </a:p>
        </p:txBody>
      </p:sp>
      <p:sp>
        <p:nvSpPr>
          <p:cNvPr id="116" name="Shape 114"/>
          <p:cNvSpPr/>
          <p:nvPr/>
        </p:nvSpPr>
        <p:spPr>
          <a:xfrm>
            <a:off x="9144000" y="4480560"/>
            <a:ext cx="146304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7" name="Text 115"/>
          <p:cNvSpPr/>
          <p:nvPr/>
        </p:nvSpPr>
        <p:spPr>
          <a:xfrm>
            <a:off x="9189720" y="4480560"/>
            <a:ext cx="137160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10.38 (ABP waveform)</a:t>
            </a:r>
            <a:endParaRPr lang="en-US" sz="950" dirty="0"/>
          </a:p>
        </p:txBody>
      </p:sp>
      <p:sp>
        <p:nvSpPr>
          <p:cNvPr id="118" name="Shape 116"/>
          <p:cNvSpPr/>
          <p:nvPr/>
        </p:nvSpPr>
        <p:spPr>
          <a:xfrm>
            <a:off x="10652760" y="4480560"/>
            <a:ext cx="1188720" cy="53949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9" name="Text 117"/>
          <p:cNvSpPr/>
          <p:nvPr/>
        </p:nvSpPr>
        <p:spPr>
          <a:xfrm>
            <a:off x="10698480" y="4480560"/>
            <a:ext cx="109728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PCC: 0.89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320040" y="5138928"/>
            <a:ext cx="11521440" cy="960120"/>
          </a:xfrm>
          <a:prstGeom prst="rect">
            <a:avLst/>
          </a:prstGeom>
          <a:solidFill>
            <a:srgbClr val="FFF3CD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1" name="Text 119"/>
          <p:cNvSpPr/>
          <p:nvPr/>
        </p:nvSpPr>
        <p:spPr>
          <a:xfrm>
            <a:off x="457200" y="5184648"/>
            <a:ext cx="11247120" cy="8503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Clinical Standard: SBP MAE &lt;5 mmHg, SDE &lt;8 mmHg. Best published result: 9.4 mmHg SBP (calibration-based) — still ~2× the clinical threshold. Calibration-free and OOD results reveal severe generalization gaps, confirming cuffless BP estimation remains an unsolved clinical problem. ★ = best result with subject calibration.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Comparative Analysis — Models &amp; Protocols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39496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5394960" cy="3200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896112"/>
            <a:ext cx="521208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PPG-Only vs PPG+ACC (HR on DaLiA)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234440"/>
            <a:ext cx="517550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PPG-only: BeliefPPG 3.57 bpm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PPG+ACC: EnhancePPG 3.54 bpm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Gap is surprisingly small (~1%)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BeliefPPG achieves parity via temporal HR modeling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During high-motion (running, stairs): PPG+ACC is strongly superior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PPG-only preferred for ring/earbud wearables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897880" y="868680"/>
            <a:ext cx="594360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897880" y="868680"/>
            <a:ext cx="5943600" cy="32004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989320" y="896112"/>
            <a:ext cx="576072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vs Classical DSP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07608" y="1234440"/>
            <a:ext cx="572414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SpaMaPlus (2019 classical): ~9 bpm LOSO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Ensemble (2019 DL): ~7 bpm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EnhancePPG (2025 DL): 3.54 bpm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Deep learning: 60%+ improvement over classical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DL generalizes better (no parameter re-tuning per subject)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DL is deployable with NAS+quantization on MCUs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20040" y="3337560"/>
            <a:ext cx="11521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of Evaluation Protocol — PulseDB (XResNet1d101)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749040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3749040"/>
            <a:ext cx="2834640" cy="347472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93192" y="3767328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Calibration-Based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SBP: 9.4 mmHg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57200" y="4617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DBP: 6.0 mmHg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11480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Optimistic — sees subjects during training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3282696" y="3749040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282696" y="3749040"/>
            <a:ext cx="2834640" cy="347472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355848" y="3767328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Calibration-Free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419856" y="4187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SBP: 14.0 mmHg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19856" y="4617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DBP: 8.5 mmHg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374136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— completely unseen subjects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245352" y="3749040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45352" y="3749040"/>
            <a:ext cx="2834640" cy="34747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18504" y="3767328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Out-of-Distribution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382512" y="4187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SBP: 15–25 mmHg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382512" y="4617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DBP: 7–10 mmHg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336792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 case — different clinical dataset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08008" y="3749040"/>
            <a:ext cx="28346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9208008" y="3749040"/>
            <a:ext cx="283464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9281160" y="3767328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AAMI Target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345168" y="418795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SBP: &lt;5 mmHg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9345168" y="46177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DBP: &lt;5 mmHg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299448" y="50749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grade standard (not yet achieved)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Trends: 6 Years of HR Estimation Progress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4983480"/>
            <a:ext cx="11430000" cy="0"/>
          </a:xfrm>
          <a:prstGeom prst="line">
            <a:avLst/>
          </a:prstGeom>
          <a:noFill/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57200" y="416052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0" y="402336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3756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0" y="320040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0" y="237744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169164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0" y="15544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868680"/>
            <a:ext cx="1143000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0" y="73152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 rot="16200000">
            <a:off x="45720" y="1371600"/>
            <a:ext cx="411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(bpm)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" y="1280160"/>
            <a:ext cx="1097280" cy="370332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594360" y="10241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SpaMaPlus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(Classical)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011680" y="2103120"/>
            <a:ext cx="1097280" cy="288036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011680" y="184708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6596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Ensemble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(DeepPPG)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96596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29000" y="2308860"/>
            <a:ext cx="1097280" cy="267462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3429000" y="20528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6.5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CorNET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38328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846320" y="3168853"/>
            <a:ext cx="1097280" cy="1814627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846320" y="2912821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4.41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0060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Q-PPG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480060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63640" y="3403397"/>
            <a:ext cx="1097280" cy="1580083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263640" y="3147365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3.84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21792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TCN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21792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680960" y="3514496"/>
            <a:ext cx="1097280" cy="1468984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7680960" y="325846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3.57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63524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BeliefPPG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63524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098280" y="3325216"/>
            <a:ext cx="1097280" cy="1658264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9098280" y="3069184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4.03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05256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905256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10515600" y="3526841"/>
            <a:ext cx="1097280" cy="1456639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0515600" y="3270809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3.54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10469880" y="50292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EnhancePPG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469880" y="562356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57200" y="6309360"/>
            <a:ext cx="274320" cy="228600"/>
          </a:xfrm>
          <a:prstGeom prst="rect">
            <a:avLst/>
          </a:prstGeom>
          <a:solidFill>
            <a:srgbClr val="666666"/>
          </a:solidFill>
          <a:ln w="12700">
            <a:solidFill>
              <a:srgbClr val="66666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77724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DSP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3200400" y="6309360"/>
            <a:ext cx="274320" cy="2286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352044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PPG+ACC (DL)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5943600" y="6309360"/>
            <a:ext cx="274320" cy="22860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626364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PPG-Only (DL)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8686800" y="6309360"/>
            <a:ext cx="274320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9006840" y="6309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2025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Challenges in PPG-Based Monitoring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86868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20040" y="868680"/>
            <a:ext cx="55778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11480" y="886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  Motion Artifacts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325880"/>
            <a:ext cx="53035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 movements create noise 10× cardiac amplitude. ACC-based removal assumes linear correlation — violated during complex motions. Frequency overlap (1–3 Hz) between cardiac HR and exercise frequency makes spectral separation unreliable. Deep learning learns implicit suppression but fails on OOD motion patterns.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263640" y="86868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263640" y="868680"/>
            <a:ext cx="55778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355080" y="8869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  Cross-Subject Generalization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0" y="1325880"/>
            <a:ext cx="53035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morphology varies widely across subjects: skin tone, vessel depth, subcutaneous fat, arterial compliance. Per-subject MAE range in PPG-DaLiA spans 2–12 bpm (LOSO). OOD generalization on PulseDB external datasets: SBP MAE degrades from 9 to 15–25 mmHg. Fundamental dataset shift problem.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38328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20040" y="3383280"/>
            <a:ext cx="557784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11480" y="34015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 Dataset Bias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3840480"/>
            <a:ext cx="53035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PPG-DaLiA: young healthy adults (21–55). PulseDB: ICU patients with pathological hemodynamics. Neither represents the real-world wearable target population of elderly hypertensive patients. Models trained on clinical data fail on ambulatory consumer data.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263640" y="3383280"/>
            <a:ext cx="55778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263640" y="3383280"/>
            <a:ext cx="5577840" cy="384048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355080" y="3401568"/>
            <a:ext cx="5394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∫  Calibration Requirements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00800" y="3840480"/>
            <a:ext cx="5303520" cy="18105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estimation without individual calibration remains far from clinical standards. PulseDB: calibration-free MAE 14 mmHg vs. calibration-based 9.4 mmHg (AAMI target: &lt;5 mmHg). Each mmHg of BP error matters clinically — hypertension diagnosis threshold is 130/80 mmHg.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12161520" cy="6400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Physiological Monitoring from Noisy Wearable PPG Signals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Vision  ·  Roadmap  ·  Business Impact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50976"/>
            <a:ext cx="5760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1168" y="950976"/>
            <a:ext cx="5760720" cy="301752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29184" y="996696"/>
            <a:ext cx="5577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⚡  PROBLEM STATEMENT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38328" y="133502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Signal Challenges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38328" y="1536192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Motion artifacts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Sensor placement noise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Environmental interference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Limited labelled data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081528" y="133502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Research Challenges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081528" y="15361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Robust HR estimation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Cuffless BP estimation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ECG-free wearable approach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On-device hardware constraints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47472" y="2606040"/>
            <a:ext cx="54864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5276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💡  PPG enables continuous monitoring  ·  No ECG required  ·  Scalable wearable deployment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144768" y="950976"/>
            <a:ext cx="576072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44768" y="950976"/>
            <a:ext cx="5760720" cy="30175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72784" y="996696"/>
            <a:ext cx="5577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📱  BUSINESS RELEVANCE  —  Wearable Ecosystem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81928" y="13350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Depends 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281928" y="1554480"/>
            <a:ext cx="17647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Reliable physio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Low-power on-device AI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Scalable health analytics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129016" y="13350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Enables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129016" y="1554480"/>
            <a:ext cx="176479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Continuous cardiovascular monitoring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Remote health tracking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Preventive healthcare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976104" y="1335024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6B3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Target Platforms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976104" y="1554480"/>
            <a:ext cx="1874520" cy="1362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⌚ Smartwatches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💍 Smart rings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📱 Mobile health apps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01168" y="3383280"/>
            <a:ext cx="57607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201168" y="3383280"/>
            <a:ext cx="5760720" cy="30175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329184" y="3429000"/>
            <a:ext cx="5577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🔬  FOUNDATION MODEL VISION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329184" y="3767328"/>
            <a:ext cx="5504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B2D8E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PPG Foundation Model  →  Physiological Intelligence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338328" y="4133088"/>
            <a:ext cx="1078992" cy="502920"/>
          </a:xfrm>
          <a:prstGeom prst="rect">
            <a:avLst/>
          </a:prstGeom>
          <a:solidFill>
            <a:srgbClr val="DBEAFE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338328" y="413308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Heart 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1444752" y="4133088"/>
            <a:ext cx="1078992" cy="502920"/>
          </a:xfrm>
          <a:prstGeom prst="rect">
            <a:avLst/>
          </a:prstGeom>
          <a:solidFill>
            <a:srgbClr val="FCE7F3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1444752" y="413308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Blood Pressure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551176" y="4133088"/>
            <a:ext cx="1078992" cy="502920"/>
          </a:xfrm>
          <a:prstGeom prst="rect">
            <a:avLst/>
          </a:prstGeom>
          <a:solidFill>
            <a:srgbClr val="D1FAE5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551176" y="413308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Respiration Rate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3657600" y="4133088"/>
            <a:ext cx="1078992" cy="502920"/>
          </a:xfrm>
          <a:prstGeom prst="rect">
            <a:avLst/>
          </a:prstGeom>
          <a:solidFill>
            <a:srgbClr val="FEF3C7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3657600" y="413308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Arrhythmia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4764024" y="4133088"/>
            <a:ext cx="1078992" cy="502920"/>
          </a:xfrm>
          <a:prstGeom prst="rect">
            <a:avLst/>
          </a:prstGeom>
          <a:solidFill>
            <a:srgbClr val="FFE4E6"/>
          </a:solidFill>
          <a:ln w="3810">
            <a:solidFill>
              <a:srgbClr val="CBD5E0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4764024" y="4133088"/>
            <a:ext cx="10789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Stress Level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338328" y="4773168"/>
            <a:ext cx="54864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Unified model for all wearable health parameters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Multi-task learning improves individual task robustness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Single deployment artifact reduces device footprint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310896" y="5760720"/>
            <a:ext cx="5532120" cy="246888"/>
          </a:xfrm>
          <a:prstGeom prst="rect">
            <a:avLst/>
          </a:prstGeom>
          <a:solidFill>
            <a:srgbClr val="F3E5F5"/>
          </a:solidFill>
          <a:ln w="508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347472" y="577900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148C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Vision:  One PPG model  ·  All physiological signals  ·  All wearable platforms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144768" y="3383280"/>
            <a:ext cx="5760720" cy="29260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144768" y="3383280"/>
            <a:ext cx="5760720" cy="301752"/>
          </a:xfrm>
          <a:prstGeom prst="rect">
            <a:avLst/>
          </a:prstGeom>
          <a:solidFill>
            <a:srgbClr val="C9A838"/>
          </a:solidFill>
          <a:ln w="12700">
            <a:solidFill>
              <a:srgbClr val="C9A838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6144768" y="3383280"/>
            <a:ext cx="5760720" cy="301752"/>
          </a:xfrm>
          <a:prstGeom prst="rect">
            <a:avLst/>
          </a:prstGeom>
          <a:solidFill>
            <a:srgbClr val="8B6914"/>
          </a:solidFill>
          <a:ln w="12700">
            <a:solidFill>
              <a:srgbClr val="8B6914"/>
            </a:solidFill>
            <a:prstDash val="solid"/>
          </a:ln>
        </p:spPr>
        <p:txBody>
          <a:bodyPr/>
          <a:lstStyle/>
          <a:p>
            <a:endParaRPr lang="en-US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6272784" y="3429000"/>
            <a:ext cx="5577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🎯  RESEARCH TARGETS &amp; OUTCOMES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7" name="Table 0"/>
          <p:cNvGraphicFramePr>
            <a:graphicFrameLocks noGrp="1"/>
          </p:cNvGraphicFramePr>
          <p:nvPr/>
        </p:nvGraphicFramePr>
        <p:xfrm>
          <a:off x="6254496" y="3767328"/>
          <a:ext cx="5532120" cy="2565112"/>
        </p:xfrm>
        <a:graphic>
          <a:graphicData uri="http://schemas.openxmlformats.org/drawingml/2006/table">
            <a:tbl>
              <a:tblPr/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5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Target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Focus Area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Expected Outcome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T1 — SSL Framework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Cross-domain SSL · noisy PPG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Robust HR from real-world wrist signals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4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T2 — Foundation 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Multi-parameter physiological 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HR · BP · Respiration · Arrhythmia · Stress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4011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T3 — Lightweight 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Wavelet-based on-device model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Smartwatch-ready real-time inference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6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143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T4 — Patent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Novel wearable monitoring algorithm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2D3748"/>
                          </a:solidFill>
                          <a:latin typeface="Times New Roman" panose="02020603050405020304" pitchFamily="18" charset="0"/>
                          <a:ea typeface="Calibri" pitchFamily="34" charset="-122"/>
                          <a:cs typeface="Times New Roman" panose="02020603050405020304" pitchFamily="18" charset="0"/>
                        </a:rPr>
                        <a:t>IP protection · commercialisation pathway</a:t>
                      </a:r>
                      <a:endParaRPr lang="en-US" sz="1200" dirty="0">
                        <a:latin typeface="Times New Roman" panose="02020603050405020304" pitchFamily="18" charset="0"/>
                        <a:ea typeface="Calibri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914400"/>
            <a:ext cx="12161520" cy="54864"/>
          </a:xfrm>
          <a:prstGeom prst="rect">
            <a:avLst/>
          </a:prstGeom>
          <a:solidFill>
            <a:srgbClr val="00C2A8"/>
          </a:solidFill>
          <a:ln w="12700">
            <a:solidFill>
              <a:srgbClr val="00C2A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20040" y="9144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 Physiological Monitoring from Noisy Wearable PPG Signals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20040" y="566928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2  |  Research Vision · Progress · Roadmap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058400" y="164592"/>
            <a:ext cx="1828800" cy="64008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058400" y="164592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WEARABLE AI</a:t>
            </a:r>
            <a:endParaRPr lang="en-US" sz="800" dirty="0"/>
          </a:p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R&amp;D UPDATE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1078992"/>
            <a:ext cx="534924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28600" y="1078992"/>
            <a:ext cx="5349240" cy="274320"/>
          </a:xfrm>
          <a:prstGeom prst="rect">
            <a:avLst/>
          </a:prstGeom>
          <a:solidFill>
            <a:srgbClr val="163065"/>
          </a:solidFill>
          <a:ln w="12700">
            <a:solidFill>
              <a:srgbClr val="16306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9728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❶  PROBLEM STATEMENT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20040" y="1399032"/>
            <a:ext cx="5166360" cy="16916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Photoplethysmography (PPG) is the primary sensing modality in modern smartwatches for physiological monitoring.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Wrist-worn PPG signals are heavily corrupted by motion artifacts, sensor placement variations, and ambient noise.</a:t>
            </a:r>
            <a:endParaRPr lang="en-US" sz="9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extraction of Heart Rate (HR) and Blood Pressure (BP) from noisy wearable PPG remains an open research problem.</a:t>
            </a:r>
            <a:endParaRPr lang="en-US" sz="950" dirty="0"/>
          </a:p>
          <a:p>
            <a:pPr marL="0" indent="0">
              <a:buNone/>
            </a:pPr>
            <a:r>
              <a:rPr lang="en-US" sz="950" i="1" dirty="0">
                <a:solidFill>
                  <a:srgbClr val="1630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Goal:  Develop robust algorithms for HR &amp; BP estimation from noisy wrist PPG — requiring noise-robust representations, cross-dataset generalization, and on-device deployability.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28600" y="3227832"/>
            <a:ext cx="534924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28600" y="3227832"/>
            <a:ext cx="5349240" cy="274320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65760" y="3246120"/>
            <a:ext cx="5166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❷  BUSINESS RELEVANCE  —  Smartwatch &amp; Mobile Health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20040" y="3547872"/>
            <a:ext cx="5166360" cy="155448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HR/BP directly powers health monitoring features, remote cardiovascular tracking, and preventive care alerts in consumer wearables.</a:t>
            </a:r>
            <a:endParaRPr lang="en-US" sz="9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accurate algorithms enable improved health analytics reliability and broader deployment across smartwatch and smartphone platforms.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underpins next-generation AI-driven health features: continuous BP monitoring, real-time arrhythmia detection, population-level screening.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806440" y="1078992"/>
            <a:ext cx="6126480" cy="20574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806440" y="1078992"/>
            <a:ext cx="6126480" cy="274320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943600" y="109728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❸  RESEARCH PROGRESS  —  6-Month Plan  (2/6 months complete)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89320" y="1444752"/>
            <a:ext cx="5669280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5989320" y="1444752"/>
            <a:ext cx="1889760" cy="20116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989320" y="1444752"/>
            <a:ext cx="1889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A202C"/>
                </a:solidFill>
              </a:rPr>
              <a:t>2 months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7924800" y="144475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4A5568"/>
                </a:solidFill>
              </a:rPr>
              <a:t>Remaining: 4 months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5897880" y="1700784"/>
            <a:ext cx="5943600" cy="138988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Cross-domain self-supervised learning (SSL) framework for PPG developed and integrated.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and PulseDB datasets ingested; full preprocessing and windowing pipeline implemented.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components complete: temporal encoder (CNN+BiLSTM+Attention), contrastive learning, </a:t>
            </a:r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framework built for HR (LOSO) and BP estimation tasks.   |   Paper preparation in progress.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3227832"/>
            <a:ext cx="3008376" cy="1920240"/>
          </a:xfrm>
          <a:prstGeom prst="rect">
            <a:avLst/>
          </a:prstGeom>
          <a:solidFill>
            <a:srgbClr val="EFF6FF"/>
          </a:solidFill>
          <a:ln w="6350">
            <a:solidFill>
              <a:srgbClr val="BFDBFE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806440" y="3227832"/>
            <a:ext cx="3008376" cy="274320"/>
          </a:xfrm>
          <a:prstGeom prst="rect">
            <a:avLst/>
          </a:prstGeom>
          <a:solidFill>
            <a:srgbClr val="2E86DE"/>
          </a:solidFill>
          <a:ln w="12700">
            <a:solidFill>
              <a:srgbClr val="2E86D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897880" y="324612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❹  FUTURE DIRECTION 1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897880" y="352958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8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Foundation Model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897880" y="3776472"/>
            <a:ext cx="2871216" cy="1298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general-purpose PPG foundation model using current architecture as base.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 larger multi-dataset PPG collections to learn generalized physiological representations.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Applications: HR estimation, BP prediction, cardiovascular risk monitoring.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924544" y="3227832"/>
            <a:ext cx="3008376" cy="1920240"/>
          </a:xfrm>
          <a:prstGeom prst="rect">
            <a:avLst/>
          </a:prstGeom>
          <a:solidFill>
            <a:srgbClr val="F0FDF4"/>
          </a:solidFill>
          <a:ln w="6350">
            <a:solidFill>
              <a:srgbClr val="BBF7D0"/>
            </a:solidFill>
            <a:prstDash val="solid"/>
          </a:ln>
          <a:effectLst>
            <a:outerShdw blurRad="508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924544" y="3227832"/>
            <a:ext cx="3008376" cy="274320"/>
          </a:xfrm>
          <a:prstGeom prst="rect">
            <a:avLst/>
          </a:prstGeom>
          <a:solidFill>
            <a:srgbClr val="15803D"/>
          </a:solidFill>
          <a:ln w="12700">
            <a:solidFill>
              <a:srgbClr val="15803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9015984" y="324612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❺  FUTURE DIRECTION 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9015984" y="3529584"/>
            <a:ext cx="2871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On-Device Deployment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9015984" y="3776472"/>
            <a:ext cx="2871216" cy="1298448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wavelet-based signal representations and dynamic signal decomposition for efficient feature extraction.</a:t>
            </a:r>
            <a:endParaRPr lang="en-US" sz="9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lightweight neural models optimized for HR/BP inference on smartwatches and mobile processors.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A20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outcomes: reduced compute cost, improved energy efficiency, real-time wearable deployment.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— Photoplethysmography  |  HR — Heart Rate  |  BP — Blood Pressure  |  LOSO — Leave-One-Subject-Out  |  SSL — Self-Supervised Learning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04672"/>
            <a:ext cx="12161520" cy="6400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74320" y="9144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 and State-of-the-Art in PPG-Based HR Estimation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9601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CBD5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Summary  ·  SoTA Comparison  ·  Your Row Ready to Fill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solidFill>
            <a:srgbClr val="E8A838"/>
          </a:solidFill>
          <a:ln w="12700">
            <a:solidFill>
              <a:srgbClr val="E8A83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104120" y="128016"/>
            <a:ext cx="1828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2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01168" y="950976"/>
            <a:ext cx="3401568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01168" y="950976"/>
            <a:ext cx="3401568" cy="3017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9184" y="996696"/>
            <a:ext cx="32369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WORK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335024"/>
            <a:ext cx="331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Representation</a:t>
            </a:r>
            <a:endParaRPr lang="en-US" sz="1000" dirty="0"/>
          </a:p>
          <a:p>
            <a:pPr marL="0" indent="0">
              <a:buNone/>
            </a:pPr>
            <a:r>
              <a:rPr lang="en-US" sz="1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for Noisy PPG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/>
        </p:nvGraphicFramePr>
        <p:xfrm>
          <a:off x="274320" y="1883664"/>
          <a:ext cx="3108960" cy="4023360"/>
        </p:xfrm>
        <a:graphic>
          <a:graphicData uri="http://schemas.openxmlformats.org/drawingml/2006/table">
            <a:tbl>
              <a:tblPr/>
              <a:tblGrid>
                <a:gridCol w="11155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PPG-DaLiA · PulseDB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Preprocessing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Bandpass · z-score norm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Framework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self-supervised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+ BiLSTM + Attention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NT-Xent · instance-level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r→ M → NT-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Tasks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HR estimation · BP estimation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85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📝  Paper writing in progress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9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675888" y="950976"/>
            <a:ext cx="8284464" cy="55778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3675888" y="950976"/>
            <a:ext cx="8284464" cy="301752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3803904" y="996696"/>
            <a:ext cx="81015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RECENT STATE-OF-THE-ART  —  PPG-Based HR Estimation</a:t>
            </a:r>
            <a:endParaRPr lang="en-US" sz="900" dirty="0"/>
          </a:p>
        </p:txBody>
      </p:sp>
      <p:graphicFrame>
        <p:nvGraphicFramePr>
          <p:cNvPr id="16" name="Table 1"/>
          <p:cNvGraphicFramePr>
            <a:graphicFrameLocks noGrp="1"/>
          </p:cNvGraphicFramePr>
          <p:nvPr/>
        </p:nvGraphicFramePr>
        <p:xfrm>
          <a:off x="3785616" y="1316736"/>
          <a:ext cx="7370064" cy="3520440"/>
        </p:xfrm>
        <a:graphic>
          <a:graphicData uri="http://schemas.openxmlformats.org/drawingml/2006/table">
            <a:tbl>
              <a:tblPr/>
              <a:tblGrid>
                <a:gridCol w="841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9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32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6692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869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 Extraction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 (bpm)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 (bpm)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37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SpaMaPlus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Reiss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 + ACC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Sparse spectral / classical DSP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Spectral decomposition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~9.0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(MDPI) 19(14)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DeepPPG CNN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Reiss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2019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 + ACC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 ensemble (multi-head)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STFT of PPG &amp; ACC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~7.0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Sensors (MDPI) 19(14)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ResNet50-TL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PPG 64Hz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ResNet50 (transfer learning)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 spectrogram (STFT)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7.28 ± 3.5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UbiComp/ISWC '22 ACM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SPEAR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Ghorbani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 (denoised)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 autoencoder + CNN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Self-supervised reconstruction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Subject-split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5.36 (OOD)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Harvard HDSR 2024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PULSE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Kasnesis et al.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PPG + ACC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Lightweight TCN + cross-attention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Temporal + attention fusion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N/R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IEEE JBHI 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Proposed (Ours)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Wrist PPG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Cross-domain SSL: CNN+BiLSTM+Attn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Contrastive + Freq + Masked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LOSO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TBD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7B3F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Under Preparation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7" name="Text 13"/>
          <p:cNvSpPr/>
          <p:nvPr/>
        </p:nvSpPr>
        <p:spPr>
          <a:xfrm>
            <a:off x="3785616" y="6144768"/>
            <a:ext cx="8065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N/R = Not Reported  ·  LOSO = Leave-One-Subject-Out  ·  OOD = Out-of-Distribution  ·  Proposed row pre-filled — update MAE/RMSE once experiments complete</a:t>
            </a:r>
            <a:endParaRPr lang="en-US" sz="750" dirty="0"/>
          </a:p>
        </p:txBody>
      </p:sp>
      <p:sp>
        <p:nvSpPr>
          <p:cNvPr id="18" name="Text 14"/>
          <p:cNvSpPr/>
          <p:nvPr/>
        </p:nvSpPr>
        <p:spPr>
          <a:xfrm>
            <a:off x="0" y="6656832"/>
            <a:ext cx="1216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 — Photoplethysmography  ·  HR — Heart Rate  ·  BP — Blood Pressure  ·  SSL — Self-Supervised Learning  ·  JBHI — IEEE Journal of Biomedical &amp; Health Informatics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Research Directions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822960"/>
            <a:ext cx="37490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82296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841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8412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Models for PPG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4048" y="126187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Pre-train on millions of PPG recordings via masked autoencoding or contrastive learning. Fine-tune for HR, BP, SpO2, RR with minimal labels. SiamQuality (2024), SimPer represent early steps. Target: cross-population, cross-device generalization.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51960" y="8229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51960" y="822960"/>
            <a:ext cx="3749040" cy="384048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51960" y="82296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251960" y="841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8412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&amp; Weakly Supervised Learning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361688" y="126187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EnhancePPG (2025) showed 12% MAE reduction from self-supervised pre-training. SPEAR (2024) achieved OOD generalization without labeled DaLiA data. Large unlabeled wearable databases (&gt;100M hours) offer untapped potential for pretraining.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229600" y="82296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6B7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229600" y="822960"/>
            <a:ext cx="3749040" cy="384048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229600" y="82296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229600" y="84124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32520" y="84124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Sensor Fusion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8339328" y="126187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ring (finger), earlobe, wrist, forehead PPG signals. Different PTT paths → richer BP information. Graph neural networks or attention fusion for dynamic quality-weighted aggregation. τ-Ring dataset (2025) demonstrates ring-form potential.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74320" y="352044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1F3864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3520440"/>
            <a:ext cx="374904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352044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35387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77240" y="3538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AI &amp; TinyML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384048" y="395935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Q-PPG: 1.9 kB, 1.79 mJ. PULSE student: 37.9 kB, 0.577 mJ. Target: &lt;10 kB, &lt;0.1 mJ for CR2032 battery operation. Hardware-aware NAS + INT4 quantization + structured pruning. Neural ODE / implicit networks for extreme compression.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251960" y="352044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0392B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4251960" y="3520440"/>
            <a:ext cx="374904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251960" y="352044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251960" y="35387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754880" y="3538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Hybrid Models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361688" y="395935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Windkessel hemodynamic constraints + neural networks (PMB-NN). BeliefPPG temporal HR priors as model. Arterial stiffness indices from PPG morphology (APG, stiffness index SI). Interpretable BP estimation with physiological guarantees.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229600" y="3520440"/>
            <a:ext cx="374904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C9A84C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8229600" y="3520440"/>
            <a:ext cx="3749040" cy="38404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8229600" y="3520440"/>
            <a:ext cx="457200" cy="38404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229600" y="3538728"/>
            <a:ext cx="457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8732520" y="3538728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Validation &amp; Standardization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8339328" y="3959352"/>
            <a:ext cx="3529584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 AAMI/ISO 81060-2 standards for BP (&lt;5 mmHg MAE, &lt;8 mmHg SD). Large prospective clinical trials with diverse populations (age, sex, ethnicity, comorbidities). Standardized protocol: LOSO or larger multi-site cross-dataset evaluation.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85800"/>
            <a:ext cx="12161520" cy="54864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365760" y="45720"/>
            <a:ext cx="11430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References — IEEE Format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0" y="6492240"/>
            <a:ext cx="12161520" cy="365760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0" y="6510528"/>
            <a:ext cx="1216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PPG-DaLiA &amp; PulseDB  |  Biomedical AI Research Report  |  March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" y="86868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A. Reiss et al., 'Deep PPG: Large-Scale HR Estimation with CNNs,' Sensors, 19(14):3079, 2019. DOI: 10.3390/s19143079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472184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0040" y="153619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D. Biswas et al., 'CorNET: Deep Learning for PPG-Based HR,' IEEE TBCAS, 13(2):282-291, 2019. DOI: 10.1109/TBCAS.2019.2892297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139696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" y="220370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A. Burrello et al., 'Q-PPG: Energy-Efficient HR on Wearables,' IEEE TBCAS, 15(6):1196-1209, 2021. DOI: 10.1109/TBCAS.2021.3122017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807208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871216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A. Burrello et al., 'Embedding TCNs for PPG-based HR,' ACM HEALTH, 3(2), 2022. DOI: 10.1145/3487910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3474720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20040" y="3538728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J. Bieri et al., 'BeliefPPG: Uncertainty-aware HR from PPG,' UAI 2023, PMLR 216:173-183. arXiv:2306.07730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4142232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P. Kasnesis et al., 'PULSE: Attention for PPG HR,' IEEE JBHI, 2025. DOI: 10.1109/JBHI.2025.3580474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4809744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487375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L. Benfenati et al., 'EnhancePPG: Self-Supervised PPG HR,' AICAS 2025. arXiv:2412.17860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5477256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0040" y="554126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C. Kechris et al., 'KID-PPG: Knowledge-Informed HR,' arXiv:2405.09559, 2024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20040" y="6144768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55080" y="86868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E. Dark et al., 'HR from Noisy PPGs: Transfer Learning,' UbiComp/ISWC 2022. DOI: 10.1145/3544793.3563407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355080" y="1472184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355080" y="153619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R. Ghorbani et al., 'SPEAR: Self-Supervised PPG Denoising,' HDSR, Issue 6.3, 2024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355080" y="2139696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355080" y="220370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[11] W. Wang et al., 'PulseDB: Large BP Benchmarking Dataset,' Front. Digital Health, 4:1090854, 2023. DOI: 10.3389/fdgth.2022.1090854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355080" y="2807208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6355080" y="2871216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[12] M. Moulaeifard et al., 'Generalizable DL for PPG-Based BP,' arXiv:2502.19167, 2025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355080" y="3474720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355080" y="3538728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[13] S. Huang et al., 'Validation of DL for Cuffless BP on PulseDB,' Cardiovasc. Health Tech., 2024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55080" y="4142232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355080" y="4206240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[14] J. Gao et al., 'UTransBPNet for Cuffless BP,' Sci. Rep., 2025. DOI: 10.1038/s41598-025-02963-3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55080" y="4809744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355080" y="4873752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[15] M. Risso et al., 'Robust &amp; Energy-efficient PPG HR,' IEEE ISCAS 2021. DOI: 10.1109/ISCAS51556.2021.9401282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355080" y="5477256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355080" y="5541264"/>
            <a:ext cx="57607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[16] L.G. Rocha et al., 'Binary CorNET: MCU PPG HR,' IEEE TBCAS, 14(4):715-726, 2020. DOI: 10.1109/TBCAS.2020.3001675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355080" y="6144768"/>
            <a:ext cx="5577840" cy="0"/>
          </a:xfrm>
          <a:prstGeom prst="line">
            <a:avLst/>
          </a:prstGeom>
          <a:noFill/>
          <a:ln w="12700">
            <a:solidFill>
              <a:srgbClr val="EEEE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F386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6309360"/>
            <a:ext cx="12161520" cy="548640"/>
          </a:xfrm>
          <a:prstGeom prst="rect">
            <a:avLst/>
          </a:prstGeom>
          <a:solidFill>
            <a:srgbClr val="1F6B75"/>
          </a:solidFill>
          <a:ln w="12700">
            <a:solidFill>
              <a:srgbClr val="1F6B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200400" y="1325880"/>
            <a:ext cx="576072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52704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on PPG-DaLiA: 60%+ improvement since 2019 (SpaMaPlus 9.0 → EnhancePPG 3.54 bpm LOSO)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130552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213055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2148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PPG-only can match PPG+ACC (BeliefPPG 3.57 vs EnhancePPG 3.54) via temporal probabilistic modeling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752344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752344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2770632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 on PulseDB: Best calibration-based result 9.4 mmHg SBP — still ~2× clinical AAMI standard (&lt;5 mmHg)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374136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57200" y="3374136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3392424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protocol matters: random-split inflates performance; LOSO and calibration-free give honest estimates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995928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57200" y="3995928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60120" y="4014216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Self-supervised pre-training + NAS + knowledge distillation are the key drivers of recent progress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17720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4617720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636008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deployment is achievable: Q-PPG 1.9 kB / 1.79 mJ; PULSE student 37.9 kB / 0.577 mJ on MCUs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57200" y="5239512"/>
            <a:ext cx="411480" cy="47548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5239512"/>
            <a:ext cx="411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60120" y="525780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challenges: domain shift, cross-population generalization, and truly calibration-free BP estimation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0" y="6355080"/>
            <a:ext cx="1216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AI Research Report  |  March 2026  |  All citations verified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4110</Words>
  <Application>Microsoft Macintosh PowerPoint</Application>
  <PresentationFormat>Widescreen</PresentationFormat>
  <Paragraphs>658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State-of-the-Art Methods for HR and BP Estimation from PPG Signals</dc:title>
  <dc:subject>PptxGenJS Presentation</dc:subject>
  <dc:creator>Biomedical AI Research Report</dc:creator>
  <cp:lastModifiedBy>Anand Mohan</cp:lastModifiedBy>
  <cp:revision>3</cp:revision>
  <dcterms:created xsi:type="dcterms:W3CDTF">2026-03-11T19:44:34Z</dcterms:created>
  <dcterms:modified xsi:type="dcterms:W3CDTF">2026-03-13T04:59:58Z</dcterms:modified>
</cp:coreProperties>
</file>